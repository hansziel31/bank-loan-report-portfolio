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763" autoAdjust="0"/>
  </p:normalViewPr>
  <p:slideViewPr>
    <p:cSldViewPr snapToGrid="0" snapToObjects="1">
      <p:cViewPr varScale="1">
        <p:scale>
          <a:sx n="104" d="100"/>
          <a:sy n="104" d="100"/>
        </p:scale>
        <p:origin x="114" y="5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5794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7.jp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hyperlink" Target="mailto:simanjuntakbaharu@gmail.com" TargetMode="External"/><Relationship Id="rId5" Type="http://schemas.openxmlformats.org/officeDocument/2006/relationships/hyperlink" Target="https://www.linkedin.com/in/baharu-simanjuntak/" TargetMode="External"/><Relationship Id="rId4" Type="http://schemas.openxmlformats.org/officeDocument/2006/relationships/hyperlink" Target="https://github.com/Hansziel31/bank-loan-report-portfol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extBox 1"/>
          <p:cNvSpPr txBox="1"/>
          <p:nvPr/>
        </p:nvSpPr>
        <p:spPr>
          <a:xfrm>
            <a:off x="777240" y="777240"/>
            <a:ext cx="7498079" cy="215444"/>
          </a:xfrm>
          <a:prstGeom prst="rect">
            <a:avLst/>
          </a:prstGeom>
          <a:noFill/>
        </p:spPr>
        <p:txBody>
          <a:bodyPr wrap="square" lIns="0" tIns="0" rIns="0" bIns="0">
            <a:spAutoFit/>
          </a:bodyPr>
          <a:lstStyle/>
          <a:p>
            <a:pPr>
              <a:spcBef>
                <a:spcPts val="0"/>
              </a:spcBef>
              <a:spcAft>
                <a:spcPts val="0"/>
              </a:spcAft>
              <a:defRPr sz="1400" b="1">
                <a:solidFill>
                  <a:srgbClr val="18AE9F"/>
                </a:solidFill>
                <a:latin typeface="Aptos"/>
              </a:defRPr>
            </a:pPr>
            <a:r>
              <a:rPr dirty="0">
                <a:solidFill>
                  <a:schemeClr val="bg1"/>
                </a:solidFill>
                <a:latin typeface="Arial"/>
              </a:rPr>
              <a:t>PORTOFOLIO ANALIS DATA</a:t>
            </a:r>
          </a:p>
        </p:txBody>
      </p:sp>
      <p:sp>
        <p:nvSpPr>
          <p:cNvPr id="3" name="TextBox 2"/>
          <p:cNvSpPr txBox="1"/>
          <p:nvPr/>
        </p:nvSpPr>
        <p:spPr>
          <a:xfrm>
            <a:off x="749808" y="1508760"/>
            <a:ext cx="7772400" cy="1600200"/>
          </a:xfrm>
          <a:prstGeom prst="rect">
            <a:avLst/>
          </a:prstGeom>
          <a:noFill/>
        </p:spPr>
        <p:txBody>
          <a:bodyPr wrap="square" lIns="0" tIns="0" rIns="0" bIns="0">
            <a:spAutoFit/>
          </a:bodyPr>
          <a:lstStyle/>
          <a:p>
            <a:pPr>
              <a:spcBef>
                <a:spcPts val="0"/>
              </a:spcBef>
              <a:spcAft>
                <a:spcPts val="500"/>
              </a:spcAft>
              <a:defRPr sz="4400" b="1">
                <a:solidFill>
                  <a:srgbClr val="FFFFFF"/>
                </a:solidFill>
                <a:latin typeface="Aptos Display"/>
              </a:defRPr>
            </a:pPr>
            <a:r>
              <a:rPr dirty="0">
                <a:latin typeface="Arial"/>
              </a:rPr>
              <a:t>LAPORAN PINJAMAN</a:t>
            </a:r>
          </a:p>
          <a:p>
            <a:pPr>
              <a:spcBef>
                <a:spcPts val="0"/>
              </a:spcBef>
              <a:spcAft>
                <a:spcPts val="0"/>
              </a:spcAft>
              <a:defRPr sz="4400" b="1">
                <a:solidFill>
                  <a:srgbClr val="FFFFFF"/>
                </a:solidFill>
                <a:latin typeface="Aptos Display"/>
              </a:defRPr>
            </a:pPr>
            <a:r>
              <a:rPr dirty="0">
                <a:latin typeface="Arial"/>
              </a:rPr>
              <a:t>BANK</a:t>
            </a:r>
          </a:p>
        </p:txBody>
      </p:sp>
      <p:sp>
        <p:nvSpPr>
          <p:cNvPr id="4" name="Rectangle 3"/>
          <p:cNvSpPr/>
          <p:nvPr/>
        </p:nvSpPr>
        <p:spPr>
          <a:xfrm>
            <a:off x="777240" y="3429000"/>
            <a:ext cx="1325880" cy="7315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3794760"/>
            <a:ext cx="7955279" cy="400110"/>
          </a:xfrm>
          <a:prstGeom prst="rect">
            <a:avLst/>
          </a:prstGeom>
          <a:noFill/>
        </p:spPr>
        <p:txBody>
          <a:bodyPr wrap="square" lIns="0" tIns="0" rIns="0" bIns="0">
            <a:spAutoFit/>
          </a:bodyPr>
          <a:lstStyle/>
          <a:p>
            <a:pPr>
              <a:spcBef>
                <a:spcPts val="0"/>
              </a:spcBef>
              <a:spcAft>
                <a:spcPts val="0"/>
              </a:spcAft>
              <a:defRPr sz="2600" b="0">
                <a:solidFill>
                  <a:srgbClr val="9BE3DA"/>
                </a:solidFill>
                <a:latin typeface="Aptos"/>
              </a:defRPr>
            </a:pPr>
            <a:r>
              <a:rPr dirty="0" err="1">
                <a:solidFill>
                  <a:schemeClr val="bg1"/>
                </a:solidFill>
                <a:latin typeface="Arial"/>
              </a:rPr>
              <a:t>Analisis</a:t>
            </a:r>
            <a:r>
              <a:rPr dirty="0">
                <a:solidFill>
                  <a:schemeClr val="bg1"/>
                </a:solidFill>
                <a:latin typeface="Arial"/>
              </a:rPr>
              <a:t> </a:t>
            </a:r>
            <a:r>
              <a:rPr dirty="0" err="1">
                <a:solidFill>
                  <a:schemeClr val="bg1"/>
                </a:solidFill>
                <a:latin typeface="Arial"/>
              </a:rPr>
              <a:t>Portofolio</a:t>
            </a:r>
            <a:r>
              <a:rPr dirty="0">
                <a:solidFill>
                  <a:schemeClr val="bg1"/>
                </a:solidFill>
                <a:latin typeface="Arial"/>
              </a:rPr>
              <a:t> </a:t>
            </a:r>
            <a:r>
              <a:rPr dirty="0" err="1">
                <a:solidFill>
                  <a:schemeClr val="bg1"/>
                </a:solidFill>
                <a:latin typeface="Arial"/>
              </a:rPr>
              <a:t>Pinjaman</a:t>
            </a:r>
            <a:endParaRPr dirty="0">
              <a:solidFill>
                <a:schemeClr val="bg1"/>
              </a:solidFill>
              <a:latin typeface="Arial"/>
            </a:endParaRPr>
          </a:p>
        </p:txBody>
      </p:sp>
      <p:sp>
        <p:nvSpPr>
          <p:cNvPr id="6" name="TextBox 5"/>
          <p:cNvSpPr txBox="1"/>
          <p:nvPr/>
        </p:nvSpPr>
        <p:spPr>
          <a:xfrm>
            <a:off x="777240" y="4526280"/>
            <a:ext cx="8778240" cy="276999"/>
          </a:xfrm>
          <a:prstGeom prst="rect">
            <a:avLst/>
          </a:prstGeom>
          <a:noFill/>
        </p:spPr>
        <p:txBody>
          <a:bodyPr wrap="square" lIns="0" tIns="0" rIns="0" bIns="0">
            <a:spAutoFit/>
          </a:bodyPr>
          <a:lstStyle/>
          <a:p>
            <a:pPr>
              <a:spcBef>
                <a:spcPts val="0"/>
              </a:spcBef>
              <a:spcAft>
                <a:spcPts val="0"/>
              </a:spcAft>
              <a:defRPr sz="1800" b="0">
                <a:solidFill>
                  <a:srgbClr val="BECCDB"/>
                </a:solidFill>
                <a:latin typeface="Aptos"/>
              </a:defRPr>
            </a:pPr>
            <a:r>
              <a:rPr dirty="0">
                <a:solidFill>
                  <a:schemeClr val="bg1"/>
                </a:solidFill>
                <a:latin typeface="Arial"/>
              </a:rPr>
              <a:t>Studi </a:t>
            </a:r>
            <a:r>
              <a:rPr dirty="0" err="1">
                <a:solidFill>
                  <a:schemeClr val="bg1"/>
                </a:solidFill>
                <a:latin typeface="Arial"/>
              </a:rPr>
              <a:t>kasus</a:t>
            </a:r>
            <a:r>
              <a:rPr dirty="0">
                <a:solidFill>
                  <a:schemeClr val="bg1"/>
                </a:solidFill>
                <a:latin typeface="Arial"/>
              </a:rPr>
              <a:t> </a:t>
            </a:r>
            <a:r>
              <a:rPr dirty="0" err="1">
                <a:solidFill>
                  <a:schemeClr val="bg1"/>
                </a:solidFill>
                <a:latin typeface="Arial"/>
              </a:rPr>
              <a:t>menggunakan</a:t>
            </a:r>
            <a:r>
              <a:rPr dirty="0">
                <a:solidFill>
                  <a:schemeClr val="bg1"/>
                </a:solidFill>
                <a:latin typeface="Arial"/>
              </a:rPr>
              <a:t> PostgreSQL dan Power BI</a:t>
            </a:r>
          </a:p>
        </p:txBody>
      </p:sp>
      <p:sp>
        <p:nvSpPr>
          <p:cNvPr id="7" name="Rectangle 6"/>
          <p:cNvSpPr/>
          <p:nvPr/>
        </p:nvSpPr>
        <p:spPr>
          <a:xfrm>
            <a:off x="36576" y="5998464"/>
            <a:ext cx="12118543" cy="804672"/>
          </a:xfrm>
          <a:prstGeom prst="rect">
            <a:avLst/>
          </a:prstGeom>
          <a:solidFill>
            <a:srgbClr val="0E1F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6236208"/>
            <a:ext cx="10789920" cy="256032"/>
          </a:xfrm>
          <a:prstGeom prst="rect">
            <a:avLst/>
          </a:prstGeom>
          <a:noFill/>
        </p:spPr>
        <p:txBody>
          <a:bodyPr wrap="none" lIns="0" tIns="0" rIns="0" bIns="0">
            <a:spAutoFit/>
          </a:bodyPr>
          <a:lstStyle/>
          <a:p>
            <a:pPr>
              <a:spcBef>
                <a:spcPts val="0"/>
              </a:spcBef>
              <a:spcAft>
                <a:spcPts val="0"/>
              </a:spcAft>
              <a:defRPr sz="1200" b="0">
                <a:solidFill>
                  <a:srgbClr val="FFFFFF"/>
                </a:solidFill>
                <a:latin typeface="Aptos"/>
              </a:defRPr>
            </a:pPr>
            <a:r>
              <a:rPr sz="900">
                <a:latin typeface="Arial"/>
              </a:rPr>
              <a:t>Baharu Simanjuntak  •  Data Analytics &amp; Business Intelligence (DABI) 24 — Dibimbing.id</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420624"/>
            <a:ext cx="8961120" cy="153888"/>
          </a:xfrm>
          <a:prstGeom prst="rect">
            <a:avLst/>
          </a:prstGeom>
          <a:noFill/>
        </p:spPr>
        <p:txBody>
          <a:bodyPr wrap="square" lIns="0" tIns="0" rIns="0" bIns="0">
            <a:spAutoFit/>
          </a:bodyPr>
          <a:lstStyle/>
          <a:p>
            <a:pPr>
              <a:spcBef>
                <a:spcPts val="0"/>
              </a:spcBef>
              <a:spcAft>
                <a:spcPts val="0"/>
              </a:spcAft>
              <a:defRPr sz="1000" b="1">
                <a:solidFill>
                  <a:srgbClr val="18AE9F"/>
                </a:solidFill>
                <a:latin typeface="Aptos"/>
              </a:defRPr>
            </a:pPr>
            <a:r>
              <a:rPr dirty="0">
                <a:solidFill>
                  <a:sysClr val="windowText" lastClr="000000"/>
                </a:solidFill>
                <a:latin typeface="Arial"/>
              </a:rPr>
              <a:t>RINGKASAN</a:t>
            </a:r>
          </a:p>
        </p:txBody>
      </p:sp>
      <p:sp>
        <p:nvSpPr>
          <p:cNvPr id="4" name="TextBox 3"/>
          <p:cNvSpPr txBox="1"/>
          <p:nvPr/>
        </p:nvSpPr>
        <p:spPr>
          <a:xfrm>
            <a:off x="749808" y="658368"/>
            <a:ext cx="10972800" cy="457200"/>
          </a:xfrm>
          <a:prstGeom prst="rect">
            <a:avLst/>
          </a:prstGeom>
          <a:noFill/>
        </p:spPr>
        <p:txBody>
          <a:bodyPr wrap="square" lIns="0" tIns="0" rIns="0" bIns="0">
            <a:spAutoFit/>
          </a:bodyPr>
          <a:lstStyle/>
          <a:p>
            <a:pPr>
              <a:spcBef>
                <a:spcPts val="0"/>
              </a:spcBef>
              <a:spcAft>
                <a:spcPts val="0"/>
              </a:spcAft>
              <a:defRPr sz="2800" b="1">
                <a:solidFill>
                  <a:srgbClr val="132A45"/>
                </a:solidFill>
                <a:latin typeface="Aptos Display"/>
              </a:defRPr>
            </a:pPr>
            <a:r>
              <a:rPr>
                <a:latin typeface="Arial"/>
              </a:rPr>
              <a:t>Sekilas Portofolio</a:t>
            </a:r>
          </a:p>
        </p:txBody>
      </p:sp>
      <p:sp>
        <p:nvSpPr>
          <p:cNvPr id="5" name="TextBox 4"/>
          <p:cNvSpPr txBox="1"/>
          <p:nvPr/>
        </p:nvSpPr>
        <p:spPr>
          <a:xfrm>
            <a:off x="749808" y="1115568"/>
            <a:ext cx="10972800" cy="292608"/>
          </a:xfrm>
          <a:prstGeom prst="rect">
            <a:avLst/>
          </a:prstGeom>
          <a:noFill/>
        </p:spPr>
        <p:txBody>
          <a:bodyPr wrap="square" lIns="0" tIns="0" rIns="0" bIns="0">
            <a:spAutoFit/>
          </a:bodyPr>
          <a:lstStyle/>
          <a:p>
            <a:pPr>
              <a:spcBef>
                <a:spcPts val="0"/>
              </a:spcBef>
              <a:spcAft>
                <a:spcPts val="0"/>
              </a:spcAft>
              <a:defRPr sz="1200" b="0">
                <a:solidFill>
                  <a:srgbClr val="5B6F88"/>
                </a:solidFill>
                <a:latin typeface="Aptos"/>
              </a:defRPr>
            </a:pPr>
            <a:r>
              <a:rPr>
                <a:latin typeface="Arial"/>
              </a:rPr>
              <a:t>Temuan utama dari 38.576 catatan pinjaman yang dianalisis menggunakan PostgreSQL dan Power BI.</a:t>
            </a:r>
          </a:p>
        </p:txBody>
      </p:sp>
      <p:sp>
        <p:nvSpPr>
          <p:cNvPr id="6" name="Rectangle 5"/>
          <p:cNvSpPr/>
          <p:nvPr/>
        </p:nvSpPr>
        <p:spPr>
          <a:xfrm>
            <a:off x="548640" y="1444752"/>
            <a:ext cx="11091672" cy="18288"/>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6400800" cy="201168"/>
          </a:xfrm>
          <a:prstGeom prst="rect">
            <a:avLst/>
          </a:prstGeom>
          <a:noFill/>
        </p:spPr>
        <p:txBody>
          <a:bodyPr wrap="square" lIns="0" tIns="0" rIns="0" bIns="0">
            <a:spAutoFit/>
          </a:bodyPr>
          <a:lstStyle/>
          <a:p>
            <a:pPr>
              <a:spcBef>
                <a:spcPts val="0"/>
              </a:spcBef>
              <a:spcAft>
                <a:spcPts val="0"/>
              </a:spcAft>
              <a:defRPr sz="800" b="0">
                <a:solidFill>
                  <a:srgbClr val="8294A8"/>
                </a:solidFill>
                <a:latin typeface="Aptos"/>
              </a:defRPr>
            </a:pPr>
            <a:r>
              <a:rPr>
                <a:latin typeface="Arial"/>
              </a:rPr>
              <a:t>LAPORAN PINJAMAN BANK  •  PORTOFOLIO ANALIS DATA</a:t>
            </a:r>
          </a:p>
        </p:txBody>
      </p:sp>
      <p:sp>
        <p:nvSpPr>
          <p:cNvPr id="9" name="TextBox 8"/>
          <p:cNvSpPr txBox="1"/>
          <p:nvPr/>
        </p:nvSpPr>
        <p:spPr>
          <a:xfrm>
            <a:off x="822960" y="1783080"/>
            <a:ext cx="10515600" cy="310896"/>
          </a:xfrm>
          <a:prstGeom prst="rect">
            <a:avLst/>
          </a:prstGeom>
          <a:noFill/>
        </p:spPr>
        <p:txBody>
          <a:bodyPr wrap="square" lIns="0" tIns="0" rIns="0" bIns="0">
            <a:spAutoFit/>
          </a:bodyPr>
          <a:lstStyle/>
          <a:p>
            <a:pPr>
              <a:spcBef>
                <a:spcPts val="0"/>
              </a:spcBef>
              <a:spcAft>
                <a:spcPts val="0"/>
              </a:spcAft>
              <a:defRPr sz="1600" b="1">
                <a:solidFill>
                  <a:srgbClr val="132A45"/>
                </a:solidFill>
                <a:latin typeface="Aptos"/>
              </a:defRPr>
            </a:pPr>
            <a:r>
              <a:rPr>
                <a:latin typeface="Arial"/>
              </a:rPr>
              <a:t>Mayoritas aplikasi berstatus Fully Paid atau Current</a:t>
            </a:r>
          </a:p>
        </p:txBody>
      </p:sp>
      <p:sp>
        <p:nvSpPr>
          <p:cNvPr id="10" name="TextBox 9"/>
          <p:cNvSpPr txBox="1"/>
          <p:nvPr/>
        </p:nvSpPr>
        <p:spPr>
          <a:xfrm>
            <a:off x="822960" y="2112264"/>
            <a:ext cx="10515600" cy="530352"/>
          </a:xfrm>
          <a:prstGeom prst="rect">
            <a:avLst/>
          </a:prstGeom>
          <a:noFill/>
        </p:spPr>
        <p:txBody>
          <a:bodyPr wrap="square" lIns="0" tIns="0" rIns="0" bIns="0">
            <a:spAutoFit/>
          </a:bodyPr>
          <a:lstStyle/>
          <a:p>
            <a:pPr>
              <a:spcBef>
                <a:spcPts val="0"/>
              </a:spcBef>
              <a:spcAft>
                <a:spcPts val="0"/>
              </a:spcAft>
              <a:defRPr sz="1200" b="0">
                <a:solidFill>
                  <a:srgbClr val="3D4C5C"/>
                </a:solidFill>
                <a:latin typeface="Aptos"/>
              </a:defRPr>
            </a:pPr>
            <a:r>
              <a:rPr>
                <a:latin typeface="Arial"/>
              </a:rPr>
              <a:t>Sebanyak 33,2 ribu aplikasi (86,2%) berstatus Fully Paid atau Current; 5,3 ribu (13,8%) berstatus Charged Off.</a:t>
            </a:r>
          </a:p>
        </p:txBody>
      </p:sp>
      <p:sp>
        <p:nvSpPr>
          <p:cNvPr id="11" name="TextBox 10"/>
          <p:cNvSpPr txBox="1"/>
          <p:nvPr/>
        </p:nvSpPr>
        <p:spPr>
          <a:xfrm>
            <a:off x="822960" y="3127248"/>
            <a:ext cx="10515600" cy="310896"/>
          </a:xfrm>
          <a:prstGeom prst="rect">
            <a:avLst/>
          </a:prstGeom>
          <a:noFill/>
        </p:spPr>
        <p:txBody>
          <a:bodyPr wrap="square" lIns="0" tIns="0" rIns="0" bIns="0">
            <a:spAutoFit/>
          </a:bodyPr>
          <a:lstStyle/>
          <a:p>
            <a:pPr>
              <a:spcBef>
                <a:spcPts val="0"/>
              </a:spcBef>
              <a:spcAft>
                <a:spcPts val="0"/>
              </a:spcAft>
              <a:defRPr sz="1600" b="1">
                <a:solidFill>
                  <a:srgbClr val="132A45"/>
                </a:solidFill>
                <a:latin typeface="Aptos"/>
              </a:defRPr>
            </a:pPr>
            <a:r>
              <a:rPr>
                <a:latin typeface="Arial"/>
              </a:rPr>
              <a:t>Debt consolidation adalah tujuan terbanyak</a:t>
            </a:r>
          </a:p>
        </p:txBody>
      </p:sp>
      <p:sp>
        <p:nvSpPr>
          <p:cNvPr id="12" name="TextBox 11"/>
          <p:cNvSpPr txBox="1"/>
          <p:nvPr/>
        </p:nvSpPr>
        <p:spPr>
          <a:xfrm>
            <a:off x="822960" y="3456432"/>
            <a:ext cx="10515600" cy="530352"/>
          </a:xfrm>
          <a:prstGeom prst="rect">
            <a:avLst/>
          </a:prstGeom>
          <a:noFill/>
        </p:spPr>
        <p:txBody>
          <a:bodyPr wrap="square" lIns="0" tIns="0" rIns="0" bIns="0">
            <a:spAutoFit/>
          </a:bodyPr>
          <a:lstStyle/>
          <a:p>
            <a:pPr>
              <a:spcBef>
                <a:spcPts val="0"/>
              </a:spcBef>
              <a:spcAft>
                <a:spcPts val="0"/>
              </a:spcAft>
              <a:defRPr sz="1200" b="0">
                <a:solidFill>
                  <a:srgbClr val="3D4C5C"/>
                </a:solidFill>
                <a:latin typeface="Aptos"/>
              </a:defRPr>
            </a:pPr>
            <a:r>
              <a:rPr>
                <a:latin typeface="Arial"/>
              </a:rPr>
              <a:t>Terdapat sekitar 18,2 ribu aplikasi untuk tujuan debt consolidation, diikuti credit card sekitar 5 ribu.</a:t>
            </a:r>
          </a:p>
        </p:txBody>
      </p:sp>
      <p:sp>
        <p:nvSpPr>
          <p:cNvPr id="13" name="TextBox 12"/>
          <p:cNvSpPr txBox="1"/>
          <p:nvPr/>
        </p:nvSpPr>
        <p:spPr>
          <a:xfrm>
            <a:off x="822960" y="4471416"/>
            <a:ext cx="10515600" cy="310896"/>
          </a:xfrm>
          <a:prstGeom prst="rect">
            <a:avLst/>
          </a:prstGeom>
          <a:noFill/>
        </p:spPr>
        <p:txBody>
          <a:bodyPr wrap="square" lIns="0" tIns="0" rIns="0" bIns="0">
            <a:spAutoFit/>
          </a:bodyPr>
          <a:lstStyle/>
          <a:p>
            <a:pPr>
              <a:spcBef>
                <a:spcPts val="0"/>
              </a:spcBef>
              <a:spcAft>
                <a:spcPts val="0"/>
              </a:spcAft>
              <a:defRPr sz="1600" b="1">
                <a:solidFill>
                  <a:srgbClr val="132A45"/>
                </a:solidFill>
                <a:latin typeface="Aptos"/>
              </a:defRPr>
            </a:pPr>
            <a:r>
              <a:rPr>
                <a:latin typeface="Arial"/>
              </a:rPr>
              <a:t>Tren bulanan perlu dibaca hati-hati</a:t>
            </a:r>
          </a:p>
        </p:txBody>
      </p:sp>
      <p:sp>
        <p:nvSpPr>
          <p:cNvPr id="14" name="TextBox 13"/>
          <p:cNvSpPr txBox="1"/>
          <p:nvPr/>
        </p:nvSpPr>
        <p:spPr>
          <a:xfrm>
            <a:off x="822960" y="4800600"/>
            <a:ext cx="10515600" cy="530352"/>
          </a:xfrm>
          <a:prstGeom prst="rect">
            <a:avLst/>
          </a:prstGeom>
          <a:noFill/>
        </p:spPr>
        <p:txBody>
          <a:bodyPr wrap="square" lIns="0" tIns="0" rIns="0" bIns="0">
            <a:spAutoFit/>
          </a:bodyPr>
          <a:lstStyle/>
          <a:p>
            <a:pPr>
              <a:spcBef>
                <a:spcPts val="0"/>
              </a:spcBef>
              <a:spcAft>
                <a:spcPts val="0"/>
              </a:spcAft>
              <a:defRPr sz="1200" b="0">
                <a:solidFill>
                  <a:srgbClr val="3D4C5C"/>
                </a:solidFill>
                <a:latin typeface="Aptos"/>
              </a:defRPr>
            </a:pPr>
            <a:r>
              <a:rPr>
                <a:latin typeface="Arial"/>
              </a:rPr>
              <a:t>Jumlah tercatat naik dari 2,3 ribu pada Januari menjadi 4,0 ribu pada November. Data Desember belum lengkap karena file berakhir pada 12 Desember 2021.</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49808" y="420624"/>
            <a:ext cx="7315200" cy="174343"/>
          </a:xfrm>
          <a:prstGeom prst="rect">
            <a:avLst/>
          </a:prstGeom>
          <a:noFill/>
        </p:spPr>
        <p:txBody>
          <a:bodyPr wrap="square" lIns="0" tIns="0" rIns="0" bIns="0" anchor="t">
            <a:spAutoFit/>
          </a:bodyPr>
          <a:lstStyle/>
          <a:p>
            <a:pPr algn="l">
              <a:lnSpc>
                <a:spcPct val="112000"/>
              </a:lnSpc>
              <a:spcAft>
                <a:spcPts val="300"/>
              </a:spcAft>
            </a:pPr>
            <a:r>
              <a:rPr sz="1100" b="1" i="0" dirty="0">
                <a:solidFill>
                  <a:sysClr val="windowText" lastClr="000000"/>
                </a:solidFill>
                <a:latin typeface="Arial"/>
              </a:rPr>
              <a:t>DAFTAR ISI</a:t>
            </a:r>
          </a:p>
        </p:txBody>
      </p:sp>
      <p:sp>
        <p:nvSpPr>
          <p:cNvPr id="4" name="TextBox 3"/>
          <p:cNvSpPr txBox="1"/>
          <p:nvPr/>
        </p:nvSpPr>
        <p:spPr>
          <a:xfrm>
            <a:off x="749808" y="658368"/>
            <a:ext cx="10972800" cy="457200"/>
          </a:xfrm>
          <a:prstGeom prst="rect">
            <a:avLst/>
          </a:prstGeom>
          <a:noFill/>
        </p:spPr>
        <p:txBody>
          <a:bodyPr wrap="square" lIns="0" tIns="0" rIns="0" bIns="0" anchor="t">
            <a:spAutoFit/>
          </a:bodyPr>
          <a:lstStyle/>
          <a:p>
            <a:pPr algn="l">
              <a:lnSpc>
                <a:spcPct val="112000"/>
              </a:lnSpc>
              <a:spcAft>
                <a:spcPts val="300"/>
              </a:spcAft>
            </a:pPr>
            <a:r>
              <a:rPr sz="2800" b="1" i="0">
                <a:solidFill>
                  <a:srgbClr val="0F1E33"/>
                </a:solidFill>
                <a:latin typeface="Arial"/>
              </a:rPr>
              <a:t>Hal yang akan dibahas</a:t>
            </a:r>
          </a:p>
        </p:txBody>
      </p:sp>
      <p:sp>
        <p:nvSpPr>
          <p:cNvPr id="5" name="TextBox 4"/>
          <p:cNvSpPr txBox="1"/>
          <p:nvPr/>
        </p:nvSpPr>
        <p:spPr>
          <a:xfrm>
            <a:off x="749808" y="1115568"/>
            <a:ext cx="10972800" cy="274320"/>
          </a:xfrm>
          <a:prstGeom prst="rect">
            <a:avLst/>
          </a:prstGeom>
          <a:noFill/>
        </p:spPr>
        <p:txBody>
          <a:bodyPr wrap="square" lIns="0" tIns="0" rIns="0" bIns="0" anchor="t">
            <a:spAutoFit/>
          </a:bodyPr>
          <a:lstStyle/>
          <a:p>
            <a:pPr algn="l">
              <a:lnSpc>
                <a:spcPct val="112000"/>
              </a:lnSpc>
              <a:spcAft>
                <a:spcPts val="300"/>
              </a:spcAft>
            </a:pPr>
            <a:r>
              <a:rPr sz="1200" b="0" i="0">
                <a:solidFill>
                  <a:srgbClr val="5A6B82"/>
                </a:solidFill>
                <a:latin typeface="Arial"/>
              </a:rPr>
              <a:t>Lima bagian, mulai dari pengenalan hingga publikasi.</a:t>
            </a:r>
          </a:p>
        </p:txBody>
      </p:sp>
      <p:sp>
        <p:nvSpPr>
          <p:cNvPr id="6" name="Rectangle 5"/>
          <p:cNvSpPr/>
          <p:nvPr/>
        </p:nvSpPr>
        <p:spPr>
          <a:xfrm>
            <a:off x="548640" y="1444752"/>
            <a:ext cx="11091672" cy="15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783080"/>
            <a:ext cx="11091672" cy="80467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783080"/>
            <a:ext cx="73152"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noFill/>
            </a:endParaRPr>
          </a:p>
        </p:txBody>
      </p:sp>
      <p:sp>
        <p:nvSpPr>
          <p:cNvPr id="9" name="TextBox 8"/>
          <p:cNvSpPr txBox="1"/>
          <p:nvPr/>
        </p:nvSpPr>
        <p:spPr>
          <a:xfrm>
            <a:off x="868680" y="1984248"/>
            <a:ext cx="822960" cy="380297"/>
          </a:xfrm>
          <a:prstGeom prst="rect">
            <a:avLst/>
          </a:prstGeom>
          <a:noFill/>
        </p:spPr>
        <p:txBody>
          <a:bodyPr wrap="square" lIns="0" tIns="0" rIns="0" bIns="0" anchor="t">
            <a:spAutoFit/>
          </a:bodyPr>
          <a:lstStyle/>
          <a:p>
            <a:pPr algn="l">
              <a:lnSpc>
                <a:spcPct val="112000"/>
              </a:lnSpc>
              <a:spcAft>
                <a:spcPts val="300"/>
              </a:spcAft>
            </a:pPr>
            <a:r>
              <a:rPr sz="2400" b="1" i="0" dirty="0">
                <a:solidFill>
                  <a:sysClr val="windowText" lastClr="000000"/>
                </a:solidFill>
                <a:latin typeface="Arial"/>
              </a:rPr>
              <a:t>01</a:t>
            </a:r>
          </a:p>
        </p:txBody>
      </p:sp>
      <p:sp>
        <p:nvSpPr>
          <p:cNvPr id="10" name="TextBox 9"/>
          <p:cNvSpPr txBox="1"/>
          <p:nvPr/>
        </p:nvSpPr>
        <p:spPr>
          <a:xfrm>
            <a:off x="1828800" y="1929384"/>
            <a:ext cx="3657600" cy="320040"/>
          </a:xfrm>
          <a:prstGeom prst="rect">
            <a:avLst/>
          </a:prstGeom>
          <a:noFill/>
        </p:spPr>
        <p:txBody>
          <a:bodyPr wrap="square" lIns="0" tIns="0" rIns="0" bIns="0" anchor="t">
            <a:spAutoFit/>
          </a:bodyPr>
          <a:lstStyle/>
          <a:p>
            <a:pPr algn="l">
              <a:lnSpc>
                <a:spcPct val="112000"/>
              </a:lnSpc>
              <a:spcAft>
                <a:spcPts val="300"/>
              </a:spcAft>
            </a:pPr>
            <a:r>
              <a:rPr sz="1600" b="1" i="0">
                <a:solidFill>
                  <a:srgbClr val="0F1E33"/>
                </a:solidFill>
                <a:latin typeface="Arial"/>
              </a:rPr>
              <a:t>Pendahuluan</a:t>
            </a:r>
          </a:p>
        </p:txBody>
      </p:sp>
      <p:sp>
        <p:nvSpPr>
          <p:cNvPr id="11" name="TextBox 10"/>
          <p:cNvSpPr txBox="1"/>
          <p:nvPr/>
        </p:nvSpPr>
        <p:spPr>
          <a:xfrm>
            <a:off x="1828800" y="2221992"/>
            <a:ext cx="9144000" cy="274320"/>
          </a:xfrm>
          <a:prstGeom prst="rect">
            <a:avLst/>
          </a:prstGeom>
          <a:noFill/>
        </p:spPr>
        <p:txBody>
          <a:bodyPr wrap="square" lIns="0" tIns="0" rIns="0" bIns="0" anchor="t">
            <a:spAutoFit/>
          </a:bodyPr>
          <a:lstStyle/>
          <a:p>
            <a:pPr algn="l">
              <a:lnSpc>
                <a:spcPct val="112000"/>
              </a:lnSpc>
              <a:spcAft>
                <a:spcPts val="300"/>
              </a:spcAft>
            </a:pPr>
            <a:r>
              <a:rPr sz="1000" b="0" i="0">
                <a:solidFill>
                  <a:srgbClr val="5A6B82"/>
                </a:solidFill>
                <a:latin typeface="Arial"/>
              </a:rPr>
              <a:t>Latar belakang, keterampilan, dan tujuan karier.</a:t>
            </a:r>
          </a:p>
        </p:txBody>
      </p:sp>
      <p:sp>
        <p:nvSpPr>
          <p:cNvPr id="12" name="Rounded Rectangle 11"/>
          <p:cNvSpPr/>
          <p:nvPr/>
        </p:nvSpPr>
        <p:spPr>
          <a:xfrm>
            <a:off x="548640" y="2697480"/>
            <a:ext cx="11091672" cy="80467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48640" y="2697480"/>
            <a:ext cx="73152"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noFill/>
            </a:endParaRPr>
          </a:p>
        </p:txBody>
      </p:sp>
      <p:sp>
        <p:nvSpPr>
          <p:cNvPr id="14" name="TextBox 13"/>
          <p:cNvSpPr txBox="1"/>
          <p:nvPr/>
        </p:nvSpPr>
        <p:spPr>
          <a:xfrm>
            <a:off x="868680" y="2898648"/>
            <a:ext cx="822960" cy="380297"/>
          </a:xfrm>
          <a:prstGeom prst="rect">
            <a:avLst/>
          </a:prstGeom>
          <a:noFill/>
        </p:spPr>
        <p:txBody>
          <a:bodyPr wrap="square" lIns="0" tIns="0" rIns="0" bIns="0" anchor="t">
            <a:spAutoFit/>
          </a:bodyPr>
          <a:lstStyle/>
          <a:p>
            <a:pPr algn="l">
              <a:lnSpc>
                <a:spcPct val="112000"/>
              </a:lnSpc>
              <a:spcAft>
                <a:spcPts val="300"/>
              </a:spcAft>
            </a:pPr>
            <a:r>
              <a:rPr sz="2400" b="1" i="0" dirty="0">
                <a:solidFill>
                  <a:sysClr val="windowText" lastClr="000000"/>
                </a:solidFill>
                <a:latin typeface="Arial"/>
              </a:rPr>
              <a:t>02</a:t>
            </a:r>
          </a:p>
        </p:txBody>
      </p:sp>
      <p:sp>
        <p:nvSpPr>
          <p:cNvPr id="15" name="TextBox 14"/>
          <p:cNvSpPr txBox="1"/>
          <p:nvPr/>
        </p:nvSpPr>
        <p:spPr>
          <a:xfrm>
            <a:off x="1828800" y="2843784"/>
            <a:ext cx="3657600" cy="320040"/>
          </a:xfrm>
          <a:prstGeom prst="rect">
            <a:avLst/>
          </a:prstGeom>
          <a:noFill/>
        </p:spPr>
        <p:txBody>
          <a:bodyPr wrap="square" lIns="0" tIns="0" rIns="0" bIns="0" anchor="t">
            <a:spAutoFit/>
          </a:bodyPr>
          <a:lstStyle/>
          <a:p>
            <a:pPr algn="l">
              <a:lnSpc>
                <a:spcPct val="112000"/>
              </a:lnSpc>
              <a:spcAft>
                <a:spcPts val="300"/>
              </a:spcAft>
            </a:pPr>
            <a:r>
              <a:rPr sz="1600" b="1" i="0">
                <a:solidFill>
                  <a:srgbClr val="0F1E33"/>
                </a:solidFill>
                <a:latin typeface="Arial"/>
              </a:rPr>
              <a:t>Gambaran Proyek</a:t>
            </a:r>
          </a:p>
        </p:txBody>
      </p:sp>
      <p:sp>
        <p:nvSpPr>
          <p:cNvPr id="16" name="TextBox 15"/>
          <p:cNvSpPr txBox="1"/>
          <p:nvPr/>
        </p:nvSpPr>
        <p:spPr>
          <a:xfrm>
            <a:off x="1828800" y="3136392"/>
            <a:ext cx="9144000" cy="274320"/>
          </a:xfrm>
          <a:prstGeom prst="rect">
            <a:avLst/>
          </a:prstGeom>
          <a:noFill/>
        </p:spPr>
        <p:txBody>
          <a:bodyPr wrap="square" lIns="0" tIns="0" rIns="0" bIns="0" anchor="t">
            <a:spAutoFit/>
          </a:bodyPr>
          <a:lstStyle/>
          <a:p>
            <a:pPr algn="l">
              <a:lnSpc>
                <a:spcPct val="112000"/>
              </a:lnSpc>
              <a:spcAft>
                <a:spcPts val="300"/>
              </a:spcAft>
            </a:pPr>
            <a:r>
              <a:rPr sz="1000" b="0" i="0">
                <a:solidFill>
                  <a:srgbClr val="5A6B82"/>
                </a:solidFill>
                <a:latin typeface="Arial"/>
              </a:rPr>
              <a:t>Konteks bisnis, cakupan, dan pertanyaan utama.</a:t>
            </a:r>
          </a:p>
        </p:txBody>
      </p:sp>
      <p:sp>
        <p:nvSpPr>
          <p:cNvPr id="17" name="Rounded Rectangle 16"/>
          <p:cNvSpPr/>
          <p:nvPr/>
        </p:nvSpPr>
        <p:spPr>
          <a:xfrm>
            <a:off x="548640" y="3611880"/>
            <a:ext cx="11091672" cy="80467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 y="3611880"/>
            <a:ext cx="73152"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noFill/>
            </a:endParaRPr>
          </a:p>
        </p:txBody>
      </p:sp>
      <p:sp>
        <p:nvSpPr>
          <p:cNvPr id="19" name="TextBox 18"/>
          <p:cNvSpPr txBox="1"/>
          <p:nvPr/>
        </p:nvSpPr>
        <p:spPr>
          <a:xfrm>
            <a:off x="868680" y="3813048"/>
            <a:ext cx="822960" cy="380297"/>
          </a:xfrm>
          <a:prstGeom prst="rect">
            <a:avLst/>
          </a:prstGeom>
          <a:noFill/>
        </p:spPr>
        <p:txBody>
          <a:bodyPr wrap="square" lIns="0" tIns="0" rIns="0" bIns="0" anchor="t">
            <a:spAutoFit/>
          </a:bodyPr>
          <a:lstStyle/>
          <a:p>
            <a:pPr algn="l">
              <a:lnSpc>
                <a:spcPct val="112000"/>
              </a:lnSpc>
              <a:spcAft>
                <a:spcPts val="300"/>
              </a:spcAft>
            </a:pPr>
            <a:r>
              <a:rPr sz="2400" b="1" i="0">
                <a:solidFill>
                  <a:sysClr val="windowText" lastClr="000000"/>
                </a:solidFill>
                <a:latin typeface="Arial"/>
              </a:rPr>
              <a:t>03</a:t>
            </a:r>
          </a:p>
        </p:txBody>
      </p:sp>
      <p:sp>
        <p:nvSpPr>
          <p:cNvPr id="20" name="TextBox 19"/>
          <p:cNvSpPr txBox="1"/>
          <p:nvPr/>
        </p:nvSpPr>
        <p:spPr>
          <a:xfrm>
            <a:off x="1828800" y="3758184"/>
            <a:ext cx="3657600" cy="320040"/>
          </a:xfrm>
          <a:prstGeom prst="rect">
            <a:avLst/>
          </a:prstGeom>
          <a:noFill/>
        </p:spPr>
        <p:txBody>
          <a:bodyPr wrap="square" lIns="0" tIns="0" rIns="0" bIns="0" anchor="t">
            <a:spAutoFit/>
          </a:bodyPr>
          <a:lstStyle/>
          <a:p>
            <a:pPr algn="l">
              <a:lnSpc>
                <a:spcPct val="112000"/>
              </a:lnSpc>
              <a:spcAft>
                <a:spcPts val="300"/>
              </a:spcAft>
            </a:pPr>
            <a:r>
              <a:rPr sz="1600" b="1" i="0">
                <a:solidFill>
                  <a:srgbClr val="0F1E33"/>
                </a:solidFill>
                <a:latin typeface="Arial"/>
              </a:rPr>
              <a:t>Analisis &amp; Temuan</a:t>
            </a:r>
          </a:p>
        </p:txBody>
      </p:sp>
      <p:sp>
        <p:nvSpPr>
          <p:cNvPr id="21" name="TextBox 20"/>
          <p:cNvSpPr txBox="1"/>
          <p:nvPr/>
        </p:nvSpPr>
        <p:spPr>
          <a:xfrm>
            <a:off x="1828800" y="4050792"/>
            <a:ext cx="9144000" cy="274320"/>
          </a:xfrm>
          <a:prstGeom prst="rect">
            <a:avLst/>
          </a:prstGeom>
          <a:noFill/>
        </p:spPr>
        <p:txBody>
          <a:bodyPr wrap="square" lIns="0" tIns="0" rIns="0" bIns="0" anchor="t">
            <a:spAutoFit/>
          </a:bodyPr>
          <a:lstStyle/>
          <a:p>
            <a:pPr algn="l">
              <a:lnSpc>
                <a:spcPct val="112000"/>
              </a:lnSpc>
              <a:spcAft>
                <a:spcPts val="300"/>
              </a:spcAft>
            </a:pPr>
            <a:r>
              <a:rPr sz="1000" b="0" i="0">
                <a:solidFill>
                  <a:srgbClr val="5A6B82"/>
                </a:solidFill>
                <a:latin typeface="Arial"/>
              </a:rPr>
              <a:t>Pemeriksaan data, SQL, KPI, status pinjaman, tujuan, dan tren.</a:t>
            </a:r>
          </a:p>
        </p:txBody>
      </p:sp>
      <p:sp>
        <p:nvSpPr>
          <p:cNvPr id="22" name="Rounded Rectangle 21"/>
          <p:cNvSpPr/>
          <p:nvPr/>
        </p:nvSpPr>
        <p:spPr>
          <a:xfrm>
            <a:off x="548640" y="4526280"/>
            <a:ext cx="11091672" cy="80467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 y="4526280"/>
            <a:ext cx="73152"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noFill/>
            </a:endParaRPr>
          </a:p>
        </p:txBody>
      </p:sp>
      <p:sp>
        <p:nvSpPr>
          <p:cNvPr id="24" name="TextBox 23"/>
          <p:cNvSpPr txBox="1"/>
          <p:nvPr/>
        </p:nvSpPr>
        <p:spPr>
          <a:xfrm>
            <a:off x="868680" y="4727448"/>
            <a:ext cx="822960" cy="380297"/>
          </a:xfrm>
          <a:prstGeom prst="rect">
            <a:avLst/>
          </a:prstGeom>
          <a:noFill/>
        </p:spPr>
        <p:txBody>
          <a:bodyPr wrap="square" lIns="0" tIns="0" rIns="0" bIns="0" anchor="t">
            <a:spAutoFit/>
          </a:bodyPr>
          <a:lstStyle/>
          <a:p>
            <a:pPr algn="l">
              <a:lnSpc>
                <a:spcPct val="112000"/>
              </a:lnSpc>
              <a:spcAft>
                <a:spcPts val="300"/>
              </a:spcAft>
            </a:pPr>
            <a:r>
              <a:rPr sz="2400" b="1" i="0">
                <a:solidFill>
                  <a:sysClr val="windowText" lastClr="000000"/>
                </a:solidFill>
                <a:latin typeface="Arial"/>
              </a:rPr>
              <a:t>04</a:t>
            </a:r>
          </a:p>
        </p:txBody>
      </p:sp>
      <p:sp>
        <p:nvSpPr>
          <p:cNvPr id="25" name="TextBox 24"/>
          <p:cNvSpPr txBox="1"/>
          <p:nvPr/>
        </p:nvSpPr>
        <p:spPr>
          <a:xfrm>
            <a:off x="1828800" y="4672584"/>
            <a:ext cx="3657600" cy="320040"/>
          </a:xfrm>
          <a:prstGeom prst="rect">
            <a:avLst/>
          </a:prstGeom>
          <a:noFill/>
        </p:spPr>
        <p:txBody>
          <a:bodyPr wrap="square" lIns="0" tIns="0" rIns="0" bIns="0" anchor="t">
            <a:spAutoFit/>
          </a:bodyPr>
          <a:lstStyle/>
          <a:p>
            <a:pPr algn="l">
              <a:lnSpc>
                <a:spcPct val="112000"/>
              </a:lnSpc>
              <a:spcAft>
                <a:spcPts val="300"/>
              </a:spcAft>
            </a:pPr>
            <a:r>
              <a:rPr sz="1600" b="1" i="0">
                <a:solidFill>
                  <a:srgbClr val="0F1E33"/>
                </a:solidFill>
                <a:latin typeface="Arial"/>
              </a:rPr>
              <a:t>Dashboard Power BI</a:t>
            </a:r>
          </a:p>
        </p:txBody>
      </p:sp>
      <p:sp>
        <p:nvSpPr>
          <p:cNvPr id="26" name="TextBox 25"/>
          <p:cNvSpPr txBox="1"/>
          <p:nvPr/>
        </p:nvSpPr>
        <p:spPr>
          <a:xfrm>
            <a:off x="1828800" y="4965192"/>
            <a:ext cx="9144000" cy="274320"/>
          </a:xfrm>
          <a:prstGeom prst="rect">
            <a:avLst/>
          </a:prstGeom>
          <a:noFill/>
        </p:spPr>
        <p:txBody>
          <a:bodyPr wrap="square" lIns="0" tIns="0" rIns="0" bIns="0" anchor="t">
            <a:spAutoFit/>
          </a:bodyPr>
          <a:lstStyle/>
          <a:p>
            <a:pPr algn="l">
              <a:lnSpc>
                <a:spcPct val="112000"/>
              </a:lnSpc>
              <a:spcAft>
                <a:spcPts val="300"/>
              </a:spcAft>
            </a:pPr>
            <a:r>
              <a:rPr sz="1000" b="0" i="0">
                <a:solidFill>
                  <a:srgbClr val="5A6B82"/>
                </a:solidFill>
                <a:latin typeface="Arial"/>
              </a:rPr>
              <a:t>Halaman Summary dan Overview beserta temuan utamanya.</a:t>
            </a:r>
          </a:p>
        </p:txBody>
      </p:sp>
      <p:sp>
        <p:nvSpPr>
          <p:cNvPr id="27" name="Rounded Rectangle 26"/>
          <p:cNvSpPr/>
          <p:nvPr/>
        </p:nvSpPr>
        <p:spPr>
          <a:xfrm>
            <a:off x="548640" y="5440680"/>
            <a:ext cx="11091672" cy="804672"/>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48640" y="5440680"/>
            <a:ext cx="73152" cy="8046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noFill/>
            </a:endParaRPr>
          </a:p>
        </p:txBody>
      </p:sp>
      <p:sp>
        <p:nvSpPr>
          <p:cNvPr id="29" name="TextBox 28"/>
          <p:cNvSpPr txBox="1"/>
          <p:nvPr/>
        </p:nvSpPr>
        <p:spPr>
          <a:xfrm>
            <a:off x="868680" y="5641848"/>
            <a:ext cx="822960" cy="380297"/>
          </a:xfrm>
          <a:prstGeom prst="rect">
            <a:avLst/>
          </a:prstGeom>
          <a:noFill/>
        </p:spPr>
        <p:txBody>
          <a:bodyPr wrap="square" lIns="0" tIns="0" rIns="0" bIns="0" anchor="t">
            <a:spAutoFit/>
          </a:bodyPr>
          <a:lstStyle/>
          <a:p>
            <a:pPr algn="l">
              <a:lnSpc>
                <a:spcPct val="112000"/>
              </a:lnSpc>
              <a:spcAft>
                <a:spcPts val="300"/>
              </a:spcAft>
            </a:pPr>
            <a:r>
              <a:rPr sz="2400" b="1" i="0">
                <a:solidFill>
                  <a:sysClr val="windowText" lastClr="000000"/>
                </a:solidFill>
                <a:latin typeface="Arial"/>
              </a:rPr>
              <a:t>05</a:t>
            </a:r>
          </a:p>
        </p:txBody>
      </p:sp>
      <p:sp>
        <p:nvSpPr>
          <p:cNvPr id="30" name="TextBox 29"/>
          <p:cNvSpPr txBox="1"/>
          <p:nvPr/>
        </p:nvSpPr>
        <p:spPr>
          <a:xfrm>
            <a:off x="1828800" y="5586984"/>
            <a:ext cx="3657600" cy="320040"/>
          </a:xfrm>
          <a:prstGeom prst="rect">
            <a:avLst/>
          </a:prstGeom>
          <a:noFill/>
        </p:spPr>
        <p:txBody>
          <a:bodyPr wrap="square" lIns="0" tIns="0" rIns="0" bIns="0" anchor="t">
            <a:spAutoFit/>
          </a:bodyPr>
          <a:lstStyle/>
          <a:p>
            <a:pPr algn="l">
              <a:lnSpc>
                <a:spcPct val="112000"/>
              </a:lnSpc>
              <a:spcAft>
                <a:spcPts val="300"/>
              </a:spcAft>
            </a:pPr>
            <a:r>
              <a:rPr sz="1600" b="1" i="0">
                <a:solidFill>
                  <a:srgbClr val="0F1E33"/>
                </a:solidFill>
                <a:latin typeface="Arial"/>
              </a:rPr>
              <a:t>Kesimpulan &amp; Langkah Berikutnya</a:t>
            </a:r>
          </a:p>
        </p:txBody>
      </p:sp>
      <p:sp>
        <p:nvSpPr>
          <p:cNvPr id="31" name="TextBox 30"/>
          <p:cNvSpPr txBox="1"/>
          <p:nvPr/>
        </p:nvSpPr>
        <p:spPr>
          <a:xfrm>
            <a:off x="1828800" y="5879592"/>
            <a:ext cx="9144000" cy="274320"/>
          </a:xfrm>
          <a:prstGeom prst="rect">
            <a:avLst/>
          </a:prstGeom>
          <a:noFill/>
        </p:spPr>
        <p:txBody>
          <a:bodyPr wrap="square" lIns="0" tIns="0" rIns="0" bIns="0" anchor="t">
            <a:spAutoFit/>
          </a:bodyPr>
          <a:lstStyle/>
          <a:p>
            <a:pPr algn="l">
              <a:lnSpc>
                <a:spcPct val="112000"/>
              </a:lnSpc>
              <a:spcAft>
                <a:spcPts val="300"/>
              </a:spcAft>
            </a:pPr>
            <a:r>
              <a:rPr sz="1000" b="0" i="0">
                <a:solidFill>
                  <a:srgbClr val="5A6B82"/>
                </a:solidFill>
                <a:latin typeface="Arial"/>
              </a:rPr>
              <a:t>Rekomendasi, keterbatasan, dan aset publikasi.</a:t>
            </a:r>
          </a:p>
        </p:txBody>
      </p:sp>
      <p:sp>
        <p:nvSpPr>
          <p:cNvPr id="32" name="TextBox 31"/>
          <p:cNvSpPr txBox="1"/>
          <p:nvPr/>
        </p:nvSpPr>
        <p:spPr>
          <a:xfrm>
            <a:off x="548640" y="6565392"/>
            <a:ext cx="6400800" cy="201168"/>
          </a:xfrm>
          <a:prstGeom prst="rect">
            <a:avLst/>
          </a:prstGeom>
          <a:noFill/>
        </p:spPr>
        <p:txBody>
          <a:bodyPr wrap="square" lIns="0" tIns="0" rIns="0" bIns="0" anchor="t">
            <a:spAutoFit/>
          </a:bodyPr>
          <a:lstStyle/>
          <a:p>
            <a:pPr algn="l">
              <a:lnSpc>
                <a:spcPct val="112000"/>
              </a:lnSpc>
              <a:spcAft>
                <a:spcPts val="300"/>
              </a:spcAft>
            </a:pPr>
            <a:r>
              <a:rPr sz="800" b="0" i="0">
                <a:solidFill>
                  <a:srgbClr val="94A3B8"/>
                </a:solidFill>
                <a:latin typeface="Arial"/>
              </a:rPr>
              <a:t>LAPORAN PINJAMAN BANK  •  PORTOFOLIO ANALIS DATA</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extBox 1"/>
          <p:cNvSpPr txBox="1"/>
          <p:nvPr/>
        </p:nvSpPr>
        <p:spPr>
          <a:xfrm>
            <a:off x="548640" y="1463040"/>
            <a:ext cx="5486400" cy="1140953"/>
          </a:xfrm>
          <a:prstGeom prst="rect">
            <a:avLst/>
          </a:prstGeom>
          <a:noFill/>
        </p:spPr>
        <p:txBody>
          <a:bodyPr wrap="square" lIns="0" tIns="0" rIns="0" bIns="0" anchor="t">
            <a:spAutoFit/>
          </a:bodyPr>
          <a:lstStyle/>
          <a:p>
            <a:pPr algn="l">
              <a:lnSpc>
                <a:spcPct val="112000"/>
              </a:lnSpc>
              <a:spcAft>
                <a:spcPts val="300"/>
              </a:spcAft>
            </a:pPr>
            <a:r>
              <a:rPr sz="7200" b="1" i="0" dirty="0">
                <a:solidFill>
                  <a:schemeClr val="bg1"/>
                </a:solidFill>
                <a:latin typeface="Arial"/>
              </a:rPr>
              <a:t>01</a:t>
            </a:r>
          </a:p>
        </p:txBody>
      </p:sp>
      <p:sp>
        <p:nvSpPr>
          <p:cNvPr id="3" name="Rectangle 2"/>
          <p:cNvSpPr/>
          <p:nvPr/>
        </p:nvSpPr>
        <p:spPr>
          <a:xfrm>
            <a:off x="640080" y="3657600"/>
            <a:ext cx="822960" cy="548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86200"/>
            <a:ext cx="10058400" cy="640080"/>
          </a:xfrm>
          <a:prstGeom prst="rect">
            <a:avLst/>
          </a:prstGeom>
          <a:noFill/>
        </p:spPr>
        <p:txBody>
          <a:bodyPr wrap="square" lIns="0" tIns="0" rIns="0" bIns="0" anchor="t">
            <a:spAutoFit/>
          </a:bodyPr>
          <a:lstStyle/>
          <a:p>
            <a:pPr algn="l">
              <a:lnSpc>
                <a:spcPct val="112000"/>
              </a:lnSpc>
              <a:spcAft>
                <a:spcPts val="300"/>
              </a:spcAft>
            </a:pPr>
            <a:r>
              <a:rPr sz="3600" b="1" i="0">
                <a:solidFill>
                  <a:srgbClr val="FFFFFF"/>
                </a:solidFill>
                <a:latin typeface="Arial"/>
              </a:rPr>
              <a:t>Pendahuluan</a:t>
            </a:r>
          </a:p>
        </p:txBody>
      </p:sp>
      <p:sp>
        <p:nvSpPr>
          <p:cNvPr id="5" name="TextBox 4"/>
          <p:cNvSpPr txBox="1"/>
          <p:nvPr/>
        </p:nvSpPr>
        <p:spPr>
          <a:xfrm>
            <a:off x="640080" y="4617720"/>
            <a:ext cx="10058400" cy="221856"/>
          </a:xfrm>
          <a:prstGeom prst="rect">
            <a:avLst/>
          </a:prstGeom>
          <a:noFill/>
        </p:spPr>
        <p:txBody>
          <a:bodyPr wrap="square" lIns="0" tIns="0" rIns="0" bIns="0" anchor="t">
            <a:spAutoFit/>
          </a:bodyPr>
          <a:lstStyle/>
          <a:p>
            <a:pPr algn="l">
              <a:lnSpc>
                <a:spcPct val="112000"/>
              </a:lnSpc>
              <a:spcAft>
                <a:spcPts val="300"/>
              </a:spcAft>
            </a:pPr>
            <a:r>
              <a:rPr sz="1400" b="0" i="0" dirty="0" err="1">
                <a:solidFill>
                  <a:schemeClr val="bg1"/>
                </a:solidFill>
                <a:latin typeface="Arial"/>
              </a:rPr>
              <a:t>Perkenalan</a:t>
            </a:r>
            <a:r>
              <a:rPr sz="1400" b="0" i="0" dirty="0">
                <a:solidFill>
                  <a:schemeClr val="bg1"/>
                </a:solidFill>
                <a:latin typeface="Arial"/>
              </a:rPr>
              <a:t> </a:t>
            </a:r>
            <a:r>
              <a:rPr sz="1400" b="0" i="0" dirty="0" err="1">
                <a:solidFill>
                  <a:schemeClr val="bg1"/>
                </a:solidFill>
                <a:latin typeface="Arial"/>
              </a:rPr>
              <a:t>diri</a:t>
            </a:r>
            <a:r>
              <a:rPr sz="1400" b="0" i="0" dirty="0">
                <a:solidFill>
                  <a:schemeClr val="bg1"/>
                </a:solidFill>
                <a:latin typeface="Arial"/>
              </a:rPr>
              <a:t>, </a:t>
            </a:r>
            <a:r>
              <a:rPr sz="1400" b="0" i="0" dirty="0" err="1">
                <a:solidFill>
                  <a:schemeClr val="bg1"/>
                </a:solidFill>
                <a:latin typeface="Arial"/>
              </a:rPr>
              <a:t>latar</a:t>
            </a:r>
            <a:r>
              <a:rPr sz="1400" b="0" i="0" dirty="0">
                <a:solidFill>
                  <a:schemeClr val="bg1"/>
                </a:solidFill>
                <a:latin typeface="Arial"/>
              </a:rPr>
              <a:t> </a:t>
            </a:r>
            <a:r>
              <a:rPr sz="1400" b="0" i="0" dirty="0" err="1">
                <a:solidFill>
                  <a:schemeClr val="bg1"/>
                </a:solidFill>
                <a:latin typeface="Arial"/>
              </a:rPr>
              <a:t>belakang</a:t>
            </a:r>
            <a:r>
              <a:rPr sz="1400" b="0" i="0" dirty="0">
                <a:solidFill>
                  <a:schemeClr val="bg1"/>
                </a:solidFill>
                <a:latin typeface="Arial"/>
              </a:rPr>
              <a:t>, dan </a:t>
            </a:r>
            <a:r>
              <a:rPr sz="1400" b="0" i="0" dirty="0" err="1">
                <a:solidFill>
                  <a:schemeClr val="bg1"/>
                </a:solidFill>
                <a:latin typeface="Arial"/>
              </a:rPr>
              <a:t>perjalanan</a:t>
            </a:r>
            <a:r>
              <a:rPr sz="1400" b="0" i="0" dirty="0">
                <a:solidFill>
                  <a:schemeClr val="bg1"/>
                </a:solidFill>
                <a:latin typeface="Arial"/>
              </a:rPr>
              <a:t> </a:t>
            </a:r>
            <a:r>
              <a:rPr sz="1400" b="0" i="0" dirty="0" err="1">
                <a:solidFill>
                  <a:schemeClr val="bg1"/>
                </a:solidFill>
                <a:latin typeface="Arial"/>
              </a:rPr>
              <a:t>menuju</a:t>
            </a:r>
            <a:r>
              <a:rPr sz="1400" b="0" i="0" dirty="0">
                <a:solidFill>
                  <a:schemeClr val="bg1"/>
                </a:solidFill>
                <a:latin typeface="Arial"/>
              </a:rPr>
              <a:t> </a:t>
            </a:r>
            <a:r>
              <a:rPr sz="1400" b="0" i="0" dirty="0" err="1">
                <a:solidFill>
                  <a:schemeClr val="bg1"/>
                </a:solidFill>
                <a:latin typeface="Arial"/>
              </a:rPr>
              <a:t>bidang</a:t>
            </a:r>
            <a:r>
              <a:rPr sz="1400" b="0" i="0" dirty="0">
                <a:solidFill>
                  <a:schemeClr val="bg1"/>
                </a:solidFill>
                <a:latin typeface="Arial"/>
              </a:rPr>
              <a:t> </a:t>
            </a:r>
            <a:r>
              <a:rPr sz="1400" b="0" i="0" dirty="0" err="1">
                <a:solidFill>
                  <a:schemeClr val="bg1"/>
                </a:solidFill>
                <a:latin typeface="Arial"/>
              </a:rPr>
              <a:t>analitik</a:t>
            </a:r>
            <a:r>
              <a:rPr sz="1400" b="0" i="0" dirty="0">
                <a:solidFill>
                  <a:schemeClr val="bg1"/>
                </a:solidFill>
                <a:latin typeface="Arial"/>
              </a:rPr>
              <a:t> data.</a:t>
            </a:r>
          </a:p>
        </p:txBody>
      </p:sp>
      <p:sp>
        <p:nvSpPr>
          <p:cNvPr id="6" name="TextBox 5"/>
          <p:cNvSpPr txBox="1"/>
          <p:nvPr/>
        </p:nvSpPr>
        <p:spPr>
          <a:xfrm>
            <a:off x="548640" y="6400800"/>
            <a:ext cx="7315200" cy="126766"/>
          </a:xfrm>
          <a:prstGeom prst="rect">
            <a:avLst/>
          </a:prstGeom>
          <a:noFill/>
        </p:spPr>
        <p:txBody>
          <a:bodyPr wrap="square" lIns="0" tIns="0" rIns="0" bIns="0" anchor="t">
            <a:spAutoFit/>
          </a:bodyPr>
          <a:lstStyle/>
          <a:p>
            <a:pPr algn="l">
              <a:lnSpc>
                <a:spcPct val="112000"/>
              </a:lnSpc>
              <a:spcAft>
                <a:spcPts val="300"/>
              </a:spcAft>
            </a:pPr>
            <a:r>
              <a:rPr sz="800" b="0" i="0" dirty="0">
                <a:solidFill>
                  <a:schemeClr val="bg1"/>
                </a:solidFill>
                <a:latin typeface="Arial"/>
              </a:rPr>
              <a:t>LAPORAN PINJAMAN BANK  •  PORTOFOLIO ANALIS DATA</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nchor="t">
            <a:spAutoFit/>
          </a:bodyPr>
          <a:lstStyle/>
          <a:p>
            <a:pPr algn="l">
              <a:lnSpc>
                <a:spcPct val="112000"/>
              </a:lnSpc>
              <a:spcAft>
                <a:spcPts val="300"/>
              </a:spcAft>
            </a:pPr>
            <a:r>
              <a:rPr sz="2800" b="1" i="0">
                <a:solidFill>
                  <a:srgbClr val="0F1E33"/>
                </a:solidFill>
                <a:latin typeface="Arial"/>
              </a:rPr>
              <a:t>Tentang Saya</a:t>
            </a:r>
          </a:p>
        </p:txBody>
      </p:sp>
      <p:sp>
        <p:nvSpPr>
          <p:cNvPr id="5" name="TextBox 4"/>
          <p:cNvSpPr txBox="1"/>
          <p:nvPr/>
        </p:nvSpPr>
        <p:spPr>
          <a:xfrm>
            <a:off x="749808" y="1115568"/>
            <a:ext cx="10972800" cy="274320"/>
          </a:xfrm>
          <a:prstGeom prst="rect">
            <a:avLst/>
          </a:prstGeom>
          <a:noFill/>
        </p:spPr>
        <p:txBody>
          <a:bodyPr wrap="square" lIns="0" tIns="0" rIns="0" bIns="0" anchor="t">
            <a:spAutoFit/>
          </a:bodyPr>
          <a:lstStyle/>
          <a:p>
            <a:pPr algn="l">
              <a:lnSpc>
                <a:spcPct val="112000"/>
              </a:lnSpc>
              <a:spcAft>
                <a:spcPts val="300"/>
              </a:spcAft>
            </a:pPr>
            <a:r>
              <a:rPr sz="1200" b="0" i="0">
                <a:solidFill>
                  <a:srgbClr val="5A6B82"/>
                </a:solidFill>
                <a:latin typeface="Arial"/>
              </a:rPr>
              <a:t>Latar belakang profesional dan peralihan ke bidang analitik data.</a:t>
            </a:r>
          </a:p>
        </p:txBody>
      </p:sp>
      <p:sp>
        <p:nvSpPr>
          <p:cNvPr id="6" name="Rectangle 5"/>
          <p:cNvSpPr/>
          <p:nvPr/>
        </p:nvSpPr>
        <p:spPr>
          <a:xfrm>
            <a:off x="548640" y="1444752"/>
            <a:ext cx="11091672" cy="15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91640"/>
            <a:ext cx="3840480" cy="448056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691640"/>
            <a:ext cx="3840480" cy="822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29968" y="2121408"/>
            <a:ext cx="2139696" cy="661656"/>
          </a:xfrm>
          <a:prstGeom prst="rect">
            <a:avLst/>
          </a:prstGeom>
          <a:noFill/>
        </p:spPr>
        <p:txBody>
          <a:bodyPr wrap="square" lIns="0" tIns="0" rIns="0" bIns="0" anchor="t">
            <a:spAutoFit/>
          </a:bodyPr>
          <a:lstStyle/>
          <a:p>
            <a:pPr algn="l">
              <a:lnSpc>
                <a:spcPct val="112000"/>
              </a:lnSpc>
              <a:spcAft>
                <a:spcPts val="0"/>
              </a:spcAft>
            </a:pPr>
            <a:r>
              <a:rPr sz="2000" b="1" i="0" dirty="0">
                <a:solidFill>
                  <a:schemeClr val="tx1">
                    <a:lumMod val="95000"/>
                    <a:lumOff val="5000"/>
                  </a:schemeClr>
                </a:solidFill>
                <a:latin typeface="Arial"/>
              </a:rPr>
              <a:t>BAHARU</a:t>
            </a:r>
          </a:p>
          <a:p>
            <a:pPr algn="l">
              <a:lnSpc>
                <a:spcPct val="112000"/>
              </a:lnSpc>
              <a:spcAft>
                <a:spcPts val="0"/>
              </a:spcAft>
            </a:pPr>
            <a:r>
              <a:rPr sz="2000" b="1" i="0" dirty="0">
                <a:solidFill>
                  <a:schemeClr val="tx1">
                    <a:lumMod val="95000"/>
                    <a:lumOff val="5000"/>
                  </a:schemeClr>
                </a:solidFill>
                <a:latin typeface="Arial"/>
              </a:rPr>
              <a:t>SIMANJUNTAK</a:t>
            </a:r>
          </a:p>
        </p:txBody>
      </p:sp>
      <p:sp>
        <p:nvSpPr>
          <p:cNvPr id="10" name="Rectangle 9"/>
          <p:cNvSpPr/>
          <p:nvPr/>
        </p:nvSpPr>
        <p:spPr>
          <a:xfrm>
            <a:off x="822960" y="3675887"/>
            <a:ext cx="3291840" cy="9144"/>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029968" y="2907792"/>
            <a:ext cx="2103120" cy="640080"/>
          </a:xfrm>
          <a:prstGeom prst="rect">
            <a:avLst/>
          </a:prstGeom>
          <a:noFill/>
        </p:spPr>
        <p:txBody>
          <a:bodyPr wrap="square" lIns="0" tIns="0" rIns="0" bIns="0" anchor="t">
            <a:noAutofit/>
          </a:bodyPr>
          <a:lstStyle/>
          <a:p>
            <a:pPr algn="l">
              <a:lnSpc>
                <a:spcPct val="112000"/>
              </a:lnSpc>
              <a:spcBef>
                <a:spcPts val="0"/>
              </a:spcBef>
              <a:spcAft>
                <a:spcPts val="0"/>
              </a:spcAft>
              <a:defRPr sz="1000" b="1">
                <a:latin typeface="Arial"/>
              </a:defRPr>
            </a:pPr>
            <a:r>
              <a:rPr sz="1000" b="1">
                <a:latin typeface="Arial"/>
              </a:rPr>
              <a:t>Data Analytics &amp;</a:t>
            </a:r>
          </a:p>
          <a:p>
            <a:pPr>
              <a:spcBef>
                <a:spcPts val="0"/>
              </a:spcBef>
              <a:spcAft>
                <a:spcPts val="0"/>
              </a:spcAft>
              <a:defRPr sz="1000" b="1">
                <a:latin typeface="Arial"/>
              </a:defRPr>
            </a:pPr>
            <a:r>
              <a:rPr sz="1000" b="1">
                <a:latin typeface="Arial"/>
              </a:rPr>
              <a:t>Business Intelligence</a:t>
            </a:r>
          </a:p>
          <a:p>
            <a:pPr>
              <a:spcBef>
                <a:spcPts val="0"/>
              </a:spcBef>
              <a:spcAft>
                <a:spcPts val="0"/>
              </a:spcAft>
              <a:defRPr sz="1000" b="1">
                <a:latin typeface="Arial"/>
              </a:defRPr>
            </a:pPr>
            <a:r>
              <a:rPr sz="1000" b="1">
                <a:latin typeface="Arial"/>
              </a:rPr>
              <a:t>(DABI) 24</a:t>
            </a:r>
          </a:p>
        </p:txBody>
      </p:sp>
      <p:sp>
        <p:nvSpPr>
          <p:cNvPr id="12" name="TextBox 11"/>
          <p:cNvSpPr txBox="1"/>
          <p:nvPr/>
        </p:nvSpPr>
        <p:spPr>
          <a:xfrm>
            <a:off x="2029968" y="3383280"/>
            <a:ext cx="2103120" cy="201168"/>
          </a:xfrm>
          <a:prstGeom prst="rect">
            <a:avLst/>
          </a:prstGeom>
          <a:noFill/>
        </p:spPr>
        <p:txBody>
          <a:bodyPr wrap="square" lIns="0" tIns="0" rIns="0" bIns="0" anchor="t">
            <a:spAutoFit/>
          </a:bodyPr>
          <a:lstStyle/>
          <a:p>
            <a:pPr algn="l">
              <a:lnSpc>
                <a:spcPct val="112000"/>
              </a:lnSpc>
              <a:spcBef>
                <a:spcPts val="0"/>
              </a:spcBef>
              <a:spcAft>
                <a:spcPts val="0"/>
              </a:spcAft>
            </a:pPr>
            <a:r>
              <a:rPr sz="1000" b="0">
                <a:solidFill>
                  <a:srgbClr val="5A6B82"/>
                </a:solidFill>
                <a:latin typeface="Arial"/>
              </a:rPr>
              <a:t>Dibimbing.id</a:t>
            </a:r>
          </a:p>
        </p:txBody>
      </p:sp>
      <p:sp>
        <p:nvSpPr>
          <p:cNvPr id="13" name="TextBox 12"/>
          <p:cNvSpPr txBox="1"/>
          <p:nvPr/>
        </p:nvSpPr>
        <p:spPr>
          <a:xfrm>
            <a:off x="822960" y="3794760"/>
            <a:ext cx="3291840" cy="256032"/>
          </a:xfrm>
          <a:prstGeom prst="rect">
            <a:avLst/>
          </a:prstGeom>
          <a:noFill/>
        </p:spPr>
        <p:txBody>
          <a:bodyPr wrap="square" lIns="0" tIns="0" rIns="0" bIns="0" anchor="t">
            <a:spAutoFit/>
          </a:bodyPr>
          <a:lstStyle/>
          <a:p>
            <a:pPr algn="l">
              <a:lnSpc>
                <a:spcPct val="112000"/>
              </a:lnSpc>
              <a:spcAft>
                <a:spcPts val="300"/>
              </a:spcAft>
            </a:pPr>
            <a:r>
              <a:rPr sz="900" b="1" i="0">
                <a:solidFill>
                  <a:srgbClr val="B45309"/>
                </a:solidFill>
                <a:latin typeface="Arial"/>
              </a:rPr>
              <a:t>TUJUAN KARIER</a:t>
            </a:r>
          </a:p>
        </p:txBody>
      </p:sp>
      <p:sp>
        <p:nvSpPr>
          <p:cNvPr id="14" name="TextBox 13"/>
          <p:cNvSpPr txBox="1"/>
          <p:nvPr/>
        </p:nvSpPr>
        <p:spPr>
          <a:xfrm>
            <a:off x="822960" y="4023360"/>
            <a:ext cx="3291840" cy="253531"/>
          </a:xfrm>
          <a:prstGeom prst="rect">
            <a:avLst/>
          </a:prstGeom>
          <a:noFill/>
        </p:spPr>
        <p:txBody>
          <a:bodyPr wrap="square" lIns="0" tIns="0" rIns="0" bIns="0" anchor="t">
            <a:spAutoFit/>
          </a:bodyPr>
          <a:lstStyle/>
          <a:p>
            <a:pPr algn="l">
              <a:lnSpc>
                <a:spcPct val="112000"/>
              </a:lnSpc>
              <a:spcAft>
                <a:spcPts val="300"/>
              </a:spcAft>
            </a:pPr>
            <a:r>
              <a:rPr sz="1600" b="1" i="0" dirty="0">
                <a:solidFill>
                  <a:srgbClr val="0F1E33"/>
                </a:solidFill>
                <a:latin typeface="Arial"/>
              </a:rPr>
              <a:t>Junior</a:t>
            </a:r>
            <a:r>
              <a:rPr lang="en-US" sz="1600" b="1" i="0" dirty="0">
                <a:solidFill>
                  <a:srgbClr val="0F1E33"/>
                </a:solidFill>
                <a:latin typeface="Arial"/>
              </a:rPr>
              <a:t> Data Analyst</a:t>
            </a:r>
            <a:endParaRPr sz="1600" b="1" i="0" dirty="0">
              <a:solidFill>
                <a:srgbClr val="0F1E33"/>
              </a:solidFill>
              <a:latin typeface="Arial"/>
            </a:endParaRPr>
          </a:p>
        </p:txBody>
      </p:sp>
      <p:sp>
        <p:nvSpPr>
          <p:cNvPr id="15" name="TextBox 14"/>
          <p:cNvSpPr txBox="1"/>
          <p:nvPr/>
        </p:nvSpPr>
        <p:spPr>
          <a:xfrm>
            <a:off x="822960" y="4663440"/>
            <a:ext cx="3291840" cy="256032"/>
          </a:xfrm>
          <a:prstGeom prst="rect">
            <a:avLst/>
          </a:prstGeom>
          <a:noFill/>
        </p:spPr>
        <p:txBody>
          <a:bodyPr wrap="square" lIns="0" tIns="0" rIns="0" bIns="0" anchor="t">
            <a:spAutoFit/>
          </a:bodyPr>
          <a:lstStyle/>
          <a:p>
            <a:r>
              <a:rPr dirty="0">
                <a:latin typeface="Arial"/>
              </a:rPr>
              <a:t>TOOLS UTAMA</a:t>
            </a:r>
          </a:p>
        </p:txBody>
      </p:sp>
      <p:sp>
        <p:nvSpPr>
          <p:cNvPr id="20" name="Rounded Rectangle 19"/>
          <p:cNvSpPr/>
          <p:nvPr/>
        </p:nvSpPr>
        <p:spPr>
          <a:xfrm>
            <a:off x="4663440" y="1691640"/>
            <a:ext cx="6428232" cy="13716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663440" y="1691640"/>
            <a:ext cx="73152"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49240" y="1874520"/>
            <a:ext cx="5605272" cy="174343"/>
          </a:xfrm>
          <a:prstGeom prst="rect">
            <a:avLst/>
          </a:prstGeom>
          <a:noFill/>
        </p:spPr>
        <p:txBody>
          <a:bodyPr wrap="square" lIns="0" tIns="0" rIns="0" bIns="0" anchor="t">
            <a:spAutoFit/>
          </a:bodyPr>
          <a:lstStyle/>
          <a:p>
            <a:pPr algn="l">
              <a:lnSpc>
                <a:spcPct val="112000"/>
              </a:lnSpc>
              <a:spcAft>
                <a:spcPts val="300"/>
              </a:spcAft>
            </a:pPr>
            <a:r>
              <a:rPr sz="1100" b="1" i="0" dirty="0">
                <a:latin typeface="Arial"/>
              </a:rPr>
              <a:t>PENGALAMAN SEBELUMNYA</a:t>
            </a:r>
          </a:p>
        </p:txBody>
      </p:sp>
      <p:sp>
        <p:nvSpPr>
          <p:cNvPr id="24" name="TextBox 23"/>
          <p:cNvSpPr txBox="1"/>
          <p:nvPr/>
        </p:nvSpPr>
        <p:spPr>
          <a:xfrm>
            <a:off x="4919472" y="2258568"/>
            <a:ext cx="5971032" cy="731520"/>
          </a:xfrm>
          <a:prstGeom prst="rect">
            <a:avLst/>
          </a:prstGeom>
          <a:noFill/>
        </p:spPr>
        <p:txBody>
          <a:bodyPr wrap="square" lIns="0" tIns="0" rIns="0" bIns="0" anchor="t">
            <a:spAutoFit/>
          </a:bodyPr>
          <a:lstStyle/>
          <a:p>
            <a:pPr algn="l">
              <a:lnSpc>
                <a:spcPct val="120000"/>
              </a:lnSpc>
              <a:spcAft>
                <a:spcPts val="300"/>
              </a:spcAft>
            </a:pPr>
            <a:r>
              <a:rPr sz="1100" b="0" i="0">
                <a:solidFill>
                  <a:srgbClr val="5A6B82"/>
                </a:solidFill>
                <a:latin typeface="Arial"/>
              </a:rPr>
              <a:t>Lebih dari 3 tahun di bidang Purchasing dan operasional lapangan telekomunikasi, mencakup perbandingan penawaran vendor, pemrosesan invoice, pemeriksaan stok, dan pengumpulan data lapangan secara terstruktur.</a:t>
            </a:r>
          </a:p>
        </p:txBody>
      </p:sp>
      <p:sp>
        <p:nvSpPr>
          <p:cNvPr id="25" name="Rounded Rectangle 24"/>
          <p:cNvSpPr/>
          <p:nvPr/>
        </p:nvSpPr>
        <p:spPr>
          <a:xfrm>
            <a:off x="4654296" y="3227832"/>
            <a:ext cx="6428232" cy="13716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663440" y="3227832"/>
            <a:ext cx="73152"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49240" y="3410712"/>
            <a:ext cx="5605272" cy="174343"/>
          </a:xfrm>
          <a:prstGeom prst="rect">
            <a:avLst/>
          </a:prstGeom>
          <a:noFill/>
        </p:spPr>
        <p:txBody>
          <a:bodyPr wrap="square" lIns="0" tIns="0" rIns="0" bIns="0" anchor="t">
            <a:spAutoFit/>
          </a:bodyPr>
          <a:lstStyle/>
          <a:p>
            <a:pPr algn="l">
              <a:lnSpc>
                <a:spcPct val="112000"/>
              </a:lnSpc>
              <a:spcAft>
                <a:spcPts val="300"/>
              </a:spcAft>
            </a:pPr>
            <a:r>
              <a:rPr sz="1100" b="1" i="0" dirty="0">
                <a:latin typeface="Arial"/>
              </a:rPr>
              <a:t>FOKUS PEMBELAJARAN</a:t>
            </a:r>
          </a:p>
        </p:txBody>
      </p:sp>
      <p:sp>
        <p:nvSpPr>
          <p:cNvPr id="29" name="TextBox 28"/>
          <p:cNvSpPr txBox="1"/>
          <p:nvPr/>
        </p:nvSpPr>
        <p:spPr>
          <a:xfrm>
            <a:off x="4919472" y="3794760"/>
            <a:ext cx="5971032" cy="731520"/>
          </a:xfrm>
          <a:prstGeom prst="rect">
            <a:avLst/>
          </a:prstGeom>
          <a:noFill/>
        </p:spPr>
        <p:txBody>
          <a:bodyPr wrap="square" lIns="0" tIns="0" rIns="0" bIns="0" anchor="t">
            <a:spAutoFit/>
          </a:bodyPr>
          <a:lstStyle/>
          <a:p>
            <a:pPr algn="l">
              <a:lnSpc>
                <a:spcPct val="120000"/>
              </a:lnSpc>
              <a:spcAft>
                <a:spcPts val="300"/>
              </a:spcAft>
            </a:pPr>
            <a:r>
              <a:rPr sz="1100" b="0" i="0">
                <a:solidFill>
                  <a:srgbClr val="5A6B82"/>
                </a:solidFill>
                <a:latin typeface="Arial"/>
              </a:rPr>
              <a:t>Mengembangkan keterampilan praktis dalam Excel, SQL, Python, dan Power BI untuk menganalisis data bisnis serta menyampaikan insight dengan jelas.</a:t>
            </a:r>
          </a:p>
        </p:txBody>
      </p:sp>
      <p:sp>
        <p:nvSpPr>
          <p:cNvPr id="30" name="Rounded Rectangle 29"/>
          <p:cNvSpPr/>
          <p:nvPr/>
        </p:nvSpPr>
        <p:spPr>
          <a:xfrm>
            <a:off x="4663440" y="4764024"/>
            <a:ext cx="6428232" cy="13716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663440" y="4764024"/>
            <a:ext cx="73152" cy="1371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349240" y="4946904"/>
            <a:ext cx="5605272" cy="174343"/>
          </a:xfrm>
          <a:prstGeom prst="rect">
            <a:avLst/>
          </a:prstGeom>
          <a:noFill/>
        </p:spPr>
        <p:txBody>
          <a:bodyPr wrap="square" lIns="0" tIns="0" rIns="0" bIns="0" anchor="t">
            <a:spAutoFit/>
          </a:bodyPr>
          <a:lstStyle/>
          <a:p>
            <a:pPr algn="l">
              <a:lnSpc>
                <a:spcPct val="112000"/>
              </a:lnSpc>
              <a:spcAft>
                <a:spcPts val="300"/>
              </a:spcAft>
            </a:pPr>
            <a:r>
              <a:rPr sz="1100" b="1" i="0" dirty="0">
                <a:latin typeface="Arial"/>
              </a:rPr>
              <a:t>TUJUAN PORTOFOLIO</a:t>
            </a:r>
          </a:p>
        </p:txBody>
      </p:sp>
      <p:sp>
        <p:nvSpPr>
          <p:cNvPr id="34" name="TextBox 33"/>
          <p:cNvSpPr txBox="1"/>
          <p:nvPr/>
        </p:nvSpPr>
        <p:spPr>
          <a:xfrm>
            <a:off x="4919472" y="5330952"/>
            <a:ext cx="5971032" cy="731520"/>
          </a:xfrm>
          <a:prstGeom prst="rect">
            <a:avLst/>
          </a:prstGeom>
          <a:noFill/>
        </p:spPr>
        <p:txBody>
          <a:bodyPr wrap="square" lIns="0" tIns="0" rIns="0" bIns="0" anchor="t">
            <a:spAutoFit/>
          </a:bodyPr>
          <a:lstStyle/>
          <a:p>
            <a:pPr algn="l">
              <a:lnSpc>
                <a:spcPct val="120000"/>
              </a:lnSpc>
              <a:spcAft>
                <a:spcPts val="300"/>
              </a:spcAft>
            </a:pPr>
            <a:r>
              <a:rPr sz="1100" b="0" i="0" dirty="0" err="1">
                <a:solidFill>
                  <a:srgbClr val="5A6B82"/>
                </a:solidFill>
                <a:latin typeface="Arial"/>
              </a:rPr>
              <a:t>Mendokumentasikan</a:t>
            </a:r>
            <a:r>
              <a:rPr sz="1100" b="0" i="0" dirty="0">
                <a:solidFill>
                  <a:srgbClr val="5A6B82"/>
                </a:solidFill>
                <a:latin typeface="Arial"/>
              </a:rPr>
              <a:t> proses </a:t>
            </a:r>
            <a:r>
              <a:rPr sz="1100" b="0" i="0" dirty="0" err="1">
                <a:solidFill>
                  <a:srgbClr val="5A6B82"/>
                </a:solidFill>
                <a:latin typeface="Arial"/>
              </a:rPr>
              <a:t>belajar</a:t>
            </a:r>
            <a:r>
              <a:rPr sz="1100" b="0" i="0" dirty="0">
                <a:solidFill>
                  <a:srgbClr val="5A6B82"/>
                </a:solidFill>
                <a:latin typeface="Arial"/>
              </a:rPr>
              <a:t> </a:t>
            </a:r>
            <a:r>
              <a:rPr sz="1100" b="0" i="0" dirty="0" err="1">
                <a:solidFill>
                  <a:srgbClr val="5A6B82"/>
                </a:solidFill>
                <a:latin typeface="Arial"/>
              </a:rPr>
              <a:t>melalui</a:t>
            </a:r>
            <a:r>
              <a:rPr sz="1100" b="0" i="0" dirty="0">
                <a:solidFill>
                  <a:srgbClr val="5A6B82"/>
                </a:solidFill>
                <a:latin typeface="Arial"/>
              </a:rPr>
              <a:t> </a:t>
            </a:r>
            <a:r>
              <a:rPr sz="1100" b="0" i="0" dirty="0" err="1">
                <a:solidFill>
                  <a:srgbClr val="5A6B82"/>
                </a:solidFill>
                <a:latin typeface="Arial"/>
              </a:rPr>
              <a:t>studi</a:t>
            </a:r>
            <a:r>
              <a:rPr sz="1100" b="0" i="0" dirty="0">
                <a:solidFill>
                  <a:srgbClr val="5A6B82"/>
                </a:solidFill>
                <a:latin typeface="Arial"/>
              </a:rPr>
              <a:t> </a:t>
            </a:r>
            <a:r>
              <a:rPr sz="1100" b="0" i="0" dirty="0" err="1">
                <a:solidFill>
                  <a:srgbClr val="5A6B82"/>
                </a:solidFill>
                <a:latin typeface="Arial"/>
              </a:rPr>
              <a:t>kasus</a:t>
            </a:r>
            <a:r>
              <a:rPr sz="1100" b="0" i="0" dirty="0">
                <a:solidFill>
                  <a:srgbClr val="5A6B82"/>
                </a:solidFill>
                <a:latin typeface="Arial"/>
              </a:rPr>
              <a:t> </a:t>
            </a:r>
            <a:r>
              <a:rPr sz="1100" b="0" i="0" dirty="0" err="1">
                <a:solidFill>
                  <a:srgbClr val="5A6B82"/>
                </a:solidFill>
                <a:latin typeface="Arial"/>
              </a:rPr>
              <a:t>portofolio</a:t>
            </a:r>
            <a:r>
              <a:rPr sz="1100" b="0" i="0" dirty="0">
                <a:solidFill>
                  <a:srgbClr val="5A6B82"/>
                </a:solidFill>
                <a:latin typeface="Arial"/>
              </a:rPr>
              <a:t> </a:t>
            </a:r>
            <a:r>
              <a:rPr sz="1100" b="0" i="0" dirty="0" err="1">
                <a:solidFill>
                  <a:srgbClr val="5A6B82"/>
                </a:solidFill>
                <a:latin typeface="Arial"/>
              </a:rPr>
              <a:t>pinjaman</a:t>
            </a:r>
            <a:r>
              <a:rPr sz="1100" b="0" i="0" dirty="0">
                <a:solidFill>
                  <a:srgbClr val="5A6B82"/>
                </a:solidFill>
                <a:latin typeface="Arial"/>
              </a:rPr>
              <a:t>: </a:t>
            </a:r>
            <a:r>
              <a:rPr sz="1100" b="0" i="0" dirty="0" err="1">
                <a:solidFill>
                  <a:srgbClr val="5A6B82"/>
                </a:solidFill>
                <a:latin typeface="Arial"/>
              </a:rPr>
              <a:t>pemeriksaan</a:t>
            </a:r>
            <a:r>
              <a:rPr sz="1100" b="0" i="0" dirty="0">
                <a:solidFill>
                  <a:srgbClr val="5A6B82"/>
                </a:solidFill>
                <a:latin typeface="Arial"/>
              </a:rPr>
              <a:t> data, </a:t>
            </a:r>
            <a:r>
              <a:rPr sz="1100" b="0" i="0" dirty="0" err="1">
                <a:solidFill>
                  <a:srgbClr val="5A6B82"/>
                </a:solidFill>
                <a:latin typeface="Arial"/>
              </a:rPr>
              <a:t>peninjauan</a:t>
            </a:r>
            <a:r>
              <a:rPr sz="1100" b="0" i="0" dirty="0">
                <a:solidFill>
                  <a:srgbClr val="5A6B82"/>
                </a:solidFill>
                <a:latin typeface="Arial"/>
              </a:rPr>
              <a:t> SQL, </a:t>
            </a:r>
            <a:r>
              <a:rPr sz="1100" b="0" i="0" dirty="0" err="1">
                <a:solidFill>
                  <a:srgbClr val="5A6B82"/>
                </a:solidFill>
                <a:latin typeface="Arial"/>
              </a:rPr>
              <a:t>penyempurnaan</a:t>
            </a:r>
            <a:r>
              <a:rPr sz="1100" b="0" i="0" dirty="0">
                <a:solidFill>
                  <a:srgbClr val="5A6B82"/>
                </a:solidFill>
                <a:latin typeface="Arial"/>
              </a:rPr>
              <a:t> dashboard, dan </a:t>
            </a:r>
            <a:r>
              <a:rPr sz="1100" b="0" i="0" dirty="0" err="1">
                <a:solidFill>
                  <a:srgbClr val="5A6B82"/>
                </a:solidFill>
                <a:latin typeface="Arial"/>
              </a:rPr>
              <a:t>penyampaian</a:t>
            </a:r>
            <a:r>
              <a:rPr sz="1100" b="0" i="0" dirty="0">
                <a:solidFill>
                  <a:srgbClr val="5A6B82"/>
                </a:solidFill>
                <a:latin typeface="Arial"/>
              </a:rPr>
              <a:t> </a:t>
            </a:r>
            <a:r>
              <a:rPr sz="1100" b="0" i="0" dirty="0" err="1">
                <a:solidFill>
                  <a:srgbClr val="5A6B82"/>
                </a:solidFill>
                <a:latin typeface="Arial"/>
              </a:rPr>
              <a:t>hasil</a:t>
            </a:r>
            <a:r>
              <a:rPr sz="1100" b="0" i="0" dirty="0">
                <a:solidFill>
                  <a:srgbClr val="5A6B82"/>
                </a:solidFill>
                <a:latin typeface="Arial"/>
              </a:rPr>
              <a:t> </a:t>
            </a:r>
            <a:r>
              <a:rPr sz="1100" b="0" i="0" dirty="0" err="1">
                <a:solidFill>
                  <a:srgbClr val="5A6B82"/>
                </a:solidFill>
                <a:latin typeface="Arial"/>
              </a:rPr>
              <a:t>analisis</a:t>
            </a:r>
            <a:r>
              <a:rPr sz="1100" b="0" i="0" dirty="0">
                <a:solidFill>
                  <a:srgbClr val="5A6B82"/>
                </a:solidFill>
                <a:latin typeface="Arial"/>
              </a:rPr>
              <a:t>.</a:t>
            </a:r>
          </a:p>
        </p:txBody>
      </p:sp>
      <p:sp>
        <p:nvSpPr>
          <p:cNvPr id="35" name="TextBox 34"/>
          <p:cNvSpPr txBox="1"/>
          <p:nvPr/>
        </p:nvSpPr>
        <p:spPr>
          <a:xfrm>
            <a:off x="548640" y="6565392"/>
            <a:ext cx="6400800" cy="201168"/>
          </a:xfrm>
          <a:prstGeom prst="rect">
            <a:avLst/>
          </a:prstGeom>
          <a:noFill/>
        </p:spPr>
        <p:txBody>
          <a:bodyPr wrap="square" lIns="0" tIns="0" rIns="0" bIns="0" anchor="t">
            <a:spAutoFit/>
          </a:bodyPr>
          <a:lstStyle/>
          <a:p>
            <a:pPr algn="l">
              <a:lnSpc>
                <a:spcPct val="112000"/>
              </a:lnSpc>
              <a:spcAft>
                <a:spcPts val="300"/>
              </a:spcAft>
            </a:pPr>
            <a:r>
              <a:rPr sz="800" b="0" i="0">
                <a:solidFill>
                  <a:srgbClr val="94A3B8"/>
                </a:solidFill>
                <a:latin typeface="Arial"/>
              </a:rPr>
              <a:t>LAPORAN PINJAMAN BANK  •  PORTOFOLIO ANALIS DATA</a:t>
            </a:r>
          </a:p>
        </p:txBody>
      </p:sp>
      <p:pic>
        <p:nvPicPr>
          <p:cNvPr id="38" name="Picture 37" descr="ARF07589.jpg.jpeg"/>
          <p:cNvPicPr>
            <a:picLocks noChangeAspect="1"/>
          </p:cNvPicPr>
          <p:nvPr/>
        </p:nvPicPr>
        <p:blipFill>
          <a:blip r:embed="rId3"/>
          <a:stretch>
            <a:fillRect/>
          </a:stretch>
        </p:blipFill>
        <p:spPr>
          <a:xfrm>
            <a:off x="813816" y="1920240"/>
            <a:ext cx="1115568" cy="1673352"/>
          </a:xfrm>
          <a:prstGeom prst="rect">
            <a:avLst/>
          </a:prstGeom>
        </p:spPr>
      </p:pic>
      <p:pic>
        <p:nvPicPr>
          <p:cNvPr id="39" name="Picture 38" descr="Logo_Excel.png"/>
          <p:cNvPicPr>
            <a:picLocks noChangeAspect="1"/>
          </p:cNvPicPr>
          <p:nvPr/>
        </p:nvPicPr>
        <p:blipFill>
          <a:blip r:embed="rId4"/>
          <a:stretch>
            <a:fillRect/>
          </a:stretch>
        </p:blipFill>
        <p:spPr>
          <a:xfrm>
            <a:off x="941832" y="4882896"/>
            <a:ext cx="384048" cy="384048"/>
          </a:xfrm>
          <a:prstGeom prst="rect">
            <a:avLst/>
          </a:prstGeom>
        </p:spPr>
      </p:pic>
      <p:sp>
        <p:nvSpPr>
          <p:cNvPr id="40" name="TextBox 39"/>
          <p:cNvSpPr txBox="1"/>
          <p:nvPr/>
        </p:nvSpPr>
        <p:spPr>
          <a:xfrm>
            <a:off x="713232" y="5303520"/>
            <a:ext cx="841248" cy="228600"/>
          </a:xfrm>
          <a:prstGeom prst="rect">
            <a:avLst/>
          </a:prstGeom>
          <a:noFill/>
        </p:spPr>
        <p:txBody>
          <a:bodyPr wrap="square" lIns="9144" tIns="9144" rIns="9144" bIns="9144">
            <a:spAutoFit/>
          </a:bodyPr>
          <a:lstStyle/>
          <a:p>
            <a:pPr algn="ctr"/>
            <a:r>
              <a:rPr sz="900" b="1">
                <a:solidFill>
                  <a:srgbClr val="0F1E33"/>
                </a:solidFill>
                <a:latin typeface="Arial"/>
              </a:rPr>
              <a:t>Excel</a:t>
            </a:r>
          </a:p>
        </p:txBody>
      </p:sp>
      <p:pic>
        <p:nvPicPr>
          <p:cNvPr id="41" name="Picture 40" descr="Logo_Postgresql.png"/>
          <p:cNvPicPr>
            <a:picLocks noChangeAspect="1"/>
          </p:cNvPicPr>
          <p:nvPr/>
        </p:nvPicPr>
        <p:blipFill>
          <a:blip r:embed="rId5"/>
          <a:stretch>
            <a:fillRect/>
          </a:stretch>
        </p:blipFill>
        <p:spPr>
          <a:xfrm>
            <a:off x="1773936" y="4882896"/>
            <a:ext cx="384048" cy="384048"/>
          </a:xfrm>
          <a:prstGeom prst="rect">
            <a:avLst/>
          </a:prstGeom>
        </p:spPr>
      </p:pic>
      <p:sp>
        <p:nvSpPr>
          <p:cNvPr id="42" name="TextBox 41"/>
          <p:cNvSpPr txBox="1"/>
          <p:nvPr/>
        </p:nvSpPr>
        <p:spPr>
          <a:xfrm>
            <a:off x="1545336" y="5303520"/>
            <a:ext cx="841248" cy="228600"/>
          </a:xfrm>
          <a:prstGeom prst="rect">
            <a:avLst/>
          </a:prstGeom>
          <a:noFill/>
        </p:spPr>
        <p:txBody>
          <a:bodyPr wrap="square" lIns="9144" tIns="9144" rIns="9144" bIns="9144">
            <a:spAutoFit/>
          </a:bodyPr>
          <a:lstStyle/>
          <a:p>
            <a:pPr algn="ctr"/>
            <a:r>
              <a:rPr sz="900" b="1">
                <a:solidFill>
                  <a:srgbClr val="0F1E33"/>
                </a:solidFill>
                <a:latin typeface="Arial"/>
              </a:rPr>
              <a:t>PostgreSQL</a:t>
            </a:r>
          </a:p>
        </p:txBody>
      </p:sp>
      <p:pic>
        <p:nvPicPr>
          <p:cNvPr id="43" name="Picture 42" descr="Logo_Python.png"/>
          <p:cNvPicPr>
            <a:picLocks noChangeAspect="1"/>
          </p:cNvPicPr>
          <p:nvPr/>
        </p:nvPicPr>
        <p:blipFill>
          <a:blip r:embed="rId6"/>
          <a:stretch>
            <a:fillRect/>
          </a:stretch>
        </p:blipFill>
        <p:spPr>
          <a:xfrm>
            <a:off x="2596896" y="4882896"/>
            <a:ext cx="384048" cy="384048"/>
          </a:xfrm>
          <a:prstGeom prst="rect">
            <a:avLst/>
          </a:prstGeom>
        </p:spPr>
      </p:pic>
      <p:sp>
        <p:nvSpPr>
          <p:cNvPr id="44" name="TextBox 43"/>
          <p:cNvSpPr txBox="1"/>
          <p:nvPr/>
        </p:nvSpPr>
        <p:spPr>
          <a:xfrm>
            <a:off x="2368296" y="5303520"/>
            <a:ext cx="841248" cy="228600"/>
          </a:xfrm>
          <a:prstGeom prst="rect">
            <a:avLst/>
          </a:prstGeom>
          <a:noFill/>
        </p:spPr>
        <p:txBody>
          <a:bodyPr wrap="square" lIns="9144" tIns="9144" rIns="9144" bIns="9144">
            <a:spAutoFit/>
          </a:bodyPr>
          <a:lstStyle/>
          <a:p>
            <a:pPr algn="ctr"/>
            <a:r>
              <a:rPr sz="900" b="1">
                <a:solidFill>
                  <a:srgbClr val="0F1E33"/>
                </a:solidFill>
                <a:latin typeface="Arial"/>
              </a:rPr>
              <a:t>Python</a:t>
            </a:r>
          </a:p>
        </p:txBody>
      </p:sp>
      <p:pic>
        <p:nvPicPr>
          <p:cNvPr id="45" name="Picture 44" descr="Logo_Powerbi.png"/>
          <p:cNvPicPr>
            <a:picLocks noChangeAspect="1"/>
          </p:cNvPicPr>
          <p:nvPr/>
        </p:nvPicPr>
        <p:blipFill>
          <a:blip r:embed="rId7"/>
          <a:stretch>
            <a:fillRect/>
          </a:stretch>
        </p:blipFill>
        <p:spPr>
          <a:xfrm>
            <a:off x="3429000" y="4882896"/>
            <a:ext cx="384048" cy="384048"/>
          </a:xfrm>
          <a:prstGeom prst="rect">
            <a:avLst/>
          </a:prstGeom>
        </p:spPr>
      </p:pic>
      <p:sp>
        <p:nvSpPr>
          <p:cNvPr id="46" name="TextBox 45"/>
          <p:cNvSpPr txBox="1"/>
          <p:nvPr/>
        </p:nvSpPr>
        <p:spPr>
          <a:xfrm>
            <a:off x="3200400" y="5303520"/>
            <a:ext cx="841248" cy="228600"/>
          </a:xfrm>
          <a:prstGeom prst="rect">
            <a:avLst/>
          </a:prstGeom>
          <a:noFill/>
        </p:spPr>
        <p:txBody>
          <a:bodyPr wrap="square" lIns="9144" tIns="9144" rIns="9144" bIns="9144">
            <a:spAutoFit/>
          </a:bodyPr>
          <a:lstStyle/>
          <a:p>
            <a:pPr algn="ctr"/>
            <a:r>
              <a:rPr sz="900" b="1">
                <a:solidFill>
                  <a:srgbClr val="0F1E33"/>
                </a:solidFill>
                <a:latin typeface="Arial"/>
              </a:rPr>
              <a:t>Power BI</a:t>
            </a:r>
          </a:p>
        </p:txBody>
      </p:sp>
      <p:pic>
        <p:nvPicPr>
          <p:cNvPr id="17" name="Graphic 16" descr="Briefcase with solid fill">
            <a:extLst>
              <a:ext uri="{FF2B5EF4-FFF2-40B4-BE49-F238E27FC236}">
                <a16:creationId xmlns:a16="http://schemas.microsoft.com/office/drawing/2014/main" id="{D81F0F6E-68D8-6FE0-6F3F-38357F4A209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18304" y="1714305"/>
            <a:ext cx="574431" cy="574431"/>
          </a:xfrm>
          <a:prstGeom prst="rect">
            <a:avLst/>
          </a:prstGeom>
        </p:spPr>
      </p:pic>
      <p:pic>
        <p:nvPicPr>
          <p:cNvPr id="19" name="Graphic 18" descr="Books with solid fill">
            <a:extLst>
              <a:ext uri="{FF2B5EF4-FFF2-40B4-BE49-F238E27FC236}">
                <a16:creationId xmlns:a16="http://schemas.microsoft.com/office/drawing/2014/main" id="{7D37A12A-EADD-0BC8-115F-AAFD2B594F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800600" y="3292035"/>
            <a:ext cx="484632" cy="484632"/>
          </a:xfrm>
          <a:prstGeom prst="rect">
            <a:avLst/>
          </a:prstGeom>
        </p:spPr>
      </p:pic>
      <p:pic>
        <p:nvPicPr>
          <p:cNvPr id="48" name="Graphic 47" descr="Bullseye with solid fill">
            <a:extLst>
              <a:ext uri="{FF2B5EF4-FFF2-40B4-BE49-F238E27FC236}">
                <a16:creationId xmlns:a16="http://schemas.microsoft.com/office/drawing/2014/main" id="{708F628B-DAA9-0B73-50B2-DA9713D7F6F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79264" y="4783514"/>
            <a:ext cx="528789" cy="528789"/>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extBox 1"/>
          <p:cNvSpPr txBox="1"/>
          <p:nvPr/>
        </p:nvSpPr>
        <p:spPr>
          <a:xfrm>
            <a:off x="548640" y="1463040"/>
            <a:ext cx="5486400" cy="1140953"/>
          </a:xfrm>
          <a:prstGeom prst="rect">
            <a:avLst/>
          </a:prstGeom>
          <a:noFill/>
        </p:spPr>
        <p:txBody>
          <a:bodyPr wrap="square" lIns="0" tIns="0" rIns="0" bIns="0" anchor="t">
            <a:spAutoFit/>
          </a:bodyPr>
          <a:lstStyle/>
          <a:p>
            <a:pPr algn="l">
              <a:lnSpc>
                <a:spcPct val="112000"/>
              </a:lnSpc>
              <a:spcAft>
                <a:spcPts val="300"/>
              </a:spcAft>
            </a:pPr>
            <a:r>
              <a:rPr sz="7200" b="1" i="0" dirty="0">
                <a:solidFill>
                  <a:schemeClr val="bg1"/>
                </a:solidFill>
                <a:latin typeface="Arial"/>
              </a:rPr>
              <a:t>02</a:t>
            </a:r>
          </a:p>
        </p:txBody>
      </p:sp>
      <p:sp>
        <p:nvSpPr>
          <p:cNvPr id="3" name="Rectangle 2"/>
          <p:cNvSpPr/>
          <p:nvPr/>
        </p:nvSpPr>
        <p:spPr>
          <a:xfrm>
            <a:off x="640080" y="3657600"/>
            <a:ext cx="822960" cy="548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86200"/>
            <a:ext cx="10058400" cy="640080"/>
          </a:xfrm>
          <a:prstGeom prst="rect">
            <a:avLst/>
          </a:prstGeom>
          <a:noFill/>
        </p:spPr>
        <p:txBody>
          <a:bodyPr wrap="square" lIns="0" tIns="0" rIns="0" bIns="0" anchor="t">
            <a:spAutoFit/>
          </a:bodyPr>
          <a:lstStyle/>
          <a:p>
            <a:pPr algn="l">
              <a:lnSpc>
                <a:spcPct val="112000"/>
              </a:lnSpc>
              <a:spcAft>
                <a:spcPts val="300"/>
              </a:spcAft>
            </a:pPr>
            <a:r>
              <a:rPr sz="3600" b="1" i="0">
                <a:solidFill>
                  <a:srgbClr val="FFFFFF"/>
                </a:solidFill>
                <a:latin typeface="Arial"/>
              </a:rPr>
              <a:t>Gambaran Proyek</a:t>
            </a:r>
          </a:p>
        </p:txBody>
      </p:sp>
      <p:sp>
        <p:nvSpPr>
          <p:cNvPr id="5" name="TextBox 4"/>
          <p:cNvSpPr txBox="1"/>
          <p:nvPr/>
        </p:nvSpPr>
        <p:spPr>
          <a:xfrm>
            <a:off x="640080" y="4617720"/>
            <a:ext cx="10058400" cy="221856"/>
          </a:xfrm>
          <a:prstGeom prst="rect">
            <a:avLst/>
          </a:prstGeom>
          <a:noFill/>
        </p:spPr>
        <p:txBody>
          <a:bodyPr wrap="square" lIns="0" tIns="0" rIns="0" bIns="0" anchor="t">
            <a:spAutoFit/>
          </a:bodyPr>
          <a:lstStyle/>
          <a:p>
            <a:pPr algn="l">
              <a:lnSpc>
                <a:spcPct val="112000"/>
              </a:lnSpc>
              <a:spcAft>
                <a:spcPts val="300"/>
              </a:spcAft>
            </a:pPr>
            <a:r>
              <a:rPr sz="1400" b="0" i="0" dirty="0" err="1">
                <a:solidFill>
                  <a:schemeClr val="bg1"/>
                </a:solidFill>
                <a:latin typeface="Arial"/>
              </a:rPr>
              <a:t>Laporan</a:t>
            </a:r>
            <a:r>
              <a:rPr sz="1400" b="0" i="0" dirty="0">
                <a:solidFill>
                  <a:schemeClr val="bg1"/>
                </a:solidFill>
                <a:latin typeface="Arial"/>
              </a:rPr>
              <a:t> </a:t>
            </a:r>
            <a:r>
              <a:rPr sz="1400" b="0" i="0" dirty="0" err="1">
                <a:solidFill>
                  <a:schemeClr val="bg1"/>
                </a:solidFill>
                <a:latin typeface="Arial"/>
              </a:rPr>
              <a:t>Pinjaman</a:t>
            </a:r>
            <a:r>
              <a:rPr sz="1400" b="0" i="0" dirty="0">
                <a:solidFill>
                  <a:schemeClr val="bg1"/>
                </a:solidFill>
                <a:latin typeface="Arial"/>
              </a:rPr>
              <a:t> Bank — </a:t>
            </a:r>
            <a:r>
              <a:rPr sz="1400" b="0" i="0" dirty="0" err="1">
                <a:solidFill>
                  <a:schemeClr val="bg1"/>
                </a:solidFill>
                <a:latin typeface="Arial"/>
              </a:rPr>
              <a:t>konteks</a:t>
            </a:r>
            <a:r>
              <a:rPr sz="1400" b="0" i="0" dirty="0">
                <a:solidFill>
                  <a:schemeClr val="bg1"/>
                </a:solidFill>
                <a:latin typeface="Arial"/>
              </a:rPr>
              <a:t>, </a:t>
            </a:r>
            <a:r>
              <a:rPr sz="1400" b="0" i="0" dirty="0" err="1">
                <a:solidFill>
                  <a:schemeClr val="bg1"/>
                </a:solidFill>
                <a:latin typeface="Arial"/>
              </a:rPr>
              <a:t>cakupan</a:t>
            </a:r>
            <a:r>
              <a:rPr sz="1400" b="0" i="0" dirty="0">
                <a:solidFill>
                  <a:schemeClr val="bg1"/>
                </a:solidFill>
                <a:latin typeface="Arial"/>
              </a:rPr>
              <a:t>, dan </a:t>
            </a:r>
            <a:r>
              <a:rPr sz="1400" b="0" i="0" dirty="0" err="1">
                <a:solidFill>
                  <a:schemeClr val="bg1"/>
                </a:solidFill>
                <a:latin typeface="Arial"/>
              </a:rPr>
              <a:t>pertanyaan</a:t>
            </a:r>
            <a:r>
              <a:rPr sz="1400" b="0" i="0" dirty="0">
                <a:solidFill>
                  <a:schemeClr val="bg1"/>
                </a:solidFill>
                <a:latin typeface="Arial"/>
              </a:rPr>
              <a:t> yang </a:t>
            </a:r>
            <a:r>
              <a:rPr sz="1400" b="0" i="0" dirty="0" err="1">
                <a:solidFill>
                  <a:schemeClr val="bg1"/>
                </a:solidFill>
                <a:latin typeface="Arial"/>
              </a:rPr>
              <a:t>memandu</a:t>
            </a:r>
            <a:r>
              <a:rPr sz="1400" b="0" i="0" dirty="0">
                <a:solidFill>
                  <a:schemeClr val="bg1"/>
                </a:solidFill>
                <a:latin typeface="Arial"/>
              </a:rPr>
              <a:t> </a:t>
            </a:r>
            <a:r>
              <a:rPr sz="1400" b="0" i="0" dirty="0" err="1">
                <a:solidFill>
                  <a:schemeClr val="bg1"/>
                </a:solidFill>
                <a:latin typeface="Arial"/>
              </a:rPr>
              <a:t>analisis</a:t>
            </a:r>
            <a:r>
              <a:rPr sz="1400" b="0" i="0" dirty="0">
                <a:solidFill>
                  <a:schemeClr val="bg1"/>
                </a:solidFill>
                <a:latin typeface="Arial"/>
              </a:rPr>
              <a:t>.</a:t>
            </a:r>
          </a:p>
        </p:txBody>
      </p:sp>
      <p:sp>
        <p:nvSpPr>
          <p:cNvPr id="6" name="TextBox 5"/>
          <p:cNvSpPr txBox="1"/>
          <p:nvPr/>
        </p:nvSpPr>
        <p:spPr>
          <a:xfrm>
            <a:off x="548640" y="6400800"/>
            <a:ext cx="7315200" cy="126766"/>
          </a:xfrm>
          <a:prstGeom prst="rect">
            <a:avLst/>
          </a:prstGeom>
          <a:noFill/>
        </p:spPr>
        <p:txBody>
          <a:bodyPr wrap="square" lIns="0" tIns="0" rIns="0" bIns="0" anchor="t">
            <a:spAutoFit/>
          </a:bodyPr>
          <a:lstStyle/>
          <a:p>
            <a:pPr algn="l">
              <a:lnSpc>
                <a:spcPct val="112000"/>
              </a:lnSpc>
              <a:spcAft>
                <a:spcPts val="300"/>
              </a:spcAft>
            </a:pPr>
            <a:r>
              <a:rPr sz="800" b="0" i="0" dirty="0">
                <a:solidFill>
                  <a:schemeClr val="bg1"/>
                </a:solidFill>
                <a:latin typeface="Arial"/>
              </a:rPr>
              <a:t>LAPORAN PINJAMAN BANK  •  PORTOFOLIO ANALIS DATA</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nchor="t">
            <a:spAutoFit/>
          </a:bodyPr>
          <a:lstStyle/>
          <a:p>
            <a:pPr algn="l">
              <a:lnSpc>
                <a:spcPct val="112000"/>
              </a:lnSpc>
              <a:spcAft>
                <a:spcPts val="300"/>
              </a:spcAft>
            </a:pPr>
            <a:r>
              <a:rPr sz="2800" b="1" i="0">
                <a:solidFill>
                  <a:srgbClr val="0F1E33"/>
                </a:solidFill>
                <a:latin typeface="Arial"/>
              </a:rPr>
              <a:t>Laporan Pinjaman Bank</a:t>
            </a:r>
          </a:p>
        </p:txBody>
      </p:sp>
      <p:sp>
        <p:nvSpPr>
          <p:cNvPr id="5" name="TextBox 4"/>
          <p:cNvSpPr txBox="1"/>
          <p:nvPr/>
        </p:nvSpPr>
        <p:spPr>
          <a:xfrm>
            <a:off x="749808" y="1115568"/>
            <a:ext cx="10972800" cy="274320"/>
          </a:xfrm>
          <a:prstGeom prst="rect">
            <a:avLst/>
          </a:prstGeom>
          <a:noFill/>
        </p:spPr>
        <p:txBody>
          <a:bodyPr wrap="square" lIns="0" tIns="0" rIns="0" bIns="0" anchor="t">
            <a:spAutoFit/>
          </a:bodyPr>
          <a:lstStyle/>
          <a:p>
            <a:pPr algn="l">
              <a:lnSpc>
                <a:spcPct val="112000"/>
              </a:lnSpc>
              <a:spcAft>
                <a:spcPts val="300"/>
              </a:spcAft>
            </a:pPr>
            <a:r>
              <a:rPr sz="1200" b="0" i="0">
                <a:solidFill>
                  <a:srgbClr val="5A6B82"/>
                </a:solidFill>
                <a:latin typeface="Arial"/>
              </a:rPr>
              <a:t>Gambaran proyek dan keterampilan yang digunakan.</a:t>
            </a:r>
          </a:p>
        </p:txBody>
      </p:sp>
      <p:sp>
        <p:nvSpPr>
          <p:cNvPr id="6" name="Rectangle 5"/>
          <p:cNvSpPr/>
          <p:nvPr/>
        </p:nvSpPr>
        <p:spPr>
          <a:xfrm>
            <a:off x="548640" y="1444752"/>
            <a:ext cx="11091672" cy="15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91640"/>
            <a:ext cx="5394960" cy="21031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1847088"/>
            <a:ext cx="4937760" cy="158441"/>
          </a:xfrm>
          <a:prstGeom prst="rect">
            <a:avLst/>
          </a:prstGeom>
          <a:noFill/>
        </p:spPr>
        <p:txBody>
          <a:bodyPr wrap="square" lIns="0" tIns="0" rIns="0" bIns="0" anchor="t">
            <a:spAutoFit/>
          </a:bodyPr>
          <a:lstStyle/>
          <a:p>
            <a:pPr algn="l">
              <a:lnSpc>
                <a:spcPct val="112000"/>
              </a:lnSpc>
              <a:spcAft>
                <a:spcPts val="300"/>
              </a:spcAft>
            </a:pPr>
            <a:r>
              <a:rPr sz="1000" b="1" i="0" dirty="0">
                <a:latin typeface="Arial"/>
              </a:rPr>
              <a:t>RINGKASAN PROYEK</a:t>
            </a:r>
          </a:p>
        </p:txBody>
      </p:sp>
      <p:sp>
        <p:nvSpPr>
          <p:cNvPr id="9" name="TextBox 8"/>
          <p:cNvSpPr txBox="1"/>
          <p:nvPr/>
        </p:nvSpPr>
        <p:spPr>
          <a:xfrm>
            <a:off x="804672" y="2148840"/>
            <a:ext cx="4937760" cy="1554480"/>
          </a:xfrm>
          <a:prstGeom prst="rect">
            <a:avLst/>
          </a:prstGeom>
          <a:noFill/>
        </p:spPr>
        <p:txBody>
          <a:bodyPr wrap="square" lIns="0" tIns="0" rIns="0" bIns="0" anchor="t">
            <a:spAutoFit/>
          </a:bodyPr>
          <a:lstStyle/>
          <a:p>
            <a:pPr algn="l">
              <a:lnSpc>
                <a:spcPct val="125000"/>
              </a:lnSpc>
              <a:spcAft>
                <a:spcPts val="300"/>
              </a:spcAft>
            </a:pPr>
            <a:r>
              <a:rPr sz="1200" b="0" i="0">
                <a:solidFill>
                  <a:srgbClr val="0F1E33"/>
                </a:solidFill>
                <a:latin typeface="Arial"/>
              </a:rPr>
              <a:t>Meninjau pengajuan pinjaman dan kinerja portofolio berdasarkan nilai pinjaman, pembayaran tercatat, status pinjaman, dan karakteristik peminjam.</a:t>
            </a:r>
          </a:p>
        </p:txBody>
      </p:sp>
      <p:sp>
        <p:nvSpPr>
          <p:cNvPr id="10" name="Rounded Rectangle 9"/>
          <p:cNvSpPr/>
          <p:nvPr/>
        </p:nvSpPr>
        <p:spPr>
          <a:xfrm>
            <a:off x="548640" y="3977639"/>
            <a:ext cx="5394960" cy="1417320"/>
          </a:xfrm>
          <a:prstGeom prst="roundRect">
            <a:avLst>
              <a:gd name="adj" fmla="val 4500"/>
            </a:avLst>
          </a:prstGeom>
          <a:solidFill>
            <a:srgbClr val="ECFDF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4114800"/>
            <a:ext cx="4937760" cy="158441"/>
          </a:xfrm>
          <a:prstGeom prst="rect">
            <a:avLst/>
          </a:prstGeom>
          <a:noFill/>
        </p:spPr>
        <p:txBody>
          <a:bodyPr wrap="square" lIns="0" tIns="0" rIns="0" bIns="0" anchor="t">
            <a:spAutoFit/>
          </a:bodyPr>
          <a:lstStyle/>
          <a:p>
            <a:pPr algn="l">
              <a:lnSpc>
                <a:spcPct val="112000"/>
              </a:lnSpc>
              <a:spcAft>
                <a:spcPts val="300"/>
              </a:spcAft>
            </a:pPr>
            <a:r>
              <a:rPr sz="1000" b="1" i="0" dirty="0">
                <a:latin typeface="Arial"/>
              </a:rPr>
              <a:t>PERTANYAAN UTAMA</a:t>
            </a:r>
          </a:p>
        </p:txBody>
      </p:sp>
      <p:sp>
        <p:nvSpPr>
          <p:cNvPr id="12" name="TextBox 11"/>
          <p:cNvSpPr txBox="1"/>
          <p:nvPr/>
        </p:nvSpPr>
        <p:spPr>
          <a:xfrm>
            <a:off x="804672" y="4389120"/>
            <a:ext cx="4937760" cy="914400"/>
          </a:xfrm>
          <a:prstGeom prst="rect">
            <a:avLst/>
          </a:prstGeom>
          <a:noFill/>
        </p:spPr>
        <p:txBody>
          <a:bodyPr wrap="square" lIns="0" tIns="0" rIns="0" bIns="0" anchor="t">
            <a:spAutoFit/>
          </a:bodyPr>
          <a:lstStyle/>
          <a:p>
            <a:pPr algn="l">
              <a:lnSpc>
                <a:spcPct val="120000"/>
              </a:lnSpc>
              <a:spcAft>
                <a:spcPts val="300"/>
              </a:spcAft>
            </a:pPr>
            <a:r>
              <a:rPr sz="1400" b="1" i="0">
                <a:solidFill>
                  <a:srgbClr val="0F1E33"/>
                </a:solidFill>
                <a:latin typeface="Arial"/>
              </a:rPr>
              <a:t>Bagaimana komposisi status pinjaman, dan indikator portofolio apa yang perlu dipantau?</a:t>
            </a:r>
          </a:p>
        </p:txBody>
      </p:sp>
      <p:sp>
        <p:nvSpPr>
          <p:cNvPr id="13" name="TextBox 12"/>
          <p:cNvSpPr txBox="1"/>
          <p:nvPr/>
        </p:nvSpPr>
        <p:spPr>
          <a:xfrm>
            <a:off x="548640" y="5577840"/>
            <a:ext cx="5394960" cy="640080"/>
          </a:xfrm>
          <a:prstGeom prst="rect">
            <a:avLst/>
          </a:prstGeom>
          <a:noFill/>
        </p:spPr>
        <p:txBody>
          <a:bodyPr wrap="square" lIns="0" tIns="0" rIns="0" bIns="0" anchor="t">
            <a:spAutoFit/>
          </a:bodyPr>
          <a:lstStyle/>
          <a:p>
            <a:pPr algn="l">
              <a:lnSpc>
                <a:spcPct val="112000"/>
              </a:lnSpc>
              <a:spcAft>
                <a:spcPts val="200"/>
              </a:spcAft>
            </a:pPr>
            <a:r>
              <a:rPr sz="1000" b="1" i="0">
                <a:solidFill>
                  <a:srgbClr val="B45309"/>
                </a:solidFill>
                <a:latin typeface="Arial"/>
              </a:rPr>
              <a:t>Hasil yang dibuat</a:t>
            </a:r>
          </a:p>
          <a:p>
            <a:pPr algn="l">
              <a:lnSpc>
                <a:spcPct val="112000"/>
              </a:lnSpc>
              <a:spcAft>
                <a:spcPts val="200"/>
              </a:spcAft>
            </a:pPr>
            <a:r>
              <a:rPr sz="1000" b="0" i="0">
                <a:solidFill>
                  <a:srgbClr val="5A6B82"/>
                </a:solidFill>
                <a:latin typeface="Arial"/>
              </a:rPr>
              <a:t>Ringkasan KPI • Query SQL • Visualisasi • Insight • Rekomendasi</a:t>
            </a:r>
          </a:p>
        </p:txBody>
      </p:sp>
      <p:sp>
        <p:nvSpPr>
          <p:cNvPr id="14" name="TextBox 13"/>
          <p:cNvSpPr txBox="1"/>
          <p:nvPr/>
        </p:nvSpPr>
        <p:spPr>
          <a:xfrm>
            <a:off x="6217920" y="1691640"/>
            <a:ext cx="5422392" cy="158441"/>
          </a:xfrm>
          <a:prstGeom prst="rect">
            <a:avLst/>
          </a:prstGeom>
          <a:noFill/>
        </p:spPr>
        <p:txBody>
          <a:bodyPr wrap="square" lIns="0" tIns="0" rIns="0" bIns="0" anchor="t">
            <a:spAutoFit/>
          </a:bodyPr>
          <a:lstStyle/>
          <a:p>
            <a:pPr algn="l">
              <a:lnSpc>
                <a:spcPct val="112000"/>
              </a:lnSpc>
              <a:spcAft>
                <a:spcPts val="300"/>
              </a:spcAft>
            </a:pPr>
            <a:r>
              <a:rPr sz="1000" b="1" i="0" dirty="0">
                <a:latin typeface="Arial"/>
              </a:rPr>
              <a:t>TOOLS &amp; METODE</a:t>
            </a:r>
          </a:p>
        </p:txBody>
      </p:sp>
      <p:sp>
        <p:nvSpPr>
          <p:cNvPr id="15" name="Rounded Rectangle 14"/>
          <p:cNvSpPr/>
          <p:nvPr/>
        </p:nvSpPr>
        <p:spPr>
          <a:xfrm>
            <a:off x="6217920" y="2011680"/>
            <a:ext cx="5422392"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2011680"/>
            <a:ext cx="731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95160" y="2157984"/>
            <a:ext cx="4507992" cy="292608"/>
          </a:xfrm>
          <a:prstGeom prst="rect">
            <a:avLst/>
          </a:prstGeom>
          <a:noFill/>
        </p:spPr>
        <p:txBody>
          <a:bodyPr wrap="square" lIns="0" tIns="0" rIns="0" bIns="0" anchor="t">
            <a:spAutoFit/>
          </a:bodyPr>
          <a:lstStyle/>
          <a:p>
            <a:pPr algn="l">
              <a:lnSpc>
                <a:spcPct val="112000"/>
              </a:lnSpc>
              <a:spcAft>
                <a:spcPts val="300"/>
              </a:spcAft>
            </a:pPr>
            <a:r>
              <a:rPr sz="1200" b="1" i="0">
                <a:solidFill>
                  <a:srgbClr val="0F1E33"/>
                </a:solidFill>
                <a:latin typeface="Arial"/>
              </a:rPr>
              <a:t>PostgreSQL / DBeaver</a:t>
            </a:r>
          </a:p>
        </p:txBody>
      </p:sp>
      <p:sp>
        <p:nvSpPr>
          <p:cNvPr id="19" name="TextBox 18"/>
          <p:cNvSpPr txBox="1"/>
          <p:nvPr/>
        </p:nvSpPr>
        <p:spPr>
          <a:xfrm>
            <a:off x="6995160" y="2468880"/>
            <a:ext cx="4507992" cy="411480"/>
          </a:xfrm>
          <a:prstGeom prst="rect">
            <a:avLst/>
          </a:prstGeom>
          <a:noFill/>
        </p:spPr>
        <p:txBody>
          <a:bodyPr wrap="square" lIns="0" tIns="0" rIns="0" bIns="0" anchor="t">
            <a:spAutoFit/>
          </a:bodyPr>
          <a:lstStyle/>
          <a:p>
            <a:pPr algn="l">
              <a:lnSpc>
                <a:spcPct val="110000"/>
              </a:lnSpc>
              <a:spcAft>
                <a:spcPts val="300"/>
              </a:spcAft>
            </a:pPr>
            <a:r>
              <a:rPr sz="1000" b="0" i="0">
                <a:solidFill>
                  <a:srgbClr val="5A6B82"/>
                </a:solidFill>
                <a:latin typeface="Arial"/>
              </a:rPr>
              <a:t>Meninjau query dan memvalidasi hasil agregasi</a:t>
            </a:r>
          </a:p>
        </p:txBody>
      </p:sp>
      <p:sp>
        <p:nvSpPr>
          <p:cNvPr id="20" name="Rounded Rectangle 19"/>
          <p:cNvSpPr/>
          <p:nvPr/>
        </p:nvSpPr>
        <p:spPr>
          <a:xfrm>
            <a:off x="6217920" y="3044951"/>
            <a:ext cx="5422392"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3044951"/>
            <a:ext cx="731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995160" y="3191255"/>
            <a:ext cx="4507992" cy="292608"/>
          </a:xfrm>
          <a:prstGeom prst="rect">
            <a:avLst/>
          </a:prstGeom>
          <a:noFill/>
        </p:spPr>
        <p:txBody>
          <a:bodyPr wrap="square" lIns="0" tIns="0" rIns="0" bIns="0" anchor="t">
            <a:spAutoFit/>
          </a:bodyPr>
          <a:lstStyle/>
          <a:p>
            <a:pPr algn="l">
              <a:lnSpc>
                <a:spcPct val="112000"/>
              </a:lnSpc>
              <a:spcAft>
                <a:spcPts val="300"/>
              </a:spcAft>
            </a:pPr>
            <a:r>
              <a:rPr sz="1200" b="1" i="0">
                <a:solidFill>
                  <a:srgbClr val="0F1E33"/>
                </a:solidFill>
                <a:latin typeface="Arial"/>
              </a:rPr>
              <a:t>Power BI</a:t>
            </a:r>
          </a:p>
        </p:txBody>
      </p:sp>
      <p:sp>
        <p:nvSpPr>
          <p:cNvPr id="24" name="TextBox 23"/>
          <p:cNvSpPr txBox="1"/>
          <p:nvPr/>
        </p:nvSpPr>
        <p:spPr>
          <a:xfrm>
            <a:off x="6995160" y="3502151"/>
            <a:ext cx="4507992" cy="411480"/>
          </a:xfrm>
          <a:prstGeom prst="rect">
            <a:avLst/>
          </a:prstGeom>
          <a:noFill/>
        </p:spPr>
        <p:txBody>
          <a:bodyPr wrap="square" lIns="0" tIns="0" rIns="0" bIns="0" anchor="t">
            <a:spAutoFit/>
          </a:bodyPr>
          <a:lstStyle/>
          <a:p>
            <a:pPr algn="l">
              <a:lnSpc>
                <a:spcPct val="110000"/>
              </a:lnSpc>
              <a:spcAft>
                <a:spcPts val="300"/>
              </a:spcAft>
            </a:pPr>
            <a:r>
              <a:rPr sz="1000" b="0" i="0">
                <a:solidFill>
                  <a:srgbClr val="5A6B82"/>
                </a:solidFill>
                <a:latin typeface="Arial"/>
              </a:rPr>
              <a:t>Dashboard untuk merangkum hasil dan melihat pola data</a:t>
            </a:r>
          </a:p>
        </p:txBody>
      </p:sp>
      <p:sp>
        <p:nvSpPr>
          <p:cNvPr id="25" name="Rounded Rectangle 24"/>
          <p:cNvSpPr/>
          <p:nvPr/>
        </p:nvSpPr>
        <p:spPr>
          <a:xfrm>
            <a:off x="6217920" y="4078222"/>
            <a:ext cx="5422392"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4078222"/>
            <a:ext cx="731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995160" y="4224526"/>
            <a:ext cx="4507992" cy="292608"/>
          </a:xfrm>
          <a:prstGeom prst="rect">
            <a:avLst/>
          </a:prstGeom>
          <a:noFill/>
        </p:spPr>
        <p:txBody>
          <a:bodyPr wrap="square" lIns="0" tIns="0" rIns="0" bIns="0" anchor="t">
            <a:spAutoFit/>
          </a:bodyPr>
          <a:lstStyle/>
          <a:p>
            <a:pPr algn="l">
              <a:lnSpc>
                <a:spcPct val="112000"/>
              </a:lnSpc>
              <a:spcAft>
                <a:spcPts val="300"/>
              </a:spcAft>
            </a:pPr>
            <a:r>
              <a:rPr sz="1200" b="1" i="0">
                <a:solidFill>
                  <a:srgbClr val="0F1E33"/>
                </a:solidFill>
                <a:latin typeface="Arial"/>
              </a:rPr>
              <a:t>Pemeriksaan data</a:t>
            </a:r>
          </a:p>
        </p:txBody>
      </p:sp>
      <p:sp>
        <p:nvSpPr>
          <p:cNvPr id="29" name="TextBox 28"/>
          <p:cNvSpPr txBox="1"/>
          <p:nvPr/>
        </p:nvSpPr>
        <p:spPr>
          <a:xfrm>
            <a:off x="6995160" y="4535422"/>
            <a:ext cx="4507992" cy="411480"/>
          </a:xfrm>
          <a:prstGeom prst="rect">
            <a:avLst/>
          </a:prstGeom>
          <a:noFill/>
        </p:spPr>
        <p:txBody>
          <a:bodyPr wrap="square" lIns="0" tIns="0" rIns="0" bIns="0" anchor="t">
            <a:spAutoFit/>
          </a:bodyPr>
          <a:lstStyle/>
          <a:p>
            <a:pPr algn="l">
              <a:lnSpc>
                <a:spcPct val="110000"/>
              </a:lnSpc>
              <a:spcAft>
                <a:spcPts val="300"/>
              </a:spcAft>
            </a:pPr>
            <a:r>
              <a:rPr sz="1000" b="0" i="0">
                <a:solidFill>
                  <a:srgbClr val="5A6B82"/>
                </a:solidFill>
                <a:latin typeface="Arial"/>
              </a:rPr>
              <a:t>Jumlah baris, ID unik, nilai kosong, dan rentang tanggal</a:t>
            </a:r>
          </a:p>
        </p:txBody>
      </p:sp>
      <p:sp>
        <p:nvSpPr>
          <p:cNvPr id="30" name="Rounded Rectangle 29"/>
          <p:cNvSpPr/>
          <p:nvPr/>
        </p:nvSpPr>
        <p:spPr>
          <a:xfrm>
            <a:off x="6217920" y="5111493"/>
            <a:ext cx="5422392" cy="91440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217920" y="5111493"/>
            <a:ext cx="731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995160" y="5257797"/>
            <a:ext cx="4507992" cy="292608"/>
          </a:xfrm>
          <a:prstGeom prst="rect">
            <a:avLst/>
          </a:prstGeom>
          <a:noFill/>
        </p:spPr>
        <p:txBody>
          <a:bodyPr wrap="square" lIns="0" tIns="0" rIns="0" bIns="0" anchor="t">
            <a:spAutoFit/>
          </a:bodyPr>
          <a:lstStyle/>
          <a:p>
            <a:pPr algn="l">
              <a:lnSpc>
                <a:spcPct val="112000"/>
              </a:lnSpc>
              <a:spcAft>
                <a:spcPts val="300"/>
              </a:spcAft>
            </a:pPr>
            <a:r>
              <a:rPr sz="1200" b="1" i="0">
                <a:solidFill>
                  <a:srgbClr val="0F1E33"/>
                </a:solidFill>
                <a:latin typeface="Arial"/>
              </a:rPr>
              <a:t>Penyampaian cerita data</a:t>
            </a:r>
          </a:p>
        </p:txBody>
      </p:sp>
      <p:sp>
        <p:nvSpPr>
          <p:cNvPr id="34" name="TextBox 33"/>
          <p:cNvSpPr txBox="1"/>
          <p:nvPr/>
        </p:nvSpPr>
        <p:spPr>
          <a:xfrm>
            <a:off x="6995160" y="5568693"/>
            <a:ext cx="4507992" cy="411480"/>
          </a:xfrm>
          <a:prstGeom prst="rect">
            <a:avLst/>
          </a:prstGeom>
          <a:noFill/>
        </p:spPr>
        <p:txBody>
          <a:bodyPr wrap="square" lIns="0" tIns="0" rIns="0" bIns="0" anchor="t">
            <a:spAutoFit/>
          </a:bodyPr>
          <a:lstStyle/>
          <a:p>
            <a:pPr algn="l">
              <a:lnSpc>
                <a:spcPct val="110000"/>
              </a:lnSpc>
              <a:spcAft>
                <a:spcPts val="300"/>
              </a:spcAft>
            </a:pPr>
            <a:r>
              <a:rPr sz="1000" b="0" i="0">
                <a:solidFill>
                  <a:srgbClr val="5A6B82"/>
                </a:solidFill>
                <a:latin typeface="Arial"/>
              </a:rPr>
              <a:t>Menghubungkan metrik dengan pertanyaan bisnis dan tindak lanjut</a:t>
            </a:r>
          </a:p>
        </p:txBody>
      </p:sp>
      <p:sp>
        <p:nvSpPr>
          <p:cNvPr id="35" name="TextBox 34"/>
          <p:cNvSpPr txBox="1"/>
          <p:nvPr/>
        </p:nvSpPr>
        <p:spPr>
          <a:xfrm>
            <a:off x="548640" y="6565392"/>
            <a:ext cx="6400800" cy="201168"/>
          </a:xfrm>
          <a:prstGeom prst="rect">
            <a:avLst/>
          </a:prstGeom>
          <a:noFill/>
        </p:spPr>
        <p:txBody>
          <a:bodyPr wrap="square" lIns="0" tIns="0" rIns="0" bIns="0" anchor="t">
            <a:spAutoFit/>
          </a:bodyPr>
          <a:lstStyle/>
          <a:p>
            <a:pPr algn="l">
              <a:lnSpc>
                <a:spcPct val="112000"/>
              </a:lnSpc>
              <a:spcAft>
                <a:spcPts val="300"/>
              </a:spcAft>
            </a:pPr>
            <a:r>
              <a:rPr sz="800" b="0" i="0" dirty="0">
                <a:solidFill>
                  <a:srgbClr val="94A3B8"/>
                </a:solidFill>
                <a:latin typeface="Arial"/>
              </a:rPr>
              <a:t>LAPORAN PINJAMAN BANK  •  PORTOFOLIO ANALIS DATA</a:t>
            </a:r>
          </a:p>
        </p:txBody>
      </p:sp>
      <p:pic>
        <p:nvPicPr>
          <p:cNvPr id="37" name="Picture 36">
            <a:extLst>
              <a:ext uri="{FF2B5EF4-FFF2-40B4-BE49-F238E27FC236}">
                <a16:creationId xmlns:a16="http://schemas.microsoft.com/office/drawing/2014/main" id="{8CAEE225-C812-40D5-1DC1-D6ACE2CDBAA3}"/>
              </a:ext>
            </a:extLst>
          </p:cNvPr>
          <p:cNvPicPr>
            <a:picLocks noChangeAspect="1"/>
          </p:cNvPicPr>
          <p:nvPr/>
        </p:nvPicPr>
        <p:blipFill>
          <a:blip r:embed="rId3"/>
          <a:stretch>
            <a:fillRect/>
          </a:stretch>
        </p:blipFill>
        <p:spPr>
          <a:xfrm>
            <a:off x="6306312" y="2052830"/>
            <a:ext cx="673607" cy="673607"/>
          </a:xfrm>
          <a:prstGeom prst="rect">
            <a:avLst/>
          </a:prstGeom>
        </p:spPr>
      </p:pic>
      <p:pic>
        <p:nvPicPr>
          <p:cNvPr id="39" name="Picture 38">
            <a:extLst>
              <a:ext uri="{FF2B5EF4-FFF2-40B4-BE49-F238E27FC236}">
                <a16:creationId xmlns:a16="http://schemas.microsoft.com/office/drawing/2014/main" id="{CF5537C1-517E-3AA3-9166-57A73D11B5E5}"/>
              </a:ext>
            </a:extLst>
          </p:cNvPr>
          <p:cNvPicPr>
            <a:picLocks noChangeAspect="1"/>
          </p:cNvPicPr>
          <p:nvPr/>
        </p:nvPicPr>
        <p:blipFill>
          <a:blip r:embed="rId4"/>
          <a:stretch>
            <a:fillRect/>
          </a:stretch>
        </p:blipFill>
        <p:spPr>
          <a:xfrm>
            <a:off x="6291072" y="3191255"/>
            <a:ext cx="635510" cy="635510"/>
          </a:xfrm>
          <a:prstGeom prst="rect">
            <a:avLst/>
          </a:prstGeom>
        </p:spPr>
      </p:pic>
      <p:pic>
        <p:nvPicPr>
          <p:cNvPr id="41" name="Picture 40">
            <a:extLst>
              <a:ext uri="{FF2B5EF4-FFF2-40B4-BE49-F238E27FC236}">
                <a16:creationId xmlns:a16="http://schemas.microsoft.com/office/drawing/2014/main" id="{D99EC082-20B7-CE12-2809-4743EBD7B58B}"/>
              </a:ext>
            </a:extLst>
          </p:cNvPr>
          <p:cNvPicPr>
            <a:picLocks noChangeAspect="1"/>
          </p:cNvPicPr>
          <p:nvPr/>
        </p:nvPicPr>
        <p:blipFill>
          <a:blip r:embed="rId5"/>
          <a:stretch>
            <a:fillRect/>
          </a:stretch>
        </p:blipFill>
        <p:spPr>
          <a:xfrm>
            <a:off x="6291072" y="4204011"/>
            <a:ext cx="635510" cy="542544"/>
          </a:xfrm>
          <a:prstGeom prst="rect">
            <a:avLst/>
          </a:prstGeom>
        </p:spPr>
      </p:pic>
      <p:pic>
        <p:nvPicPr>
          <p:cNvPr id="43" name="Graphic 42" descr="Newspaper with solid fill">
            <a:extLst>
              <a:ext uri="{FF2B5EF4-FFF2-40B4-BE49-F238E27FC236}">
                <a16:creationId xmlns:a16="http://schemas.microsoft.com/office/drawing/2014/main" id="{A59E8577-6C12-8DF7-BD9B-7DF0F0717E0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91072" y="5257797"/>
            <a:ext cx="688847" cy="573082"/>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4" name="TextBox 3"/>
          <p:cNvSpPr txBox="1"/>
          <p:nvPr/>
        </p:nvSpPr>
        <p:spPr>
          <a:xfrm>
            <a:off x="749808" y="658368"/>
            <a:ext cx="10972800" cy="457200"/>
          </a:xfrm>
          <a:prstGeom prst="rect">
            <a:avLst/>
          </a:prstGeom>
          <a:noFill/>
        </p:spPr>
        <p:txBody>
          <a:bodyPr wrap="square" lIns="0" tIns="0" rIns="0" bIns="0" anchor="t">
            <a:spAutoFit/>
          </a:bodyPr>
          <a:lstStyle/>
          <a:p>
            <a:pPr algn="l">
              <a:lnSpc>
                <a:spcPct val="112000"/>
              </a:lnSpc>
              <a:spcAft>
                <a:spcPts val="300"/>
              </a:spcAft>
            </a:pPr>
            <a:r>
              <a:rPr sz="2800" b="1" i="0">
                <a:solidFill>
                  <a:schemeClr val="tx1">
                    <a:lumMod val="95000"/>
                    <a:lumOff val="5000"/>
                  </a:schemeClr>
                </a:solidFill>
                <a:latin typeface="Arial"/>
              </a:rPr>
              <a:t>Konteks Bisnis &amp; Pertanyaan</a:t>
            </a:r>
          </a:p>
        </p:txBody>
      </p:sp>
      <p:sp>
        <p:nvSpPr>
          <p:cNvPr id="5" name="TextBox 4"/>
          <p:cNvSpPr txBox="1"/>
          <p:nvPr/>
        </p:nvSpPr>
        <p:spPr>
          <a:xfrm>
            <a:off x="749808" y="1115568"/>
            <a:ext cx="10972800" cy="190245"/>
          </a:xfrm>
          <a:prstGeom prst="rect">
            <a:avLst/>
          </a:prstGeom>
          <a:noFill/>
        </p:spPr>
        <p:txBody>
          <a:bodyPr wrap="square" lIns="0" tIns="0" rIns="0" bIns="0" anchor="t">
            <a:spAutoFit/>
          </a:bodyPr>
          <a:lstStyle/>
          <a:p>
            <a:pPr algn="l">
              <a:lnSpc>
                <a:spcPct val="112000"/>
              </a:lnSpc>
              <a:spcAft>
                <a:spcPts val="300"/>
              </a:spcAft>
            </a:pPr>
            <a:r>
              <a:rPr sz="1200" b="0" i="0">
                <a:solidFill>
                  <a:schemeClr val="tx1">
                    <a:lumMod val="95000"/>
                    <a:lumOff val="5000"/>
                  </a:schemeClr>
                </a:solidFill>
                <a:latin typeface="Arial"/>
              </a:rPr>
              <a:t>Pelaporan pinjaman membantu pihak terkait memantau ukuran portofolio, status pinjaman, dan karakteristik peminjam.</a:t>
            </a:r>
          </a:p>
        </p:txBody>
      </p:sp>
      <p:sp>
        <p:nvSpPr>
          <p:cNvPr id="6" name="Rectangle 5"/>
          <p:cNvSpPr/>
          <p:nvPr/>
        </p:nvSpPr>
        <p:spPr>
          <a:xfrm>
            <a:off x="548640" y="1444752"/>
            <a:ext cx="11091672" cy="15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7" name="Rounded Rectangle 6"/>
          <p:cNvSpPr/>
          <p:nvPr/>
        </p:nvSpPr>
        <p:spPr>
          <a:xfrm>
            <a:off x="548640" y="1691640"/>
            <a:ext cx="5394960" cy="11887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8" name="TextBox 7"/>
          <p:cNvSpPr txBox="1"/>
          <p:nvPr/>
        </p:nvSpPr>
        <p:spPr>
          <a:xfrm>
            <a:off x="804672" y="1828800"/>
            <a:ext cx="4937760" cy="158441"/>
          </a:xfrm>
          <a:prstGeom prst="rect">
            <a:avLst/>
          </a:prstGeom>
          <a:noFill/>
        </p:spPr>
        <p:txBody>
          <a:bodyPr wrap="square" lIns="0" tIns="0" rIns="0" bIns="0" anchor="t">
            <a:spAutoFit/>
          </a:bodyPr>
          <a:lstStyle/>
          <a:p>
            <a:pPr algn="l">
              <a:lnSpc>
                <a:spcPct val="112000"/>
              </a:lnSpc>
              <a:spcAft>
                <a:spcPts val="300"/>
              </a:spcAft>
            </a:pPr>
            <a:r>
              <a:rPr sz="1000" b="1" i="0">
                <a:solidFill>
                  <a:schemeClr val="tx1">
                    <a:lumMod val="95000"/>
                    <a:lumOff val="5000"/>
                  </a:schemeClr>
                </a:solidFill>
                <a:latin typeface="Arial"/>
              </a:rPr>
              <a:t>KONTEKS</a:t>
            </a:r>
          </a:p>
        </p:txBody>
      </p:sp>
      <p:sp>
        <p:nvSpPr>
          <p:cNvPr id="9" name="TextBox 8"/>
          <p:cNvSpPr txBox="1"/>
          <p:nvPr/>
        </p:nvSpPr>
        <p:spPr>
          <a:xfrm>
            <a:off x="804672" y="2103120"/>
            <a:ext cx="4937760" cy="387607"/>
          </a:xfrm>
          <a:prstGeom prst="rect">
            <a:avLst/>
          </a:prstGeom>
          <a:noFill/>
        </p:spPr>
        <p:txBody>
          <a:bodyPr wrap="square" lIns="0" tIns="0" rIns="0" bIns="0" anchor="t">
            <a:spAutoFit/>
          </a:bodyPr>
          <a:lstStyle/>
          <a:p>
            <a:pPr algn="l">
              <a:lnSpc>
                <a:spcPct val="120000"/>
              </a:lnSpc>
              <a:spcAft>
                <a:spcPts val="300"/>
              </a:spcAft>
            </a:pPr>
            <a:r>
              <a:rPr sz="1100" b="0" i="0">
                <a:solidFill>
                  <a:schemeClr val="tx1">
                    <a:lumMod val="95000"/>
                    <a:lumOff val="5000"/>
                  </a:schemeClr>
                </a:solidFill>
                <a:latin typeface="Arial"/>
              </a:rPr>
              <a:t>Pemberi pinjaman perlu memantau jumlah pengajuan, nilai pinjaman, dan pembayaran yang tercatat.</a:t>
            </a:r>
          </a:p>
        </p:txBody>
      </p:sp>
      <p:sp>
        <p:nvSpPr>
          <p:cNvPr id="10" name="Rounded Rectangle 9"/>
          <p:cNvSpPr/>
          <p:nvPr/>
        </p:nvSpPr>
        <p:spPr>
          <a:xfrm>
            <a:off x="548640" y="3063240"/>
            <a:ext cx="5394960" cy="118872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11" name="TextBox 10"/>
          <p:cNvSpPr txBox="1"/>
          <p:nvPr/>
        </p:nvSpPr>
        <p:spPr>
          <a:xfrm>
            <a:off x="804672" y="3200400"/>
            <a:ext cx="4937760" cy="158441"/>
          </a:xfrm>
          <a:prstGeom prst="rect">
            <a:avLst/>
          </a:prstGeom>
          <a:noFill/>
        </p:spPr>
        <p:txBody>
          <a:bodyPr wrap="square" lIns="0" tIns="0" rIns="0" bIns="0" anchor="t">
            <a:spAutoFit/>
          </a:bodyPr>
          <a:lstStyle/>
          <a:p>
            <a:pPr algn="l">
              <a:lnSpc>
                <a:spcPct val="112000"/>
              </a:lnSpc>
              <a:spcAft>
                <a:spcPts val="300"/>
              </a:spcAft>
            </a:pPr>
            <a:r>
              <a:rPr sz="1000" b="1" i="0">
                <a:solidFill>
                  <a:schemeClr val="tx1">
                    <a:lumMod val="95000"/>
                    <a:lumOff val="5000"/>
                  </a:schemeClr>
                </a:solidFill>
                <a:latin typeface="Arial"/>
              </a:rPr>
              <a:t>TANTANGAN ANALISIS</a:t>
            </a:r>
          </a:p>
        </p:txBody>
      </p:sp>
      <p:sp>
        <p:nvSpPr>
          <p:cNvPr id="12" name="TextBox 11"/>
          <p:cNvSpPr txBox="1"/>
          <p:nvPr/>
        </p:nvSpPr>
        <p:spPr>
          <a:xfrm>
            <a:off x="804672" y="3474720"/>
            <a:ext cx="4937760" cy="387607"/>
          </a:xfrm>
          <a:prstGeom prst="rect">
            <a:avLst/>
          </a:prstGeom>
          <a:noFill/>
        </p:spPr>
        <p:txBody>
          <a:bodyPr wrap="square" lIns="0" tIns="0" rIns="0" bIns="0" anchor="t">
            <a:spAutoFit/>
          </a:bodyPr>
          <a:lstStyle/>
          <a:p>
            <a:pPr algn="l">
              <a:lnSpc>
                <a:spcPct val="120000"/>
              </a:lnSpc>
              <a:spcAft>
                <a:spcPts val="300"/>
              </a:spcAft>
            </a:pPr>
            <a:r>
              <a:rPr sz="1100" b="0" i="0">
                <a:solidFill>
                  <a:schemeClr val="tx1">
                    <a:lumMod val="95000"/>
                    <a:lumOff val="5000"/>
                  </a:schemeClr>
                </a:solidFill>
                <a:latin typeface="Arial"/>
              </a:rPr>
              <a:t>Metrik tersebar di beberapa kolom. Diperlukan ringkasan untuk membandingkan status pinjaman dan mengidentifikasi segmen yang dominan.</a:t>
            </a:r>
          </a:p>
        </p:txBody>
      </p:sp>
      <p:sp>
        <p:nvSpPr>
          <p:cNvPr id="13" name="Rounded Rectangle 12"/>
          <p:cNvSpPr/>
          <p:nvPr/>
        </p:nvSpPr>
        <p:spPr>
          <a:xfrm>
            <a:off x="548640" y="4434840"/>
            <a:ext cx="5394960" cy="1554480"/>
          </a:xfrm>
          <a:prstGeom prst="roundRect">
            <a:avLst>
              <a:gd name="adj" fmla="val 4500"/>
            </a:avLst>
          </a:prstGeom>
          <a:solidFill>
            <a:srgbClr val="EFF4FF"/>
          </a:solidFill>
          <a:ln w="12700">
            <a:solidFill>
              <a:srgbClr val="1E40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14" name="TextBox 13"/>
          <p:cNvSpPr txBox="1"/>
          <p:nvPr/>
        </p:nvSpPr>
        <p:spPr>
          <a:xfrm>
            <a:off x="804672" y="4572000"/>
            <a:ext cx="4937760" cy="158441"/>
          </a:xfrm>
          <a:prstGeom prst="rect">
            <a:avLst/>
          </a:prstGeom>
          <a:noFill/>
        </p:spPr>
        <p:txBody>
          <a:bodyPr wrap="square" lIns="0" tIns="0" rIns="0" bIns="0" anchor="t">
            <a:spAutoFit/>
          </a:bodyPr>
          <a:lstStyle/>
          <a:p>
            <a:pPr algn="l">
              <a:lnSpc>
                <a:spcPct val="112000"/>
              </a:lnSpc>
              <a:spcAft>
                <a:spcPts val="300"/>
              </a:spcAft>
            </a:pPr>
            <a:r>
              <a:rPr sz="1000" b="1" i="0">
                <a:solidFill>
                  <a:schemeClr val="tx1">
                    <a:lumMod val="95000"/>
                    <a:lumOff val="5000"/>
                  </a:schemeClr>
                </a:solidFill>
                <a:latin typeface="Arial"/>
              </a:rPr>
              <a:t>CAKUPAN</a:t>
            </a:r>
          </a:p>
        </p:txBody>
      </p:sp>
      <p:sp>
        <p:nvSpPr>
          <p:cNvPr id="15" name="TextBox 14"/>
          <p:cNvSpPr txBox="1"/>
          <p:nvPr/>
        </p:nvSpPr>
        <p:spPr>
          <a:xfrm>
            <a:off x="804672" y="4846320"/>
            <a:ext cx="4937760" cy="402418"/>
          </a:xfrm>
          <a:prstGeom prst="rect">
            <a:avLst/>
          </a:prstGeom>
          <a:noFill/>
        </p:spPr>
        <p:txBody>
          <a:bodyPr wrap="square" lIns="0" tIns="0" rIns="0" bIns="0" anchor="t">
            <a:spAutoFit/>
          </a:bodyPr>
          <a:lstStyle/>
          <a:p>
            <a:pPr algn="l">
              <a:lnSpc>
                <a:spcPct val="125000"/>
              </a:lnSpc>
              <a:spcAft>
                <a:spcPts val="300"/>
              </a:spcAft>
            </a:pPr>
            <a:r>
              <a:rPr sz="1100" b="0" i="1">
                <a:solidFill>
                  <a:schemeClr val="tx1">
                    <a:lumMod val="95000"/>
                    <a:lumOff val="5000"/>
                  </a:schemeClr>
                </a:solidFill>
                <a:latin typeface="Arial"/>
              </a:rPr>
              <a:t>Analisis deskriptif atas dataset yang tersedia — bukan model prediksi gagal bayar atau analisis sebab-akibat.</a:t>
            </a:r>
          </a:p>
        </p:txBody>
      </p:sp>
      <p:sp>
        <p:nvSpPr>
          <p:cNvPr id="16" name="Rounded Rectangle 15"/>
          <p:cNvSpPr/>
          <p:nvPr/>
        </p:nvSpPr>
        <p:spPr>
          <a:xfrm>
            <a:off x="6217920" y="1691640"/>
            <a:ext cx="5422392" cy="2057400"/>
          </a:xfrm>
          <a:prstGeom prst="roundRect">
            <a:avLst>
              <a:gd name="adj" fmla="val 4500"/>
            </a:avLst>
          </a:prstGeom>
          <a:solidFill>
            <a:srgbClr val="ECFDF5"/>
          </a:solidFill>
          <a:ln w="12700">
            <a:solidFill>
              <a:srgbClr val="047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17" name="TextBox 16"/>
          <p:cNvSpPr txBox="1"/>
          <p:nvPr/>
        </p:nvSpPr>
        <p:spPr>
          <a:xfrm>
            <a:off x="6492240" y="1874519"/>
            <a:ext cx="1097280" cy="380297"/>
          </a:xfrm>
          <a:prstGeom prst="rect">
            <a:avLst/>
          </a:prstGeom>
          <a:noFill/>
        </p:spPr>
        <p:txBody>
          <a:bodyPr wrap="square" lIns="0" tIns="0" rIns="0" bIns="0" anchor="t">
            <a:spAutoFit/>
          </a:bodyPr>
          <a:lstStyle/>
          <a:p>
            <a:pPr algn="l">
              <a:lnSpc>
                <a:spcPct val="112000"/>
              </a:lnSpc>
              <a:spcAft>
                <a:spcPts val="300"/>
              </a:spcAft>
            </a:pPr>
            <a:r>
              <a:rPr sz="2400" b="1" i="0">
                <a:solidFill>
                  <a:schemeClr val="tx1">
                    <a:lumMod val="95000"/>
                    <a:lumOff val="5000"/>
                  </a:schemeClr>
                </a:solidFill>
                <a:latin typeface="Arial"/>
              </a:rPr>
              <a:t>Q1</a:t>
            </a:r>
          </a:p>
        </p:txBody>
      </p:sp>
      <p:sp>
        <p:nvSpPr>
          <p:cNvPr id="18" name="TextBox 17"/>
          <p:cNvSpPr txBox="1"/>
          <p:nvPr/>
        </p:nvSpPr>
        <p:spPr>
          <a:xfrm>
            <a:off x="6492240" y="2423160"/>
            <a:ext cx="4873752" cy="439031"/>
          </a:xfrm>
          <a:prstGeom prst="rect">
            <a:avLst/>
          </a:prstGeom>
          <a:noFill/>
        </p:spPr>
        <p:txBody>
          <a:bodyPr wrap="square" lIns="0" tIns="0" rIns="0" bIns="0" anchor="t">
            <a:spAutoFit/>
          </a:bodyPr>
          <a:lstStyle/>
          <a:p>
            <a:pPr algn="l">
              <a:lnSpc>
                <a:spcPct val="125000"/>
              </a:lnSpc>
              <a:spcAft>
                <a:spcPts val="300"/>
              </a:spcAft>
            </a:pPr>
            <a:r>
              <a:rPr sz="1200" b="0" i="0">
                <a:solidFill>
                  <a:schemeClr val="tx1">
                    <a:lumMod val="95000"/>
                    <a:lumOff val="5000"/>
                  </a:schemeClr>
                </a:solidFill>
                <a:latin typeface="Arial"/>
              </a:rPr>
              <a:t>Berapa total pengajuan, total dana pinjaman, pembayaran yang tercatat, rata-rata suku bunga, dan rata-rata DTI?</a:t>
            </a:r>
          </a:p>
        </p:txBody>
      </p:sp>
      <p:sp>
        <p:nvSpPr>
          <p:cNvPr id="19" name="Rounded Rectangle 18"/>
          <p:cNvSpPr/>
          <p:nvPr/>
        </p:nvSpPr>
        <p:spPr>
          <a:xfrm>
            <a:off x="6217920" y="3931920"/>
            <a:ext cx="5422392" cy="2057400"/>
          </a:xfrm>
          <a:prstGeom prst="roundRect">
            <a:avLst>
              <a:gd name="adj" fmla="val 4500"/>
            </a:avLst>
          </a:prstGeom>
          <a:solidFill>
            <a:srgbClr val="FFF7ED"/>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20" name="TextBox 19"/>
          <p:cNvSpPr txBox="1"/>
          <p:nvPr/>
        </p:nvSpPr>
        <p:spPr>
          <a:xfrm>
            <a:off x="6492240" y="4114800"/>
            <a:ext cx="1097280" cy="380297"/>
          </a:xfrm>
          <a:prstGeom prst="rect">
            <a:avLst/>
          </a:prstGeom>
          <a:noFill/>
        </p:spPr>
        <p:txBody>
          <a:bodyPr wrap="square" lIns="0" tIns="0" rIns="0" bIns="0" anchor="t">
            <a:spAutoFit/>
          </a:bodyPr>
          <a:lstStyle/>
          <a:p>
            <a:pPr algn="l">
              <a:lnSpc>
                <a:spcPct val="112000"/>
              </a:lnSpc>
              <a:spcAft>
                <a:spcPts val="300"/>
              </a:spcAft>
            </a:pPr>
            <a:r>
              <a:rPr sz="2400" b="1" i="0">
                <a:solidFill>
                  <a:schemeClr val="tx1">
                    <a:lumMod val="95000"/>
                    <a:lumOff val="5000"/>
                  </a:schemeClr>
                </a:solidFill>
                <a:latin typeface="Arial"/>
              </a:rPr>
              <a:t>Q2</a:t>
            </a:r>
          </a:p>
        </p:txBody>
      </p:sp>
      <p:sp>
        <p:nvSpPr>
          <p:cNvPr id="21" name="TextBox 20"/>
          <p:cNvSpPr txBox="1"/>
          <p:nvPr/>
        </p:nvSpPr>
        <p:spPr>
          <a:xfrm>
            <a:off x="6492240" y="4663440"/>
            <a:ext cx="4873752" cy="669863"/>
          </a:xfrm>
          <a:prstGeom prst="rect">
            <a:avLst/>
          </a:prstGeom>
          <a:noFill/>
        </p:spPr>
        <p:txBody>
          <a:bodyPr wrap="square" lIns="0" tIns="0" rIns="0" bIns="0" anchor="t">
            <a:spAutoFit/>
          </a:bodyPr>
          <a:lstStyle/>
          <a:p>
            <a:pPr algn="l">
              <a:lnSpc>
                <a:spcPct val="125000"/>
              </a:lnSpc>
              <a:spcAft>
                <a:spcPts val="300"/>
              </a:spcAft>
            </a:pPr>
            <a:r>
              <a:rPr sz="1200" b="0" i="0">
                <a:solidFill>
                  <a:schemeClr val="tx1">
                    <a:lumMod val="95000"/>
                    <a:lumOff val="5000"/>
                  </a:schemeClr>
                </a:solidFill>
                <a:latin typeface="Arial"/>
              </a:rPr>
              <a:t>Bagaimana pembagian portofolio berdasarkan status Fully Paid, Current, dan Charged Off? Bagaimana jumlah pengajuan bervariasi menurut bulan dan tujuan pinjaman?</a:t>
            </a:r>
          </a:p>
        </p:txBody>
      </p:sp>
      <p:sp>
        <p:nvSpPr>
          <p:cNvPr id="24" name="TextBox 23">
            <a:extLst>
              <a:ext uri="{FF2B5EF4-FFF2-40B4-BE49-F238E27FC236}">
                <a16:creationId xmlns:a16="http://schemas.microsoft.com/office/drawing/2014/main" id="{D8D9A149-C114-8F65-81A2-84F4FC685483}"/>
              </a:ext>
            </a:extLst>
          </p:cNvPr>
          <p:cNvSpPr txBox="1"/>
          <p:nvPr/>
        </p:nvSpPr>
        <p:spPr>
          <a:xfrm>
            <a:off x="548640" y="6565392"/>
            <a:ext cx="6400800" cy="201168"/>
          </a:xfrm>
          <a:prstGeom prst="rect">
            <a:avLst/>
          </a:prstGeom>
          <a:noFill/>
        </p:spPr>
        <p:txBody>
          <a:bodyPr wrap="square" lIns="0" tIns="0" rIns="0" bIns="0" anchor="t">
            <a:spAutoFit/>
          </a:bodyPr>
          <a:lstStyle/>
          <a:p>
            <a:pPr algn="l">
              <a:lnSpc>
                <a:spcPct val="112000"/>
              </a:lnSpc>
              <a:spcAft>
                <a:spcPts val="300"/>
              </a:spcAft>
            </a:pPr>
            <a:r>
              <a:rPr sz="800" b="0" i="0" dirty="0">
                <a:solidFill>
                  <a:srgbClr val="94A3B8"/>
                </a:solidFill>
                <a:latin typeface="Arial"/>
              </a:rPr>
              <a:t>LAPORAN PINJAMAN BANK  •  PORTOFOLIO ANALIS DATA</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extBox 1"/>
          <p:cNvSpPr txBox="1"/>
          <p:nvPr/>
        </p:nvSpPr>
        <p:spPr>
          <a:xfrm>
            <a:off x="548640" y="1463040"/>
            <a:ext cx="5486400" cy="1140953"/>
          </a:xfrm>
          <a:prstGeom prst="rect">
            <a:avLst/>
          </a:prstGeom>
          <a:noFill/>
        </p:spPr>
        <p:txBody>
          <a:bodyPr wrap="square" lIns="0" tIns="0" rIns="0" bIns="0" anchor="t">
            <a:spAutoFit/>
          </a:bodyPr>
          <a:lstStyle/>
          <a:p>
            <a:pPr algn="l">
              <a:lnSpc>
                <a:spcPct val="112000"/>
              </a:lnSpc>
              <a:spcAft>
                <a:spcPts val="300"/>
              </a:spcAft>
            </a:pPr>
            <a:r>
              <a:rPr sz="7200" b="1" i="0" dirty="0">
                <a:solidFill>
                  <a:schemeClr val="bg1"/>
                </a:solidFill>
                <a:latin typeface="Arial"/>
              </a:rPr>
              <a:t>03</a:t>
            </a:r>
          </a:p>
        </p:txBody>
      </p:sp>
      <p:sp>
        <p:nvSpPr>
          <p:cNvPr id="3" name="Rectangle 2"/>
          <p:cNvSpPr/>
          <p:nvPr/>
        </p:nvSpPr>
        <p:spPr>
          <a:xfrm>
            <a:off x="640080" y="3657600"/>
            <a:ext cx="822960" cy="548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86200"/>
            <a:ext cx="10058400" cy="640080"/>
          </a:xfrm>
          <a:prstGeom prst="rect">
            <a:avLst/>
          </a:prstGeom>
          <a:noFill/>
        </p:spPr>
        <p:txBody>
          <a:bodyPr wrap="square" lIns="0" tIns="0" rIns="0" bIns="0" anchor="t">
            <a:spAutoFit/>
          </a:bodyPr>
          <a:lstStyle/>
          <a:p>
            <a:pPr algn="l">
              <a:lnSpc>
                <a:spcPct val="112000"/>
              </a:lnSpc>
              <a:spcAft>
                <a:spcPts val="300"/>
              </a:spcAft>
            </a:pPr>
            <a:r>
              <a:rPr sz="3600" b="1" i="0">
                <a:solidFill>
                  <a:srgbClr val="FFFFFF"/>
                </a:solidFill>
                <a:latin typeface="Arial"/>
              </a:rPr>
              <a:t>Analisis &amp; Temuan</a:t>
            </a:r>
          </a:p>
        </p:txBody>
      </p:sp>
      <p:sp>
        <p:nvSpPr>
          <p:cNvPr id="5" name="TextBox 4"/>
          <p:cNvSpPr txBox="1"/>
          <p:nvPr/>
        </p:nvSpPr>
        <p:spPr>
          <a:xfrm>
            <a:off x="640080" y="4617720"/>
            <a:ext cx="10058400" cy="221856"/>
          </a:xfrm>
          <a:prstGeom prst="rect">
            <a:avLst/>
          </a:prstGeom>
          <a:noFill/>
        </p:spPr>
        <p:txBody>
          <a:bodyPr wrap="square" lIns="0" tIns="0" rIns="0" bIns="0" anchor="t">
            <a:spAutoFit/>
          </a:bodyPr>
          <a:lstStyle/>
          <a:p>
            <a:pPr algn="l">
              <a:lnSpc>
                <a:spcPct val="112000"/>
              </a:lnSpc>
              <a:spcAft>
                <a:spcPts val="300"/>
              </a:spcAft>
            </a:pPr>
            <a:r>
              <a:rPr sz="1400" b="0" i="0" dirty="0" err="1">
                <a:solidFill>
                  <a:schemeClr val="bg1"/>
                </a:solidFill>
                <a:latin typeface="Arial"/>
              </a:rPr>
              <a:t>Pemeriksaan</a:t>
            </a:r>
            <a:r>
              <a:rPr sz="1400" b="0" i="0" dirty="0">
                <a:solidFill>
                  <a:schemeClr val="bg1"/>
                </a:solidFill>
                <a:latin typeface="Arial"/>
              </a:rPr>
              <a:t> data, SQL, KPI, </a:t>
            </a:r>
            <a:r>
              <a:rPr sz="1400" b="0" i="0" dirty="0" err="1">
                <a:solidFill>
                  <a:schemeClr val="bg1"/>
                </a:solidFill>
                <a:latin typeface="Arial"/>
              </a:rPr>
              <a:t>komposisi</a:t>
            </a:r>
            <a:r>
              <a:rPr sz="1400" b="0" i="0" dirty="0">
                <a:solidFill>
                  <a:schemeClr val="bg1"/>
                </a:solidFill>
                <a:latin typeface="Arial"/>
              </a:rPr>
              <a:t> status </a:t>
            </a:r>
            <a:r>
              <a:rPr sz="1400" b="0" i="0" dirty="0" err="1">
                <a:solidFill>
                  <a:schemeClr val="bg1"/>
                </a:solidFill>
                <a:latin typeface="Arial"/>
              </a:rPr>
              <a:t>pinjaman</a:t>
            </a:r>
            <a:r>
              <a:rPr sz="1400" b="0" i="0" dirty="0">
                <a:solidFill>
                  <a:schemeClr val="bg1"/>
                </a:solidFill>
                <a:latin typeface="Arial"/>
              </a:rPr>
              <a:t>, </a:t>
            </a:r>
            <a:r>
              <a:rPr sz="1400" b="0" i="0" dirty="0" err="1">
                <a:solidFill>
                  <a:schemeClr val="bg1"/>
                </a:solidFill>
                <a:latin typeface="Arial"/>
              </a:rPr>
              <a:t>tujuan</a:t>
            </a:r>
            <a:r>
              <a:rPr sz="1400" b="0" i="0" dirty="0">
                <a:solidFill>
                  <a:schemeClr val="bg1"/>
                </a:solidFill>
                <a:latin typeface="Arial"/>
              </a:rPr>
              <a:t> </a:t>
            </a:r>
            <a:r>
              <a:rPr sz="1400" b="0" i="0" dirty="0" err="1">
                <a:solidFill>
                  <a:schemeClr val="bg1"/>
                </a:solidFill>
                <a:latin typeface="Arial"/>
              </a:rPr>
              <a:t>pinjaman</a:t>
            </a:r>
            <a:r>
              <a:rPr sz="1400" b="0" i="0" dirty="0">
                <a:solidFill>
                  <a:schemeClr val="bg1"/>
                </a:solidFill>
                <a:latin typeface="Arial"/>
              </a:rPr>
              <a:t>, dan </a:t>
            </a:r>
            <a:r>
              <a:rPr sz="1400" b="0" i="0" dirty="0" err="1">
                <a:solidFill>
                  <a:schemeClr val="bg1"/>
                </a:solidFill>
                <a:latin typeface="Arial"/>
              </a:rPr>
              <a:t>tren</a:t>
            </a:r>
            <a:r>
              <a:rPr sz="1400" b="0" i="0" dirty="0">
                <a:solidFill>
                  <a:schemeClr val="bg1"/>
                </a:solidFill>
                <a:latin typeface="Arial"/>
              </a:rPr>
              <a:t> </a:t>
            </a:r>
            <a:r>
              <a:rPr sz="1400" b="0" i="0" dirty="0" err="1">
                <a:solidFill>
                  <a:schemeClr val="bg1"/>
                </a:solidFill>
                <a:latin typeface="Arial"/>
              </a:rPr>
              <a:t>bulanan</a:t>
            </a:r>
            <a:r>
              <a:rPr sz="1400" b="0" i="0" dirty="0">
                <a:solidFill>
                  <a:schemeClr val="bg1"/>
                </a:solidFill>
                <a:latin typeface="Arial"/>
              </a:rPr>
              <a:t>.</a:t>
            </a:r>
          </a:p>
        </p:txBody>
      </p:sp>
      <p:sp>
        <p:nvSpPr>
          <p:cNvPr id="6" name="TextBox 5"/>
          <p:cNvSpPr txBox="1"/>
          <p:nvPr/>
        </p:nvSpPr>
        <p:spPr>
          <a:xfrm>
            <a:off x="548640" y="6400800"/>
            <a:ext cx="7315200" cy="126766"/>
          </a:xfrm>
          <a:prstGeom prst="rect">
            <a:avLst/>
          </a:prstGeom>
          <a:noFill/>
        </p:spPr>
        <p:txBody>
          <a:bodyPr wrap="square" lIns="0" tIns="0" rIns="0" bIns="0" anchor="t">
            <a:spAutoFit/>
          </a:bodyPr>
          <a:lstStyle/>
          <a:p>
            <a:pPr algn="l">
              <a:lnSpc>
                <a:spcPct val="112000"/>
              </a:lnSpc>
              <a:spcAft>
                <a:spcPts val="300"/>
              </a:spcAft>
            </a:pPr>
            <a:r>
              <a:rPr sz="800" b="0" i="0" dirty="0">
                <a:solidFill>
                  <a:schemeClr val="bg1"/>
                </a:solidFill>
                <a:latin typeface="Arial"/>
              </a:rPr>
              <a:t>LAPORAN PINJAMAN BANK  •  PORTOFOLIO ANALIS DATA</a:t>
            </a: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spAutoFit/>
          </a:bodyPr>
          <a:lstStyle/>
          <a:p>
            <a:pPr>
              <a:spcBef>
                <a:spcPts val="0"/>
              </a:spcBef>
              <a:spcAft>
                <a:spcPts val="0"/>
              </a:spcAft>
              <a:defRPr sz="2800" b="1">
                <a:solidFill>
                  <a:srgbClr val="132A45"/>
                </a:solidFill>
                <a:latin typeface="Aptos Display"/>
              </a:defRPr>
            </a:pPr>
            <a:r>
              <a:rPr>
                <a:latin typeface="Arial"/>
              </a:rPr>
              <a:t>Memahami &amp; Menyiapkan Data</a:t>
            </a:r>
          </a:p>
        </p:txBody>
      </p:sp>
      <p:sp>
        <p:nvSpPr>
          <p:cNvPr id="5" name="TextBox 4"/>
          <p:cNvSpPr txBox="1"/>
          <p:nvPr/>
        </p:nvSpPr>
        <p:spPr>
          <a:xfrm>
            <a:off x="749808" y="1115568"/>
            <a:ext cx="10972800" cy="292608"/>
          </a:xfrm>
          <a:prstGeom prst="rect">
            <a:avLst/>
          </a:prstGeom>
          <a:noFill/>
        </p:spPr>
        <p:txBody>
          <a:bodyPr wrap="square" lIns="0" tIns="0" rIns="0" bIns="0">
            <a:spAutoFit/>
          </a:bodyPr>
          <a:lstStyle/>
          <a:p>
            <a:pPr>
              <a:spcBef>
                <a:spcPts val="0"/>
              </a:spcBef>
              <a:spcAft>
                <a:spcPts val="0"/>
              </a:spcAft>
              <a:defRPr sz="1200" b="0">
                <a:solidFill>
                  <a:srgbClr val="5B6F88"/>
                </a:solidFill>
                <a:latin typeface="Aptos"/>
              </a:defRPr>
            </a:pPr>
            <a:r>
              <a:rPr dirty="0" err="1">
                <a:latin typeface="Arial"/>
              </a:rPr>
              <a:t>Pemeriksaan</a:t>
            </a:r>
            <a:r>
              <a:rPr dirty="0">
                <a:latin typeface="Arial"/>
              </a:rPr>
              <a:t> </a:t>
            </a:r>
            <a:r>
              <a:rPr dirty="0" err="1">
                <a:latin typeface="Arial"/>
              </a:rPr>
              <a:t>kualitas</a:t>
            </a:r>
            <a:r>
              <a:rPr dirty="0">
                <a:latin typeface="Arial"/>
              </a:rPr>
              <a:t> data </a:t>
            </a:r>
            <a:r>
              <a:rPr dirty="0" err="1">
                <a:latin typeface="Arial"/>
              </a:rPr>
              <a:t>dilakukan</a:t>
            </a:r>
            <a:r>
              <a:rPr dirty="0">
                <a:latin typeface="Arial"/>
              </a:rPr>
              <a:t> </a:t>
            </a:r>
            <a:r>
              <a:rPr dirty="0" err="1">
                <a:latin typeface="Arial"/>
              </a:rPr>
              <a:t>dengan</a:t>
            </a:r>
            <a:r>
              <a:rPr dirty="0">
                <a:latin typeface="Arial"/>
              </a:rPr>
              <a:t> query SQL di PostgreSQL </a:t>
            </a:r>
            <a:r>
              <a:rPr dirty="0" err="1">
                <a:latin typeface="Arial"/>
              </a:rPr>
              <a:t>sebelum</a:t>
            </a:r>
            <a:r>
              <a:rPr dirty="0">
                <a:latin typeface="Arial"/>
              </a:rPr>
              <a:t> </a:t>
            </a:r>
            <a:r>
              <a:rPr dirty="0" err="1">
                <a:latin typeface="Arial"/>
              </a:rPr>
              <a:t>menghitung</a:t>
            </a:r>
            <a:r>
              <a:rPr dirty="0">
                <a:latin typeface="Arial"/>
              </a:rPr>
              <a:t> </a:t>
            </a:r>
            <a:r>
              <a:rPr dirty="0" err="1">
                <a:latin typeface="Arial"/>
              </a:rPr>
              <a:t>metrik</a:t>
            </a:r>
            <a:r>
              <a:rPr dirty="0">
                <a:latin typeface="Arial"/>
              </a:rPr>
              <a:t>.</a:t>
            </a:r>
          </a:p>
        </p:txBody>
      </p:sp>
      <p:sp>
        <p:nvSpPr>
          <p:cNvPr id="6" name="Rectangle 5"/>
          <p:cNvSpPr/>
          <p:nvPr/>
        </p:nvSpPr>
        <p:spPr>
          <a:xfrm>
            <a:off x="548640" y="1444752"/>
            <a:ext cx="11091672" cy="18288"/>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6400800" cy="201168"/>
          </a:xfrm>
          <a:prstGeom prst="rect">
            <a:avLst/>
          </a:prstGeom>
          <a:noFill/>
        </p:spPr>
        <p:txBody>
          <a:bodyPr wrap="square" lIns="0" tIns="0" rIns="0" bIns="0">
            <a:spAutoFit/>
          </a:bodyPr>
          <a:lstStyle/>
          <a:p>
            <a:pPr>
              <a:spcBef>
                <a:spcPts val="0"/>
              </a:spcBef>
              <a:spcAft>
                <a:spcPts val="0"/>
              </a:spcAft>
              <a:defRPr sz="800" b="0">
                <a:solidFill>
                  <a:srgbClr val="8294A8"/>
                </a:solidFill>
                <a:latin typeface="Aptos"/>
              </a:defRPr>
            </a:pPr>
            <a:r>
              <a:rPr>
                <a:latin typeface="Arial"/>
              </a:rPr>
              <a:t>LAPORAN PINJAMAN BANK  •  PORTOFOLIO ANALIS DATA</a:t>
            </a:r>
          </a:p>
        </p:txBody>
      </p:sp>
      <p:sp>
        <p:nvSpPr>
          <p:cNvPr id="9" name="TextBox 8"/>
          <p:cNvSpPr txBox="1"/>
          <p:nvPr/>
        </p:nvSpPr>
        <p:spPr>
          <a:xfrm>
            <a:off x="868680" y="1783080"/>
            <a:ext cx="2560320" cy="200055"/>
          </a:xfrm>
          <a:prstGeom prst="rect">
            <a:avLst/>
          </a:prstGeom>
          <a:noFill/>
        </p:spPr>
        <p:txBody>
          <a:bodyPr wrap="square" lIns="0" tIns="0" rIns="0" bIns="0">
            <a:spAutoFit/>
          </a:bodyPr>
          <a:lstStyle/>
          <a:p>
            <a:pPr>
              <a:spcBef>
                <a:spcPts val="0"/>
              </a:spcBef>
              <a:spcAft>
                <a:spcPts val="0"/>
              </a:spcAft>
              <a:defRPr sz="1300" b="1">
                <a:solidFill>
                  <a:srgbClr val="18AE9F"/>
                </a:solidFill>
                <a:latin typeface="Aptos"/>
              </a:defRPr>
            </a:pPr>
            <a:r>
              <a:rPr lang="en-US" dirty="0" err="1">
                <a:solidFill>
                  <a:schemeClr val="tx1">
                    <a:lumMod val="95000"/>
                    <a:lumOff val="5000"/>
                  </a:schemeClr>
                </a:solidFill>
                <a:latin typeface="Arial"/>
              </a:rPr>
              <a:t>Jumlah</a:t>
            </a:r>
            <a:r>
              <a:rPr lang="en-US" dirty="0">
                <a:solidFill>
                  <a:schemeClr val="tx1">
                    <a:lumMod val="95000"/>
                    <a:lumOff val="5000"/>
                  </a:schemeClr>
                </a:solidFill>
                <a:latin typeface="Arial"/>
              </a:rPr>
              <a:t> baris</a:t>
            </a:r>
            <a:endParaRPr dirty="0">
              <a:solidFill>
                <a:schemeClr val="tx1">
                  <a:lumMod val="95000"/>
                  <a:lumOff val="5000"/>
                </a:schemeClr>
              </a:solidFill>
              <a:latin typeface="Arial"/>
            </a:endParaRPr>
          </a:p>
        </p:txBody>
      </p:sp>
      <p:sp>
        <p:nvSpPr>
          <p:cNvPr id="10" name="TextBox 9"/>
          <p:cNvSpPr txBox="1"/>
          <p:nvPr/>
        </p:nvSpPr>
        <p:spPr>
          <a:xfrm>
            <a:off x="3474720" y="1783080"/>
            <a:ext cx="7589520" cy="502920"/>
          </a:xfrm>
          <a:prstGeom prst="rect">
            <a:avLst/>
          </a:prstGeom>
          <a:noFill/>
        </p:spPr>
        <p:txBody>
          <a:bodyPr wrap="square" lIns="0" tIns="0" rIns="0" bIns="0">
            <a:spAutoFit/>
          </a:bodyPr>
          <a:lstStyle/>
          <a:p>
            <a:pPr>
              <a:spcBef>
                <a:spcPts val="0"/>
              </a:spcBef>
              <a:spcAft>
                <a:spcPts val="0"/>
              </a:spcAft>
              <a:defRPr sz="1200" b="0">
                <a:solidFill>
                  <a:srgbClr val="3D4C5C"/>
                </a:solidFill>
                <a:latin typeface="Aptos"/>
              </a:defRPr>
            </a:pPr>
            <a:r>
              <a:rPr>
                <a:latin typeface="Arial"/>
              </a:rPr>
              <a:t>38.576 catatan pinjaman</a:t>
            </a:r>
          </a:p>
        </p:txBody>
      </p:sp>
      <p:sp>
        <p:nvSpPr>
          <p:cNvPr id="11" name="TextBox 10"/>
          <p:cNvSpPr txBox="1"/>
          <p:nvPr/>
        </p:nvSpPr>
        <p:spPr>
          <a:xfrm>
            <a:off x="868680" y="2496312"/>
            <a:ext cx="2560320" cy="200055"/>
          </a:xfrm>
          <a:prstGeom prst="rect">
            <a:avLst/>
          </a:prstGeom>
          <a:noFill/>
        </p:spPr>
        <p:txBody>
          <a:bodyPr wrap="square" lIns="0" tIns="0" rIns="0" bIns="0">
            <a:spAutoFit/>
          </a:bodyPr>
          <a:lstStyle/>
          <a:p>
            <a:pPr>
              <a:spcBef>
                <a:spcPts val="0"/>
              </a:spcBef>
              <a:spcAft>
                <a:spcPts val="0"/>
              </a:spcAft>
              <a:defRPr sz="1300" b="1">
                <a:solidFill>
                  <a:srgbClr val="18AE9F"/>
                </a:solidFill>
                <a:latin typeface="Aptos"/>
              </a:defRPr>
            </a:pPr>
            <a:r>
              <a:rPr dirty="0" err="1">
                <a:solidFill>
                  <a:schemeClr val="tx1">
                    <a:lumMod val="95000"/>
                    <a:lumOff val="5000"/>
                  </a:schemeClr>
                </a:solidFill>
                <a:latin typeface="Arial"/>
              </a:rPr>
              <a:t>Jumlah</a:t>
            </a:r>
            <a:r>
              <a:rPr dirty="0">
                <a:solidFill>
                  <a:schemeClr val="tx1">
                    <a:lumMod val="95000"/>
                    <a:lumOff val="5000"/>
                  </a:schemeClr>
                </a:solidFill>
                <a:latin typeface="Arial"/>
              </a:rPr>
              <a:t> </a:t>
            </a:r>
            <a:r>
              <a:rPr dirty="0" err="1">
                <a:solidFill>
                  <a:schemeClr val="tx1">
                    <a:lumMod val="95000"/>
                    <a:lumOff val="5000"/>
                  </a:schemeClr>
                </a:solidFill>
                <a:latin typeface="Arial"/>
              </a:rPr>
              <a:t>kolom</a:t>
            </a:r>
            <a:endParaRPr dirty="0">
              <a:solidFill>
                <a:schemeClr val="tx1">
                  <a:lumMod val="95000"/>
                  <a:lumOff val="5000"/>
                </a:schemeClr>
              </a:solidFill>
              <a:latin typeface="Arial"/>
            </a:endParaRPr>
          </a:p>
        </p:txBody>
      </p:sp>
      <p:sp>
        <p:nvSpPr>
          <p:cNvPr id="12" name="TextBox 11"/>
          <p:cNvSpPr txBox="1"/>
          <p:nvPr/>
        </p:nvSpPr>
        <p:spPr>
          <a:xfrm>
            <a:off x="3474720" y="2496312"/>
            <a:ext cx="7589520" cy="502920"/>
          </a:xfrm>
          <a:prstGeom prst="rect">
            <a:avLst/>
          </a:prstGeom>
          <a:noFill/>
        </p:spPr>
        <p:txBody>
          <a:bodyPr wrap="square" lIns="0" tIns="0" rIns="0" bIns="0">
            <a:spAutoFit/>
          </a:bodyPr>
          <a:lstStyle/>
          <a:p>
            <a:pPr>
              <a:spcBef>
                <a:spcPts val="0"/>
              </a:spcBef>
              <a:spcAft>
                <a:spcPts val="0"/>
              </a:spcAft>
              <a:defRPr sz="1200" b="0">
                <a:solidFill>
                  <a:srgbClr val="3D4C5C"/>
                </a:solidFill>
                <a:latin typeface="Aptos"/>
              </a:defRPr>
            </a:pPr>
            <a:r>
              <a:rPr>
                <a:latin typeface="Arial"/>
              </a:rPr>
              <a:t>24 kolom berisi status, tanggal, dan nilai pinjaman</a:t>
            </a:r>
          </a:p>
        </p:txBody>
      </p:sp>
      <p:sp>
        <p:nvSpPr>
          <p:cNvPr id="13" name="TextBox 12"/>
          <p:cNvSpPr txBox="1"/>
          <p:nvPr/>
        </p:nvSpPr>
        <p:spPr>
          <a:xfrm>
            <a:off x="868680" y="3209544"/>
            <a:ext cx="2560320" cy="200055"/>
          </a:xfrm>
          <a:prstGeom prst="rect">
            <a:avLst/>
          </a:prstGeom>
          <a:noFill/>
        </p:spPr>
        <p:txBody>
          <a:bodyPr wrap="square" lIns="0" tIns="0" rIns="0" bIns="0">
            <a:spAutoFit/>
          </a:bodyPr>
          <a:lstStyle/>
          <a:p>
            <a:pPr>
              <a:spcBef>
                <a:spcPts val="0"/>
              </a:spcBef>
              <a:spcAft>
                <a:spcPts val="0"/>
              </a:spcAft>
              <a:defRPr sz="1300" b="1">
                <a:solidFill>
                  <a:srgbClr val="18AE9F"/>
                </a:solidFill>
                <a:latin typeface="Aptos"/>
              </a:defRPr>
            </a:pPr>
            <a:r>
              <a:rPr dirty="0">
                <a:solidFill>
                  <a:schemeClr val="tx1">
                    <a:lumMod val="95000"/>
                    <a:lumOff val="5000"/>
                  </a:schemeClr>
                </a:solidFill>
                <a:latin typeface="Arial"/>
              </a:rPr>
              <a:t>ID </a:t>
            </a:r>
            <a:r>
              <a:rPr dirty="0" err="1">
                <a:solidFill>
                  <a:schemeClr val="tx1">
                    <a:lumMod val="95000"/>
                    <a:lumOff val="5000"/>
                  </a:schemeClr>
                </a:solidFill>
                <a:latin typeface="Arial"/>
              </a:rPr>
              <a:t>unik</a:t>
            </a:r>
            <a:endParaRPr dirty="0">
              <a:solidFill>
                <a:schemeClr val="tx1">
                  <a:lumMod val="95000"/>
                  <a:lumOff val="5000"/>
                </a:schemeClr>
              </a:solidFill>
              <a:latin typeface="Arial"/>
            </a:endParaRPr>
          </a:p>
        </p:txBody>
      </p:sp>
      <p:sp>
        <p:nvSpPr>
          <p:cNvPr id="14" name="TextBox 13"/>
          <p:cNvSpPr txBox="1"/>
          <p:nvPr/>
        </p:nvSpPr>
        <p:spPr>
          <a:xfrm>
            <a:off x="3474720" y="3209544"/>
            <a:ext cx="7589520" cy="502920"/>
          </a:xfrm>
          <a:prstGeom prst="rect">
            <a:avLst/>
          </a:prstGeom>
          <a:noFill/>
        </p:spPr>
        <p:txBody>
          <a:bodyPr wrap="square" lIns="0" tIns="0" rIns="0" bIns="0">
            <a:spAutoFit/>
          </a:bodyPr>
          <a:lstStyle/>
          <a:p>
            <a:pPr>
              <a:spcBef>
                <a:spcPts val="0"/>
              </a:spcBef>
              <a:spcAft>
                <a:spcPts val="0"/>
              </a:spcAft>
              <a:defRPr sz="1200" b="0">
                <a:solidFill>
                  <a:srgbClr val="3D4C5C"/>
                </a:solidFill>
                <a:latin typeface="Aptos"/>
              </a:defRPr>
            </a:pPr>
            <a:r>
              <a:rPr>
                <a:latin typeface="Arial"/>
              </a:rPr>
              <a:t>38.576 ID unik; tidak ditemukan ID pinjaman duplikat</a:t>
            </a:r>
          </a:p>
        </p:txBody>
      </p:sp>
      <p:sp>
        <p:nvSpPr>
          <p:cNvPr id="15" name="TextBox 14"/>
          <p:cNvSpPr txBox="1"/>
          <p:nvPr/>
        </p:nvSpPr>
        <p:spPr>
          <a:xfrm>
            <a:off x="868680" y="3922776"/>
            <a:ext cx="2560320" cy="200055"/>
          </a:xfrm>
          <a:prstGeom prst="rect">
            <a:avLst/>
          </a:prstGeom>
          <a:noFill/>
        </p:spPr>
        <p:txBody>
          <a:bodyPr wrap="square" lIns="0" tIns="0" rIns="0" bIns="0">
            <a:spAutoFit/>
          </a:bodyPr>
          <a:lstStyle/>
          <a:p>
            <a:pPr>
              <a:spcBef>
                <a:spcPts val="0"/>
              </a:spcBef>
              <a:spcAft>
                <a:spcPts val="0"/>
              </a:spcAft>
              <a:defRPr sz="1300" b="1">
                <a:solidFill>
                  <a:srgbClr val="18AE9F"/>
                </a:solidFill>
                <a:latin typeface="Aptos"/>
              </a:defRPr>
            </a:pPr>
            <a:r>
              <a:rPr dirty="0">
                <a:solidFill>
                  <a:schemeClr val="tx1">
                    <a:lumMod val="95000"/>
                    <a:lumOff val="5000"/>
                  </a:schemeClr>
                </a:solidFill>
                <a:latin typeface="Arial"/>
              </a:rPr>
              <a:t>Nilai </a:t>
            </a:r>
            <a:r>
              <a:rPr dirty="0" err="1">
                <a:solidFill>
                  <a:schemeClr val="tx1">
                    <a:lumMod val="95000"/>
                    <a:lumOff val="5000"/>
                  </a:schemeClr>
                </a:solidFill>
                <a:latin typeface="Arial"/>
              </a:rPr>
              <a:t>emp_title</a:t>
            </a:r>
            <a:r>
              <a:rPr dirty="0">
                <a:solidFill>
                  <a:schemeClr val="tx1">
                    <a:lumMod val="95000"/>
                    <a:lumOff val="5000"/>
                  </a:schemeClr>
                </a:solidFill>
                <a:latin typeface="Arial"/>
              </a:rPr>
              <a:t> </a:t>
            </a:r>
            <a:r>
              <a:rPr dirty="0" err="1">
                <a:solidFill>
                  <a:schemeClr val="tx1">
                    <a:lumMod val="95000"/>
                    <a:lumOff val="5000"/>
                  </a:schemeClr>
                </a:solidFill>
                <a:latin typeface="Arial"/>
              </a:rPr>
              <a:t>kosong</a:t>
            </a:r>
            <a:endParaRPr dirty="0">
              <a:solidFill>
                <a:schemeClr val="tx1">
                  <a:lumMod val="95000"/>
                  <a:lumOff val="5000"/>
                </a:schemeClr>
              </a:solidFill>
              <a:latin typeface="Arial"/>
            </a:endParaRPr>
          </a:p>
        </p:txBody>
      </p:sp>
      <p:sp>
        <p:nvSpPr>
          <p:cNvPr id="16" name="TextBox 15"/>
          <p:cNvSpPr txBox="1"/>
          <p:nvPr/>
        </p:nvSpPr>
        <p:spPr>
          <a:xfrm>
            <a:off x="3474720" y="3922776"/>
            <a:ext cx="7589520" cy="502920"/>
          </a:xfrm>
          <a:prstGeom prst="rect">
            <a:avLst/>
          </a:prstGeom>
          <a:noFill/>
        </p:spPr>
        <p:txBody>
          <a:bodyPr wrap="square" lIns="0" tIns="0" rIns="0" bIns="0">
            <a:spAutoFit/>
          </a:bodyPr>
          <a:lstStyle/>
          <a:p>
            <a:pPr>
              <a:spcBef>
                <a:spcPts val="0"/>
              </a:spcBef>
              <a:spcAft>
                <a:spcPts val="0"/>
              </a:spcAft>
              <a:defRPr sz="1200" b="0">
                <a:solidFill>
                  <a:srgbClr val="3D4C5C"/>
                </a:solidFill>
                <a:latin typeface="Aptos"/>
              </a:defRPr>
            </a:pPr>
            <a:r>
              <a:rPr>
                <a:latin typeface="Arial"/>
              </a:rPr>
              <a:t>1.438 catatan (3,73%)</a:t>
            </a:r>
          </a:p>
        </p:txBody>
      </p:sp>
      <p:sp>
        <p:nvSpPr>
          <p:cNvPr id="17" name="TextBox 16"/>
          <p:cNvSpPr txBox="1"/>
          <p:nvPr/>
        </p:nvSpPr>
        <p:spPr>
          <a:xfrm>
            <a:off x="868680" y="4636008"/>
            <a:ext cx="2560320" cy="200055"/>
          </a:xfrm>
          <a:prstGeom prst="rect">
            <a:avLst/>
          </a:prstGeom>
          <a:noFill/>
        </p:spPr>
        <p:txBody>
          <a:bodyPr wrap="square" lIns="0" tIns="0" rIns="0" bIns="0">
            <a:spAutoFit/>
          </a:bodyPr>
          <a:lstStyle/>
          <a:p>
            <a:pPr>
              <a:spcBef>
                <a:spcPts val="0"/>
              </a:spcBef>
              <a:spcAft>
                <a:spcPts val="0"/>
              </a:spcAft>
              <a:defRPr sz="1300" b="1">
                <a:solidFill>
                  <a:srgbClr val="18AE9F"/>
                </a:solidFill>
                <a:latin typeface="Aptos"/>
              </a:defRPr>
            </a:pPr>
            <a:r>
              <a:rPr dirty="0">
                <a:solidFill>
                  <a:schemeClr val="tx1">
                    <a:lumMod val="95000"/>
                    <a:lumOff val="5000"/>
                  </a:schemeClr>
                </a:solidFill>
                <a:latin typeface="Arial"/>
              </a:rPr>
              <a:t>Kolom </a:t>
            </a:r>
            <a:r>
              <a:rPr dirty="0" err="1">
                <a:solidFill>
                  <a:schemeClr val="tx1">
                    <a:lumMod val="95000"/>
                    <a:lumOff val="5000"/>
                  </a:schemeClr>
                </a:solidFill>
                <a:latin typeface="Arial"/>
              </a:rPr>
              <a:t>utama</a:t>
            </a:r>
            <a:endParaRPr dirty="0">
              <a:solidFill>
                <a:schemeClr val="tx1">
                  <a:lumMod val="95000"/>
                  <a:lumOff val="5000"/>
                </a:schemeClr>
              </a:solidFill>
              <a:latin typeface="Arial"/>
            </a:endParaRPr>
          </a:p>
        </p:txBody>
      </p:sp>
      <p:sp>
        <p:nvSpPr>
          <p:cNvPr id="18" name="TextBox 17"/>
          <p:cNvSpPr txBox="1"/>
          <p:nvPr/>
        </p:nvSpPr>
        <p:spPr>
          <a:xfrm>
            <a:off x="3474720" y="4636008"/>
            <a:ext cx="7589520" cy="502920"/>
          </a:xfrm>
          <a:prstGeom prst="rect">
            <a:avLst/>
          </a:prstGeom>
          <a:noFill/>
        </p:spPr>
        <p:txBody>
          <a:bodyPr wrap="square" lIns="0" tIns="0" rIns="0" bIns="0">
            <a:spAutoFit/>
          </a:bodyPr>
          <a:lstStyle/>
          <a:p>
            <a:pPr>
              <a:spcBef>
                <a:spcPts val="0"/>
              </a:spcBef>
              <a:spcAft>
                <a:spcPts val="0"/>
              </a:spcAft>
              <a:defRPr sz="1200" b="0">
                <a:solidFill>
                  <a:srgbClr val="3D4C5C"/>
                </a:solidFill>
                <a:latin typeface="Aptos"/>
              </a:defRPr>
            </a:pPr>
            <a:r>
              <a:rPr>
                <a:latin typeface="Arial"/>
              </a:rPr>
              <a:t>issue_date, loan_status, loan_amount, total_payment, int_rate, dti, purpose, term, address_state</a:t>
            </a:r>
          </a:p>
        </p:txBody>
      </p:sp>
      <p:sp>
        <p:nvSpPr>
          <p:cNvPr id="19" name="TextBox 18"/>
          <p:cNvSpPr txBox="1"/>
          <p:nvPr/>
        </p:nvSpPr>
        <p:spPr>
          <a:xfrm>
            <a:off x="868680" y="5349240"/>
            <a:ext cx="2560320" cy="200055"/>
          </a:xfrm>
          <a:prstGeom prst="rect">
            <a:avLst/>
          </a:prstGeom>
          <a:noFill/>
        </p:spPr>
        <p:txBody>
          <a:bodyPr wrap="square" lIns="0" tIns="0" rIns="0" bIns="0">
            <a:spAutoFit/>
          </a:bodyPr>
          <a:lstStyle/>
          <a:p>
            <a:pPr>
              <a:spcBef>
                <a:spcPts val="0"/>
              </a:spcBef>
              <a:spcAft>
                <a:spcPts val="0"/>
              </a:spcAft>
              <a:defRPr sz="1300" b="1">
                <a:solidFill>
                  <a:srgbClr val="18AE9F"/>
                </a:solidFill>
                <a:latin typeface="Aptos"/>
              </a:defRPr>
            </a:pPr>
            <a:r>
              <a:rPr dirty="0" err="1">
                <a:solidFill>
                  <a:schemeClr val="tx1">
                    <a:lumMod val="95000"/>
                    <a:lumOff val="5000"/>
                  </a:schemeClr>
                </a:solidFill>
                <a:latin typeface="Arial"/>
              </a:rPr>
              <a:t>Catatan</a:t>
            </a:r>
            <a:r>
              <a:rPr dirty="0">
                <a:solidFill>
                  <a:schemeClr val="tx1">
                    <a:lumMod val="95000"/>
                    <a:lumOff val="5000"/>
                  </a:schemeClr>
                </a:solidFill>
                <a:latin typeface="Arial"/>
              </a:rPr>
              <a:t> </a:t>
            </a:r>
            <a:r>
              <a:rPr dirty="0" err="1">
                <a:solidFill>
                  <a:schemeClr val="tx1">
                    <a:lumMod val="95000"/>
                    <a:lumOff val="5000"/>
                  </a:schemeClr>
                </a:solidFill>
                <a:latin typeface="Arial"/>
              </a:rPr>
              <a:t>persiapan</a:t>
            </a:r>
            <a:endParaRPr dirty="0">
              <a:solidFill>
                <a:schemeClr val="tx1">
                  <a:lumMod val="95000"/>
                  <a:lumOff val="5000"/>
                </a:schemeClr>
              </a:solidFill>
              <a:latin typeface="Arial"/>
            </a:endParaRPr>
          </a:p>
        </p:txBody>
      </p:sp>
      <p:sp>
        <p:nvSpPr>
          <p:cNvPr id="20" name="TextBox 19"/>
          <p:cNvSpPr txBox="1"/>
          <p:nvPr/>
        </p:nvSpPr>
        <p:spPr>
          <a:xfrm>
            <a:off x="3474720" y="5349240"/>
            <a:ext cx="7589520" cy="502920"/>
          </a:xfrm>
          <a:prstGeom prst="rect">
            <a:avLst/>
          </a:prstGeom>
          <a:noFill/>
        </p:spPr>
        <p:txBody>
          <a:bodyPr wrap="square" lIns="0" tIns="0" rIns="0" bIns="0">
            <a:spAutoFit/>
          </a:bodyPr>
          <a:lstStyle/>
          <a:p>
            <a:pPr>
              <a:spcBef>
                <a:spcPts val="0"/>
              </a:spcBef>
              <a:spcAft>
                <a:spcPts val="0"/>
              </a:spcAft>
              <a:defRPr sz="1200" b="0">
                <a:solidFill>
                  <a:srgbClr val="3D4C5C"/>
                </a:solidFill>
                <a:latin typeface="Aptos"/>
              </a:defRPr>
            </a:pPr>
            <a:r>
              <a:rPr>
                <a:latin typeface="Arial"/>
              </a:rPr>
              <a:t>Tanggal issue_date pada sumber menggunakan format MM/DD/YYYY dan perlu dibaca sebagai tanggal sebelum analisis tren. Pemeriksaan SQL menghasilkan 38.576 baris dan 38.576 ID unik.</a:t>
            </a: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nchor="t">
            <a:spAutoFit/>
          </a:bodyPr>
          <a:lstStyle/>
          <a:p>
            <a:pPr>
              <a:lnSpc>
                <a:spcPct val="112000"/>
              </a:lnSpc>
              <a:spcAft>
                <a:spcPts val="300"/>
              </a:spcAft>
            </a:pPr>
            <a:r>
              <a:rPr lang="en-US" sz="2800" b="1" dirty="0">
                <a:solidFill>
                  <a:srgbClr val="182D48"/>
                </a:solidFill>
              </a:rPr>
              <a:t>Proses </a:t>
            </a:r>
            <a:r>
              <a:rPr lang="en-US" sz="2800" b="1" dirty="0" err="1">
                <a:solidFill>
                  <a:srgbClr val="182D48"/>
                </a:solidFill>
              </a:rPr>
              <a:t>Analisis</a:t>
            </a:r>
            <a:r>
              <a:rPr lang="en-US" sz="2800" b="1" dirty="0">
                <a:solidFill>
                  <a:srgbClr val="182D48"/>
                </a:solidFill>
              </a:rPr>
              <a:t> Data </a:t>
            </a:r>
            <a:r>
              <a:rPr lang="en-US" sz="2800" b="1" dirty="0" err="1">
                <a:solidFill>
                  <a:srgbClr val="182D48"/>
                </a:solidFill>
              </a:rPr>
              <a:t>dengan</a:t>
            </a:r>
            <a:r>
              <a:rPr lang="en-US" sz="2800" b="1" dirty="0">
                <a:solidFill>
                  <a:srgbClr val="182D48"/>
                </a:solidFill>
              </a:rPr>
              <a:t> SQL</a:t>
            </a:r>
          </a:p>
        </p:txBody>
      </p:sp>
      <p:sp>
        <p:nvSpPr>
          <p:cNvPr id="5" name="TextBox 4"/>
          <p:cNvSpPr txBox="1"/>
          <p:nvPr/>
        </p:nvSpPr>
        <p:spPr>
          <a:xfrm>
            <a:off x="749808" y="1115568"/>
            <a:ext cx="10972800" cy="190245"/>
          </a:xfrm>
          <a:prstGeom prst="rect">
            <a:avLst/>
          </a:prstGeom>
          <a:noFill/>
        </p:spPr>
        <p:txBody>
          <a:bodyPr wrap="square" lIns="0" tIns="0" rIns="0" bIns="0" anchor="t">
            <a:spAutoFit/>
          </a:bodyPr>
          <a:lstStyle/>
          <a:p>
            <a:pPr>
              <a:lnSpc>
                <a:spcPct val="112000"/>
              </a:lnSpc>
              <a:spcAft>
                <a:spcPts val="300"/>
              </a:spcAft>
            </a:pPr>
            <a:r>
              <a:rPr lang="en-US" sz="1200" dirty="0">
                <a:solidFill>
                  <a:srgbClr val="5A6B80"/>
                </a:solidFill>
              </a:rPr>
              <a:t>PostgreSQL </a:t>
            </a:r>
            <a:r>
              <a:rPr lang="en-US" sz="1200" dirty="0" err="1">
                <a:solidFill>
                  <a:srgbClr val="5A6B80"/>
                </a:solidFill>
              </a:rPr>
              <a:t>digunakan</a:t>
            </a:r>
            <a:r>
              <a:rPr lang="en-US" sz="1200" dirty="0">
                <a:solidFill>
                  <a:srgbClr val="5A6B80"/>
                </a:solidFill>
              </a:rPr>
              <a:t> </a:t>
            </a:r>
            <a:r>
              <a:rPr lang="en-US" sz="1200" dirty="0" err="1">
                <a:solidFill>
                  <a:srgbClr val="5A6B80"/>
                </a:solidFill>
              </a:rPr>
              <a:t>untuk</a:t>
            </a:r>
            <a:r>
              <a:rPr lang="en-US" sz="1200" dirty="0">
                <a:solidFill>
                  <a:srgbClr val="5A6B80"/>
                </a:solidFill>
              </a:rPr>
              <a:t> </a:t>
            </a:r>
            <a:r>
              <a:rPr lang="en-US" sz="1200" dirty="0" err="1">
                <a:solidFill>
                  <a:srgbClr val="5A6B80"/>
                </a:solidFill>
              </a:rPr>
              <a:t>memeriksa</a:t>
            </a:r>
            <a:r>
              <a:rPr lang="en-US" sz="1200" dirty="0">
                <a:solidFill>
                  <a:srgbClr val="5A6B80"/>
                </a:solidFill>
              </a:rPr>
              <a:t> </a:t>
            </a:r>
            <a:r>
              <a:rPr lang="en-US" sz="1200" dirty="0" err="1">
                <a:solidFill>
                  <a:srgbClr val="5A6B80"/>
                </a:solidFill>
              </a:rPr>
              <a:t>kualitas</a:t>
            </a:r>
            <a:r>
              <a:rPr lang="en-US" sz="1200" dirty="0">
                <a:solidFill>
                  <a:srgbClr val="5A6B80"/>
                </a:solidFill>
              </a:rPr>
              <a:t> data dan </a:t>
            </a:r>
            <a:r>
              <a:rPr lang="en-US" sz="1200" dirty="0" err="1">
                <a:solidFill>
                  <a:srgbClr val="5A6B80"/>
                </a:solidFill>
              </a:rPr>
              <a:t>menghitung</a:t>
            </a:r>
            <a:r>
              <a:rPr lang="en-US" sz="1200" dirty="0">
                <a:solidFill>
                  <a:srgbClr val="5A6B80"/>
                </a:solidFill>
              </a:rPr>
              <a:t> </a:t>
            </a:r>
            <a:r>
              <a:rPr lang="en-US" sz="1200" dirty="0" err="1">
                <a:solidFill>
                  <a:srgbClr val="5A6B80"/>
                </a:solidFill>
              </a:rPr>
              <a:t>ringkasan</a:t>
            </a:r>
            <a:r>
              <a:rPr lang="en-US" sz="1200" dirty="0">
                <a:solidFill>
                  <a:srgbClr val="5A6B80"/>
                </a:solidFill>
              </a:rPr>
              <a:t> </a:t>
            </a:r>
            <a:r>
              <a:rPr lang="en-US" sz="1200" dirty="0" err="1">
                <a:solidFill>
                  <a:srgbClr val="5A6B80"/>
                </a:solidFill>
              </a:rPr>
              <a:t>analisis</a:t>
            </a:r>
            <a:endParaRPr lang="en-US" sz="1200" dirty="0">
              <a:solidFill>
                <a:srgbClr val="5A6B80"/>
              </a:solidFill>
            </a:endParaRPr>
          </a:p>
        </p:txBody>
      </p:sp>
      <p:sp>
        <p:nvSpPr>
          <p:cNvPr id="6" name="Rectangle 5"/>
          <p:cNvSpPr/>
          <p:nvPr/>
        </p:nvSpPr>
        <p:spPr>
          <a:xfrm>
            <a:off x="548640" y="1444752"/>
            <a:ext cx="11091672" cy="15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91640"/>
            <a:ext cx="5486400" cy="4343400"/>
          </a:xfrm>
          <a:prstGeom prst="roundRect">
            <a:avLst>
              <a:gd name="adj" fmla="val 45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691640"/>
            <a:ext cx="5486400" cy="36576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773936"/>
            <a:ext cx="5212080" cy="153888"/>
          </a:xfrm>
          <a:prstGeom prst="rect">
            <a:avLst/>
          </a:prstGeom>
          <a:noFill/>
        </p:spPr>
        <p:txBody>
          <a:bodyPr wrap="square" lIns="0" tIns="0" rIns="0" bIns="0" anchor="t">
            <a:spAutoFit/>
          </a:bodyPr>
          <a:lstStyle/>
          <a:p>
            <a:pPr>
              <a:defRPr sz="1000" b="1">
                <a:solidFill>
                  <a:srgbClr val="31CDB1"/>
                </a:solidFill>
                <a:latin typeface="Arial"/>
              </a:defRPr>
            </a:pPr>
            <a:r>
              <a:rPr lang="en-US" dirty="0">
                <a:solidFill>
                  <a:schemeClr val="bg1"/>
                </a:solidFill>
              </a:rPr>
              <a:t>PEMERIKSAAN KUALITAS DATA</a:t>
            </a:r>
          </a:p>
        </p:txBody>
      </p:sp>
      <p:sp>
        <p:nvSpPr>
          <p:cNvPr id="10" name="TextBox 9"/>
          <p:cNvSpPr txBox="1"/>
          <p:nvPr/>
        </p:nvSpPr>
        <p:spPr>
          <a:xfrm>
            <a:off x="749808" y="2194560"/>
            <a:ext cx="5166360" cy="2395656"/>
          </a:xfrm>
          <a:prstGeom prst="rect">
            <a:avLst/>
          </a:prstGeom>
          <a:noFill/>
        </p:spPr>
        <p:txBody>
          <a:bodyPr wrap="square" lIns="0" tIns="0" rIns="0" bIns="0" anchor="t">
            <a:spAutoFit/>
          </a:bodyPr>
          <a:lstStyle/>
          <a:p>
            <a:pPr>
              <a:lnSpc>
                <a:spcPct val="108000"/>
              </a:lnSpc>
              <a:spcBef>
                <a:spcPts val="100"/>
              </a:spcBef>
              <a:spcAft>
                <a:spcPts val="800"/>
              </a:spcAft>
              <a:defRPr sz="1600" b="1">
                <a:solidFill>
                  <a:srgbClr val="31CDB1"/>
                </a:solidFill>
                <a:latin typeface="Arial"/>
              </a:defRPr>
            </a:pPr>
            <a:r>
              <a:rPr lang="en-US" sz="1400" dirty="0"/>
              <a:t>Yang </a:t>
            </a:r>
            <a:r>
              <a:rPr lang="en-US" sz="1400" dirty="0" err="1"/>
              <a:t>diperiksa</a:t>
            </a:r>
            <a:endParaRPr lang="en-US" sz="1400" dirty="0"/>
          </a:p>
          <a:p>
            <a:pPr>
              <a:lnSpc>
                <a:spcPct val="108000"/>
              </a:lnSpc>
              <a:spcBef>
                <a:spcPts val="100"/>
              </a:spcBef>
              <a:spcAft>
                <a:spcPts val="400"/>
              </a:spcAft>
              <a:defRPr sz="1400" b="0">
                <a:solidFill>
                  <a:srgbClr val="EFF4F9"/>
                </a:solidFill>
                <a:latin typeface="Arial"/>
              </a:defRPr>
            </a:pPr>
            <a:r>
              <a:rPr lang="en-US" sz="1400" dirty="0" err="1"/>
              <a:t>Jumlah</a:t>
            </a:r>
            <a:r>
              <a:rPr lang="en-US" sz="1400" dirty="0"/>
              <a:t> baris dan ID </a:t>
            </a:r>
            <a:r>
              <a:rPr lang="en-US" sz="1400" dirty="0" err="1"/>
              <a:t>pinjaman</a:t>
            </a:r>
            <a:r>
              <a:rPr lang="en-US" sz="1400" dirty="0"/>
              <a:t> </a:t>
            </a:r>
            <a:r>
              <a:rPr lang="en-US" sz="1400" dirty="0" err="1"/>
              <a:t>unik</a:t>
            </a:r>
            <a:r>
              <a:rPr lang="en-US" sz="1400" dirty="0"/>
              <a:t>.</a:t>
            </a:r>
          </a:p>
          <a:p>
            <a:pPr>
              <a:lnSpc>
                <a:spcPct val="108000"/>
              </a:lnSpc>
              <a:spcBef>
                <a:spcPts val="100"/>
              </a:spcBef>
              <a:spcAft>
                <a:spcPts val="400"/>
              </a:spcAft>
              <a:defRPr sz="1400" b="0">
                <a:solidFill>
                  <a:srgbClr val="EFF4F9"/>
                </a:solidFill>
                <a:latin typeface="Arial"/>
              </a:defRPr>
            </a:pPr>
            <a:r>
              <a:rPr lang="en-US" sz="1400" dirty="0"/>
              <a:t>Nilai </a:t>
            </a:r>
            <a:r>
              <a:rPr lang="en-US" sz="1400" dirty="0" err="1"/>
              <a:t>kosong</a:t>
            </a:r>
            <a:r>
              <a:rPr lang="en-US" sz="1400" dirty="0"/>
              <a:t> pada </a:t>
            </a:r>
            <a:r>
              <a:rPr lang="en-US" sz="1400" dirty="0" err="1"/>
              <a:t>kolom</a:t>
            </a:r>
            <a:r>
              <a:rPr lang="en-US" sz="1400" dirty="0"/>
              <a:t> </a:t>
            </a:r>
            <a:r>
              <a:rPr lang="en-US" sz="1400" dirty="0" err="1"/>
              <a:t>emp_title</a:t>
            </a:r>
            <a:r>
              <a:rPr lang="en-US" sz="1400" dirty="0"/>
              <a:t>.</a:t>
            </a:r>
          </a:p>
          <a:p>
            <a:pPr>
              <a:lnSpc>
                <a:spcPct val="108000"/>
              </a:lnSpc>
              <a:spcBef>
                <a:spcPts val="100"/>
              </a:spcBef>
              <a:spcAft>
                <a:spcPts val="400"/>
              </a:spcAft>
              <a:defRPr sz="1400" b="0">
                <a:solidFill>
                  <a:srgbClr val="EFF4F9"/>
                </a:solidFill>
                <a:latin typeface="Arial"/>
              </a:defRPr>
            </a:pPr>
            <a:r>
              <a:rPr lang="en-US" sz="1400" dirty="0"/>
              <a:t>Format </a:t>
            </a:r>
            <a:r>
              <a:rPr lang="en-US" sz="1400" dirty="0" err="1"/>
              <a:t>serta</a:t>
            </a:r>
            <a:r>
              <a:rPr lang="en-US" sz="1400" dirty="0"/>
              <a:t> </a:t>
            </a:r>
            <a:r>
              <a:rPr lang="en-US" sz="1400" dirty="0" err="1"/>
              <a:t>rentang</a:t>
            </a:r>
            <a:r>
              <a:rPr lang="en-US" sz="1400" dirty="0"/>
              <a:t> </a:t>
            </a:r>
            <a:r>
              <a:rPr lang="en-US" sz="1400" dirty="0" err="1"/>
              <a:t>tanggal</a:t>
            </a:r>
            <a:r>
              <a:rPr lang="en-US" sz="1400" dirty="0"/>
              <a:t> </a:t>
            </a:r>
            <a:r>
              <a:rPr lang="en-US" sz="1400" dirty="0" err="1"/>
              <a:t>issue_date</a:t>
            </a:r>
            <a:r>
              <a:rPr lang="en-US" sz="1400" dirty="0"/>
              <a:t>.</a:t>
            </a:r>
          </a:p>
          <a:p>
            <a:pPr>
              <a:lnSpc>
                <a:spcPct val="108000"/>
              </a:lnSpc>
              <a:spcBef>
                <a:spcPts val="100"/>
              </a:spcBef>
              <a:spcAft>
                <a:spcPts val="800"/>
              </a:spcAft>
              <a:defRPr sz="1600" b="1">
                <a:solidFill>
                  <a:srgbClr val="F0AB48"/>
                </a:solidFill>
                <a:latin typeface="Arial"/>
              </a:defRPr>
            </a:pPr>
            <a:r>
              <a:rPr lang="en-US" sz="1400" dirty="0"/>
              <a:t>Hasil </a:t>
            </a:r>
            <a:r>
              <a:rPr lang="en-US" sz="1400" dirty="0" err="1"/>
              <a:t>pemeriksaan</a:t>
            </a:r>
            <a:endParaRPr lang="en-US" sz="1400" dirty="0"/>
          </a:p>
          <a:p>
            <a:pPr>
              <a:lnSpc>
                <a:spcPct val="108000"/>
              </a:lnSpc>
              <a:spcBef>
                <a:spcPts val="100"/>
              </a:spcBef>
              <a:spcAft>
                <a:spcPts val="400"/>
              </a:spcAft>
              <a:defRPr sz="1400" b="0">
                <a:solidFill>
                  <a:srgbClr val="EFF4F9"/>
                </a:solidFill>
                <a:latin typeface="Arial"/>
              </a:defRPr>
            </a:pPr>
            <a:r>
              <a:rPr lang="en-US" sz="1400" dirty="0"/>
              <a:t>38.576 baris dan 38.576 ID </a:t>
            </a:r>
            <a:r>
              <a:rPr lang="en-US" sz="1400" dirty="0" err="1"/>
              <a:t>unik</a:t>
            </a:r>
            <a:r>
              <a:rPr lang="en-US" sz="1400" dirty="0"/>
              <a:t>.</a:t>
            </a:r>
          </a:p>
          <a:p>
            <a:pPr>
              <a:lnSpc>
                <a:spcPct val="108000"/>
              </a:lnSpc>
              <a:spcBef>
                <a:spcPts val="100"/>
              </a:spcBef>
              <a:spcAft>
                <a:spcPts val="400"/>
              </a:spcAft>
              <a:defRPr sz="1400" b="0">
                <a:solidFill>
                  <a:srgbClr val="EFF4F9"/>
                </a:solidFill>
                <a:latin typeface="Arial"/>
              </a:defRPr>
            </a:pPr>
            <a:r>
              <a:rPr lang="en-US" sz="1400" dirty="0"/>
              <a:t>1.438 </a:t>
            </a:r>
            <a:r>
              <a:rPr lang="en-US" sz="1400" dirty="0" err="1"/>
              <a:t>nilai</a:t>
            </a:r>
            <a:r>
              <a:rPr lang="en-US" sz="1400" dirty="0"/>
              <a:t> </a:t>
            </a:r>
            <a:r>
              <a:rPr lang="en-US" sz="1400" dirty="0" err="1"/>
              <a:t>kosong</a:t>
            </a:r>
            <a:r>
              <a:rPr lang="en-US" sz="1400" dirty="0"/>
              <a:t> pada </a:t>
            </a:r>
            <a:r>
              <a:rPr lang="en-US" sz="1400" dirty="0" err="1"/>
              <a:t>emp_title</a:t>
            </a:r>
            <a:r>
              <a:rPr lang="en-US" sz="1400" dirty="0"/>
              <a:t> (3,73%).</a:t>
            </a:r>
          </a:p>
          <a:p>
            <a:pPr>
              <a:lnSpc>
                <a:spcPct val="108000"/>
              </a:lnSpc>
              <a:spcBef>
                <a:spcPts val="100"/>
              </a:spcBef>
              <a:spcAft>
                <a:spcPts val="400"/>
              </a:spcAft>
              <a:defRPr sz="1300" b="0">
                <a:solidFill>
                  <a:srgbClr val="CBD7E4"/>
                </a:solidFill>
                <a:latin typeface="Arial"/>
              </a:defRPr>
            </a:pPr>
            <a:r>
              <a:rPr lang="en-US" sz="1400" dirty="0"/>
              <a:t>Data </a:t>
            </a:r>
            <a:r>
              <a:rPr lang="en-US" sz="1400" dirty="0" err="1"/>
              <a:t>berakhir</a:t>
            </a:r>
            <a:r>
              <a:rPr lang="en-US" sz="1400" dirty="0"/>
              <a:t> pada 12 </a:t>
            </a:r>
            <a:r>
              <a:rPr lang="en-US" sz="1400" dirty="0" err="1"/>
              <a:t>Desember</a:t>
            </a:r>
            <a:r>
              <a:rPr lang="en-US" sz="1400" dirty="0"/>
              <a:t> 2021.</a:t>
            </a:r>
          </a:p>
        </p:txBody>
      </p:sp>
      <p:sp>
        <p:nvSpPr>
          <p:cNvPr id="11" name="Rounded Rectangle 10"/>
          <p:cNvSpPr/>
          <p:nvPr/>
        </p:nvSpPr>
        <p:spPr>
          <a:xfrm>
            <a:off x="6153912" y="1691640"/>
            <a:ext cx="5486400" cy="4343400"/>
          </a:xfrm>
          <a:prstGeom prst="roundRect">
            <a:avLst>
              <a:gd name="adj" fmla="val 45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53912" y="1691640"/>
            <a:ext cx="5486400" cy="365760"/>
          </a:xfrm>
          <a:prstGeom prst="rect">
            <a:avLst/>
          </a:prstGeom>
          <a:solidFill>
            <a:srgbClr val="1A2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55080" y="1773936"/>
            <a:ext cx="5212080" cy="153888"/>
          </a:xfrm>
          <a:prstGeom prst="rect">
            <a:avLst/>
          </a:prstGeom>
          <a:noFill/>
        </p:spPr>
        <p:txBody>
          <a:bodyPr wrap="square" lIns="0" tIns="0" rIns="0" bIns="0" anchor="t">
            <a:spAutoFit/>
          </a:bodyPr>
          <a:lstStyle/>
          <a:p>
            <a:pPr>
              <a:defRPr sz="1000" b="1">
                <a:solidFill>
                  <a:srgbClr val="31CDB1"/>
                </a:solidFill>
                <a:latin typeface="Arial"/>
              </a:defRPr>
            </a:pPr>
            <a:r>
              <a:rPr lang="en-US" dirty="0">
                <a:solidFill>
                  <a:schemeClr val="bg1"/>
                </a:solidFill>
              </a:rPr>
              <a:t>AGREGASI KPI &amp; STATUS PINJAMAN</a:t>
            </a:r>
          </a:p>
        </p:txBody>
      </p:sp>
      <p:sp>
        <p:nvSpPr>
          <p:cNvPr id="14" name="TextBox 13"/>
          <p:cNvSpPr txBox="1"/>
          <p:nvPr/>
        </p:nvSpPr>
        <p:spPr>
          <a:xfrm>
            <a:off x="6355080" y="2194560"/>
            <a:ext cx="5166360" cy="2692468"/>
          </a:xfrm>
          <a:prstGeom prst="rect">
            <a:avLst/>
          </a:prstGeom>
          <a:noFill/>
        </p:spPr>
        <p:txBody>
          <a:bodyPr wrap="square" lIns="0" tIns="0" rIns="0" bIns="0" anchor="t">
            <a:spAutoFit/>
          </a:bodyPr>
          <a:lstStyle/>
          <a:p>
            <a:pPr>
              <a:lnSpc>
                <a:spcPct val="108000"/>
              </a:lnSpc>
              <a:spcBef>
                <a:spcPts val="100"/>
              </a:spcBef>
              <a:spcAft>
                <a:spcPts val="800"/>
              </a:spcAft>
              <a:defRPr sz="1600" b="1">
                <a:solidFill>
                  <a:srgbClr val="31CDB1"/>
                </a:solidFill>
                <a:latin typeface="Arial"/>
              </a:defRPr>
            </a:pPr>
            <a:r>
              <a:rPr lang="en-US" sz="1400" dirty="0"/>
              <a:t>Yang </a:t>
            </a:r>
            <a:r>
              <a:rPr lang="en-US" sz="1400" dirty="0" err="1"/>
              <a:t>dianalisis</a:t>
            </a:r>
            <a:endParaRPr lang="en-US" sz="1400" dirty="0"/>
          </a:p>
          <a:p>
            <a:pPr>
              <a:lnSpc>
                <a:spcPct val="108000"/>
              </a:lnSpc>
              <a:spcBef>
                <a:spcPts val="100"/>
              </a:spcBef>
              <a:spcAft>
                <a:spcPts val="400"/>
              </a:spcAft>
              <a:defRPr sz="1400" b="0">
                <a:solidFill>
                  <a:srgbClr val="EFF4F9"/>
                </a:solidFill>
                <a:latin typeface="Arial"/>
              </a:defRPr>
            </a:pPr>
            <a:r>
              <a:rPr lang="en-US" sz="1400" dirty="0" err="1"/>
              <a:t>Jumlah</a:t>
            </a:r>
            <a:r>
              <a:rPr lang="en-US" sz="1400" dirty="0"/>
              <a:t> </a:t>
            </a:r>
            <a:r>
              <a:rPr lang="en-US" sz="1400" dirty="0" err="1"/>
              <a:t>aplikasi</a:t>
            </a:r>
            <a:r>
              <a:rPr lang="en-US" sz="1400" dirty="0"/>
              <a:t> dan total funded amount.</a:t>
            </a:r>
          </a:p>
          <a:p>
            <a:pPr>
              <a:lnSpc>
                <a:spcPct val="108000"/>
              </a:lnSpc>
              <a:spcBef>
                <a:spcPts val="100"/>
              </a:spcBef>
              <a:spcAft>
                <a:spcPts val="400"/>
              </a:spcAft>
              <a:defRPr sz="1400" b="0">
                <a:solidFill>
                  <a:srgbClr val="EFF4F9"/>
                </a:solidFill>
                <a:latin typeface="Arial"/>
              </a:defRPr>
            </a:pPr>
            <a:r>
              <a:rPr lang="en-US" sz="1400" dirty="0"/>
              <a:t>Total </a:t>
            </a:r>
            <a:r>
              <a:rPr lang="en-US" sz="1400" dirty="0" err="1"/>
              <a:t>pembayaran</a:t>
            </a:r>
            <a:r>
              <a:rPr lang="en-US" sz="1400" dirty="0"/>
              <a:t> yang </a:t>
            </a:r>
            <a:r>
              <a:rPr lang="en-US" sz="1400" dirty="0" err="1"/>
              <a:t>tercatat</a:t>
            </a:r>
            <a:r>
              <a:rPr lang="en-US" sz="1400" dirty="0"/>
              <a:t> (</a:t>
            </a:r>
            <a:r>
              <a:rPr lang="en-US" sz="1400" dirty="0" err="1"/>
              <a:t>total_payment</a:t>
            </a:r>
            <a:r>
              <a:rPr lang="en-US" sz="1400" dirty="0"/>
              <a:t>).</a:t>
            </a:r>
          </a:p>
          <a:p>
            <a:pPr>
              <a:lnSpc>
                <a:spcPct val="108000"/>
              </a:lnSpc>
              <a:spcBef>
                <a:spcPts val="100"/>
              </a:spcBef>
              <a:spcAft>
                <a:spcPts val="400"/>
              </a:spcAft>
              <a:defRPr sz="1400" b="0">
                <a:solidFill>
                  <a:srgbClr val="EFF4F9"/>
                </a:solidFill>
                <a:latin typeface="Arial"/>
              </a:defRPr>
            </a:pPr>
            <a:r>
              <a:rPr lang="en-US" sz="1400" dirty="0"/>
              <a:t>Rata-rata </a:t>
            </a:r>
            <a:r>
              <a:rPr lang="en-US" sz="1400" dirty="0" err="1"/>
              <a:t>suku</a:t>
            </a:r>
            <a:r>
              <a:rPr lang="en-US" sz="1400" dirty="0"/>
              <a:t> bunga dan DTI.</a:t>
            </a:r>
          </a:p>
          <a:p>
            <a:pPr>
              <a:lnSpc>
                <a:spcPct val="108000"/>
              </a:lnSpc>
              <a:spcBef>
                <a:spcPts val="100"/>
              </a:spcBef>
              <a:spcAft>
                <a:spcPts val="400"/>
              </a:spcAft>
              <a:defRPr sz="1400" b="0">
                <a:solidFill>
                  <a:srgbClr val="EFF4F9"/>
                </a:solidFill>
                <a:latin typeface="Arial"/>
              </a:defRPr>
            </a:pPr>
            <a:r>
              <a:rPr lang="en-US" sz="1400" dirty="0" err="1"/>
              <a:t>Perbandingan</a:t>
            </a:r>
            <a:r>
              <a:rPr lang="en-US" sz="1400" dirty="0"/>
              <a:t> </a:t>
            </a:r>
            <a:r>
              <a:rPr lang="en-US" sz="1400" dirty="0" err="1"/>
              <a:t>berdasarkan</a:t>
            </a:r>
            <a:r>
              <a:rPr lang="en-US" sz="1400" dirty="0"/>
              <a:t> </a:t>
            </a:r>
            <a:r>
              <a:rPr lang="en-US" sz="1400" dirty="0" err="1"/>
              <a:t>loan_status</a:t>
            </a:r>
            <a:r>
              <a:rPr lang="en-US" sz="1400" dirty="0"/>
              <a:t>.</a:t>
            </a:r>
          </a:p>
          <a:p>
            <a:pPr>
              <a:lnSpc>
                <a:spcPct val="108000"/>
              </a:lnSpc>
              <a:spcBef>
                <a:spcPts val="100"/>
              </a:spcBef>
              <a:spcAft>
                <a:spcPts val="800"/>
              </a:spcAft>
              <a:defRPr sz="1600" b="1">
                <a:solidFill>
                  <a:srgbClr val="F0AB48"/>
                </a:solidFill>
                <a:latin typeface="Arial"/>
              </a:defRPr>
            </a:pPr>
            <a:r>
              <a:rPr lang="en-US" sz="1400" dirty="0" err="1"/>
              <a:t>Temuan</a:t>
            </a:r>
            <a:r>
              <a:rPr lang="en-US" sz="1400" dirty="0"/>
              <a:t> </a:t>
            </a:r>
            <a:r>
              <a:rPr lang="en-US" sz="1400" dirty="0" err="1"/>
              <a:t>utama</a:t>
            </a:r>
            <a:endParaRPr lang="en-US" sz="1400" dirty="0"/>
          </a:p>
          <a:p>
            <a:pPr>
              <a:lnSpc>
                <a:spcPct val="108000"/>
              </a:lnSpc>
              <a:spcBef>
                <a:spcPts val="100"/>
              </a:spcBef>
              <a:spcAft>
                <a:spcPts val="400"/>
              </a:spcAft>
              <a:defRPr sz="1400" b="0">
                <a:solidFill>
                  <a:srgbClr val="EFF4F9"/>
                </a:solidFill>
                <a:latin typeface="Arial"/>
              </a:defRPr>
            </a:pPr>
            <a:r>
              <a:rPr lang="en-US" sz="1400" dirty="0"/>
              <a:t>33.243 Good Loan (86,18%).</a:t>
            </a:r>
          </a:p>
          <a:p>
            <a:pPr>
              <a:lnSpc>
                <a:spcPct val="108000"/>
              </a:lnSpc>
              <a:spcBef>
                <a:spcPts val="100"/>
              </a:spcBef>
              <a:spcAft>
                <a:spcPts val="400"/>
              </a:spcAft>
              <a:defRPr sz="1400" b="0">
                <a:solidFill>
                  <a:srgbClr val="EFF4F9"/>
                </a:solidFill>
                <a:latin typeface="Arial"/>
              </a:defRPr>
            </a:pPr>
            <a:r>
              <a:rPr lang="en-US" sz="1400" dirty="0"/>
              <a:t>5.333 Bad Loan (13,82%).</a:t>
            </a:r>
          </a:p>
          <a:p>
            <a:pPr>
              <a:lnSpc>
                <a:spcPct val="108000"/>
              </a:lnSpc>
              <a:spcBef>
                <a:spcPts val="100"/>
              </a:spcBef>
              <a:spcAft>
                <a:spcPts val="400"/>
              </a:spcAft>
              <a:defRPr sz="1200" b="0">
                <a:solidFill>
                  <a:srgbClr val="CBD7E4"/>
                </a:solidFill>
                <a:latin typeface="Arial"/>
              </a:defRPr>
            </a:pPr>
            <a:r>
              <a:rPr lang="en-US" sz="1400" dirty="0"/>
              <a:t>Good Loan = Fully Paid + Current; Bad Loan = Charged Off.</a:t>
            </a:r>
          </a:p>
        </p:txBody>
      </p:sp>
      <p:sp>
        <p:nvSpPr>
          <p:cNvPr id="16" name="TextBox 15"/>
          <p:cNvSpPr txBox="1"/>
          <p:nvPr/>
        </p:nvSpPr>
        <p:spPr>
          <a:xfrm>
            <a:off x="548640" y="6565392"/>
            <a:ext cx="6400800" cy="201168"/>
          </a:xfrm>
          <a:prstGeom prst="rect">
            <a:avLst/>
          </a:prstGeom>
          <a:noFill/>
        </p:spPr>
        <p:txBody>
          <a:bodyPr wrap="square" lIns="0" tIns="0" rIns="0" bIns="0" anchor="t">
            <a:spAutoFit/>
          </a:bodyPr>
          <a:lstStyle/>
          <a:p>
            <a:pPr algn="l">
              <a:lnSpc>
                <a:spcPct val="112000"/>
              </a:lnSpc>
              <a:spcAft>
                <a:spcPts val="300"/>
              </a:spcAft>
            </a:pPr>
            <a:r>
              <a:rPr sz="800" b="0" i="0">
                <a:solidFill>
                  <a:srgbClr val="94A3B8"/>
                </a:solidFill>
                <a:latin typeface="Arial"/>
              </a:rPr>
              <a:t>LAPORAN PINJAMAN BANK  •  PORTOFOLIO ANALIS DATA</a:t>
            </a: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spAutoFit/>
          </a:bodyPr>
          <a:lstStyle/>
          <a:p>
            <a:pPr>
              <a:spcBef>
                <a:spcPts val="0"/>
              </a:spcBef>
              <a:spcAft>
                <a:spcPts val="0"/>
              </a:spcAft>
              <a:defRPr sz="2800" b="1">
                <a:solidFill>
                  <a:srgbClr val="132A45"/>
                </a:solidFill>
                <a:latin typeface="Aptos Display"/>
              </a:defRPr>
            </a:pPr>
            <a:r>
              <a:rPr>
                <a:latin typeface="Arial"/>
              </a:rPr>
              <a:t>BANK LOAN REPORT | SUMMARY</a:t>
            </a:r>
          </a:p>
        </p:txBody>
      </p:sp>
      <p:sp>
        <p:nvSpPr>
          <p:cNvPr id="5" name="TextBox 4"/>
          <p:cNvSpPr txBox="1"/>
          <p:nvPr/>
        </p:nvSpPr>
        <p:spPr>
          <a:xfrm>
            <a:off x="749808" y="1115568"/>
            <a:ext cx="10972800" cy="292608"/>
          </a:xfrm>
          <a:prstGeom prst="rect">
            <a:avLst/>
          </a:prstGeom>
          <a:noFill/>
        </p:spPr>
        <p:txBody>
          <a:bodyPr wrap="square" lIns="0" tIns="0" rIns="0" bIns="0">
            <a:spAutoFit/>
          </a:bodyPr>
          <a:lstStyle/>
          <a:p>
            <a:pPr>
              <a:spcBef>
                <a:spcPts val="0"/>
              </a:spcBef>
              <a:spcAft>
                <a:spcPts val="0"/>
              </a:spcAft>
              <a:defRPr sz="1200" b="0">
                <a:solidFill>
                  <a:srgbClr val="5B6F88"/>
                </a:solidFill>
                <a:latin typeface="Aptos"/>
              </a:defRPr>
            </a:pPr>
            <a:r>
              <a:rPr>
                <a:latin typeface="Arial"/>
              </a:rPr>
              <a:t>Kartu KPI pada dashboard Summary, termasuk nilai MTD dan MoM yang ditampilkan di Power BI.</a:t>
            </a:r>
          </a:p>
        </p:txBody>
      </p:sp>
      <p:sp>
        <p:nvSpPr>
          <p:cNvPr id="6" name="Rectangle 5"/>
          <p:cNvSpPr/>
          <p:nvPr/>
        </p:nvSpPr>
        <p:spPr>
          <a:xfrm>
            <a:off x="548640" y="1444752"/>
            <a:ext cx="11091672" cy="18288"/>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6400800" cy="201168"/>
          </a:xfrm>
          <a:prstGeom prst="rect">
            <a:avLst/>
          </a:prstGeom>
          <a:noFill/>
        </p:spPr>
        <p:txBody>
          <a:bodyPr wrap="square" lIns="0" tIns="0" rIns="0" bIns="0">
            <a:spAutoFit/>
          </a:bodyPr>
          <a:lstStyle/>
          <a:p>
            <a:pPr>
              <a:spcBef>
                <a:spcPts val="0"/>
              </a:spcBef>
              <a:spcAft>
                <a:spcPts val="0"/>
              </a:spcAft>
              <a:defRPr sz="800" b="0">
                <a:solidFill>
                  <a:srgbClr val="8294A8"/>
                </a:solidFill>
                <a:latin typeface="Aptos"/>
              </a:defRPr>
            </a:pPr>
            <a:r>
              <a:rPr>
                <a:latin typeface="Arial"/>
              </a:rPr>
              <a:t>LAPORAN PINJAMAN BANK  •  PORTOFOLIO ANALIS DATA</a:t>
            </a:r>
          </a:p>
        </p:txBody>
      </p:sp>
      <p:pic>
        <p:nvPicPr>
          <p:cNvPr id="9" name="Picture 8" descr="pbi_kpi_row_crop.png"/>
          <p:cNvPicPr>
            <a:picLocks noChangeAspect="1"/>
          </p:cNvPicPr>
          <p:nvPr/>
        </p:nvPicPr>
        <p:blipFill>
          <a:blip r:embed="rId3"/>
          <a:stretch>
            <a:fillRect/>
          </a:stretch>
        </p:blipFill>
        <p:spPr>
          <a:xfrm>
            <a:off x="621792" y="1920240"/>
            <a:ext cx="10972800" cy="1272058"/>
          </a:xfrm>
          <a:prstGeom prst="rect">
            <a:avLst/>
          </a:prstGeom>
        </p:spPr>
      </p:pic>
      <p:sp>
        <p:nvSpPr>
          <p:cNvPr id="10" name="TextBox 9"/>
          <p:cNvSpPr txBox="1"/>
          <p:nvPr/>
        </p:nvSpPr>
        <p:spPr>
          <a:xfrm>
            <a:off x="749808" y="3703320"/>
            <a:ext cx="10789920" cy="320040"/>
          </a:xfrm>
          <a:prstGeom prst="rect">
            <a:avLst/>
          </a:prstGeom>
          <a:noFill/>
        </p:spPr>
        <p:txBody>
          <a:bodyPr wrap="square" lIns="18288" tIns="18288" rIns="18288" bIns="18288">
            <a:spAutoFit/>
          </a:bodyPr>
          <a:lstStyle/>
          <a:p>
            <a:pPr>
              <a:spcBef>
                <a:spcPts val="0"/>
              </a:spcBef>
              <a:spcAft>
                <a:spcPts val="0"/>
              </a:spcAft>
              <a:defRPr sz="1800" b="1" i="0">
                <a:solidFill>
                  <a:srgbClr val="122A44"/>
                </a:solidFill>
                <a:latin typeface="Aptos"/>
              </a:defRPr>
            </a:pPr>
            <a:r>
              <a:rPr lang="en-US" dirty="0" err="1">
                <a:latin typeface="Arial"/>
              </a:rPr>
              <a:t>Penjelasan</a:t>
            </a:r>
            <a:r>
              <a:rPr lang="en-US" dirty="0">
                <a:latin typeface="Arial"/>
              </a:rPr>
              <a:t> </a:t>
            </a:r>
            <a:r>
              <a:rPr lang="en-US">
                <a:latin typeface="Arial"/>
              </a:rPr>
              <a:t>KPI Dashboard</a:t>
            </a:r>
            <a:endParaRPr dirty="0">
              <a:latin typeface="Arial"/>
            </a:endParaRPr>
          </a:p>
        </p:txBody>
      </p:sp>
      <p:sp>
        <p:nvSpPr>
          <p:cNvPr id="11" name="TextBox 10"/>
          <p:cNvSpPr txBox="1"/>
          <p:nvPr/>
        </p:nvSpPr>
        <p:spPr>
          <a:xfrm>
            <a:off x="749808" y="4096512"/>
            <a:ext cx="10789920" cy="1143000"/>
          </a:xfrm>
          <a:prstGeom prst="rect">
            <a:avLst/>
          </a:prstGeom>
          <a:noFill/>
        </p:spPr>
        <p:txBody>
          <a:bodyPr wrap="square" lIns="18288" tIns="18288" rIns="18288" bIns="18288">
            <a:spAutoFit/>
          </a:bodyPr>
          <a:lstStyle/>
          <a:p>
            <a:pPr>
              <a:spcBef>
                <a:spcPts val="0"/>
              </a:spcBef>
              <a:spcAft>
                <a:spcPts val="0"/>
              </a:spcAft>
              <a:defRPr sz="1500" b="0" i="0">
                <a:solidFill>
                  <a:srgbClr val="364658"/>
                </a:solidFill>
                <a:latin typeface="Aptos"/>
              </a:defRPr>
            </a:pPr>
            <a:r>
              <a:rPr>
                <a:latin typeface="Arial"/>
              </a:rPr>
              <a:t>MTD berarti Month-to-Date, sedangkan MoM berarti Month-over-Month. Nilai MTD yang ditampilkan adalah untuk Desember sampai 12 Desember 2021. Karena Desember belum lengkap, perbandingan MoM dengan November penuh hanya bersifat indikatif. Total Amount Received adalah pembayaran yang tercatat, bukan laba bersih bank.</a:t>
            </a: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spAutoFit/>
          </a:bodyPr>
          <a:lstStyle/>
          <a:p>
            <a:pPr>
              <a:spcBef>
                <a:spcPts val="0"/>
              </a:spcBef>
              <a:spcAft>
                <a:spcPts val="0"/>
              </a:spcAft>
              <a:defRPr sz="2800" b="1">
                <a:solidFill>
                  <a:srgbClr val="132A45"/>
                </a:solidFill>
                <a:latin typeface="Aptos Display"/>
              </a:defRPr>
            </a:pPr>
            <a:r>
              <a:rPr>
                <a:latin typeface="Arial"/>
              </a:rPr>
              <a:t>Loan Status</a:t>
            </a:r>
          </a:p>
        </p:txBody>
      </p:sp>
      <p:sp>
        <p:nvSpPr>
          <p:cNvPr id="5" name="TextBox 4"/>
          <p:cNvSpPr txBox="1"/>
          <p:nvPr/>
        </p:nvSpPr>
        <p:spPr>
          <a:xfrm>
            <a:off x="749808" y="1115568"/>
            <a:ext cx="10972800" cy="292608"/>
          </a:xfrm>
          <a:prstGeom prst="rect">
            <a:avLst/>
          </a:prstGeom>
          <a:noFill/>
        </p:spPr>
        <p:txBody>
          <a:bodyPr wrap="square" lIns="0" tIns="0" rIns="0" bIns="0">
            <a:spAutoFit/>
          </a:bodyPr>
          <a:lstStyle/>
          <a:p>
            <a:pPr>
              <a:spcBef>
                <a:spcPts val="0"/>
              </a:spcBef>
              <a:spcAft>
                <a:spcPts val="0"/>
              </a:spcAft>
              <a:defRPr sz="1200" b="0">
                <a:solidFill>
                  <a:srgbClr val="5B6F88"/>
                </a:solidFill>
                <a:latin typeface="Aptos"/>
              </a:defRPr>
            </a:pPr>
            <a:r>
              <a:rPr>
                <a:latin typeface="Arial"/>
              </a:rPr>
              <a:t>Perbandingan Good Loan Issued dan Bad Loan Issued serta rincian status pinjaman, termasuk kolom MTD.</a:t>
            </a:r>
          </a:p>
        </p:txBody>
      </p:sp>
      <p:sp>
        <p:nvSpPr>
          <p:cNvPr id="6" name="Rectangle 5"/>
          <p:cNvSpPr/>
          <p:nvPr/>
        </p:nvSpPr>
        <p:spPr>
          <a:xfrm>
            <a:off x="548640" y="1444752"/>
            <a:ext cx="11091672" cy="18288"/>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6400800" cy="201168"/>
          </a:xfrm>
          <a:prstGeom prst="rect">
            <a:avLst/>
          </a:prstGeom>
          <a:noFill/>
        </p:spPr>
        <p:txBody>
          <a:bodyPr wrap="square" lIns="0" tIns="0" rIns="0" bIns="0">
            <a:spAutoFit/>
          </a:bodyPr>
          <a:lstStyle/>
          <a:p>
            <a:pPr>
              <a:spcBef>
                <a:spcPts val="0"/>
              </a:spcBef>
              <a:spcAft>
                <a:spcPts val="0"/>
              </a:spcAft>
              <a:defRPr sz="800" b="0">
                <a:solidFill>
                  <a:srgbClr val="8294A8"/>
                </a:solidFill>
                <a:latin typeface="Aptos"/>
              </a:defRPr>
            </a:pPr>
            <a:r>
              <a:rPr>
                <a:latin typeface="Arial"/>
              </a:rPr>
              <a:t>LAPORAN PINJAMAN BANK  •  PORTOFOLIO ANALIS DATA</a:t>
            </a:r>
          </a:p>
        </p:txBody>
      </p:sp>
      <p:pic>
        <p:nvPicPr>
          <p:cNvPr id="9" name="Picture 8" descr="pbi_status_dashboard_crop.png"/>
          <p:cNvPicPr>
            <a:picLocks noChangeAspect="1"/>
          </p:cNvPicPr>
          <p:nvPr/>
        </p:nvPicPr>
        <p:blipFill>
          <a:blip r:embed="rId3"/>
          <a:stretch>
            <a:fillRect/>
          </a:stretch>
        </p:blipFill>
        <p:spPr>
          <a:xfrm>
            <a:off x="621792" y="1737360"/>
            <a:ext cx="10972800" cy="4289601"/>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spAutoFit/>
          </a:bodyPr>
          <a:lstStyle/>
          <a:p>
            <a:pPr>
              <a:spcBef>
                <a:spcPts val="0"/>
              </a:spcBef>
              <a:spcAft>
                <a:spcPts val="0"/>
              </a:spcAft>
              <a:defRPr sz="2800" b="1">
                <a:solidFill>
                  <a:srgbClr val="132A45"/>
                </a:solidFill>
                <a:latin typeface="Aptos Display"/>
              </a:defRPr>
            </a:pPr>
            <a:r>
              <a:rPr>
                <a:latin typeface="Arial"/>
              </a:rPr>
              <a:t>Total Loan Application by Purpose</a:t>
            </a:r>
          </a:p>
        </p:txBody>
      </p:sp>
      <p:sp>
        <p:nvSpPr>
          <p:cNvPr id="5" name="TextBox 4"/>
          <p:cNvSpPr txBox="1"/>
          <p:nvPr/>
        </p:nvSpPr>
        <p:spPr>
          <a:xfrm>
            <a:off x="749808" y="1115568"/>
            <a:ext cx="10972800" cy="292608"/>
          </a:xfrm>
          <a:prstGeom prst="rect">
            <a:avLst/>
          </a:prstGeom>
          <a:noFill/>
        </p:spPr>
        <p:txBody>
          <a:bodyPr wrap="square" lIns="0" tIns="0" rIns="0" bIns="0">
            <a:spAutoFit/>
          </a:bodyPr>
          <a:lstStyle/>
          <a:p>
            <a:pPr>
              <a:spcBef>
                <a:spcPts val="0"/>
              </a:spcBef>
              <a:spcAft>
                <a:spcPts val="0"/>
              </a:spcAft>
              <a:defRPr sz="1200" b="0">
                <a:solidFill>
                  <a:srgbClr val="5B6F88"/>
                </a:solidFill>
                <a:latin typeface="Aptos"/>
              </a:defRPr>
            </a:pPr>
            <a:r>
              <a:rPr>
                <a:latin typeface="Arial"/>
              </a:rPr>
              <a:t>Jumlah pengajuan berdasarkan tujuan pinjaman. Debt consolidation merupakan kategori dengan jumlah aplikasi tertinggi.</a:t>
            </a:r>
          </a:p>
        </p:txBody>
      </p:sp>
      <p:sp>
        <p:nvSpPr>
          <p:cNvPr id="6" name="Rectangle 5"/>
          <p:cNvSpPr/>
          <p:nvPr/>
        </p:nvSpPr>
        <p:spPr>
          <a:xfrm>
            <a:off x="548640" y="1444752"/>
            <a:ext cx="11091672" cy="18288"/>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6400800" cy="201168"/>
          </a:xfrm>
          <a:prstGeom prst="rect">
            <a:avLst/>
          </a:prstGeom>
          <a:noFill/>
        </p:spPr>
        <p:txBody>
          <a:bodyPr wrap="square" lIns="0" tIns="0" rIns="0" bIns="0">
            <a:spAutoFit/>
          </a:bodyPr>
          <a:lstStyle/>
          <a:p>
            <a:pPr>
              <a:spcBef>
                <a:spcPts val="0"/>
              </a:spcBef>
              <a:spcAft>
                <a:spcPts val="0"/>
              </a:spcAft>
              <a:defRPr sz="800" b="0">
                <a:solidFill>
                  <a:srgbClr val="8294A8"/>
                </a:solidFill>
                <a:latin typeface="Aptos"/>
              </a:defRPr>
            </a:pPr>
            <a:r>
              <a:rPr>
                <a:latin typeface="Arial"/>
              </a:rPr>
              <a:t>LAPORAN PINJAMAN BANK  •  PORTOFOLIO ANALIS DATA</a:t>
            </a:r>
          </a:p>
        </p:txBody>
      </p:sp>
      <p:pic>
        <p:nvPicPr>
          <p:cNvPr id="9" name="Picture 8" descr="pbi_purpose_chart_crop.png"/>
          <p:cNvPicPr>
            <a:picLocks noChangeAspect="1"/>
          </p:cNvPicPr>
          <p:nvPr/>
        </p:nvPicPr>
        <p:blipFill>
          <a:blip r:embed="rId3"/>
          <a:stretch>
            <a:fillRect/>
          </a:stretch>
        </p:blipFill>
        <p:spPr>
          <a:xfrm>
            <a:off x="658368" y="1755648"/>
            <a:ext cx="5257800" cy="4398491"/>
          </a:xfrm>
          <a:prstGeom prst="rect">
            <a:avLst/>
          </a:prstGeom>
        </p:spPr>
      </p:pic>
      <p:sp>
        <p:nvSpPr>
          <p:cNvPr id="10" name="TextBox 9"/>
          <p:cNvSpPr txBox="1"/>
          <p:nvPr/>
        </p:nvSpPr>
        <p:spPr>
          <a:xfrm>
            <a:off x="6199632" y="2011680"/>
            <a:ext cx="5074920" cy="384048"/>
          </a:xfrm>
          <a:prstGeom prst="rect">
            <a:avLst/>
          </a:prstGeom>
          <a:noFill/>
        </p:spPr>
        <p:txBody>
          <a:bodyPr wrap="square" lIns="18288" tIns="18288" rIns="18288" bIns="18288">
            <a:spAutoFit/>
          </a:bodyPr>
          <a:lstStyle/>
          <a:p>
            <a:pPr>
              <a:spcBef>
                <a:spcPts val="0"/>
              </a:spcBef>
              <a:spcAft>
                <a:spcPts val="0"/>
              </a:spcAft>
              <a:defRPr sz="2000" b="1" i="0">
                <a:solidFill>
                  <a:srgbClr val="122A44"/>
                </a:solidFill>
                <a:latin typeface="Aptos"/>
              </a:defRPr>
            </a:pPr>
            <a:r>
              <a:rPr>
                <a:latin typeface="Arial"/>
              </a:rPr>
              <a:t>Temuan utama</a:t>
            </a:r>
          </a:p>
        </p:txBody>
      </p:sp>
      <p:sp>
        <p:nvSpPr>
          <p:cNvPr id="11" name="TextBox 10"/>
          <p:cNvSpPr txBox="1"/>
          <p:nvPr/>
        </p:nvSpPr>
        <p:spPr>
          <a:xfrm>
            <a:off x="6199632" y="2542032"/>
            <a:ext cx="5074920" cy="1115568"/>
          </a:xfrm>
          <a:prstGeom prst="rect">
            <a:avLst/>
          </a:prstGeom>
          <a:noFill/>
        </p:spPr>
        <p:txBody>
          <a:bodyPr wrap="square" lIns="18288" tIns="18288" rIns="18288" bIns="18288">
            <a:spAutoFit/>
          </a:bodyPr>
          <a:lstStyle/>
          <a:p>
            <a:pPr>
              <a:spcBef>
                <a:spcPts val="0"/>
              </a:spcBef>
              <a:spcAft>
                <a:spcPts val="0"/>
              </a:spcAft>
              <a:defRPr sz="1600" b="0" i="0">
                <a:solidFill>
                  <a:srgbClr val="364658"/>
                </a:solidFill>
                <a:latin typeface="Aptos"/>
              </a:defRPr>
            </a:pPr>
            <a:r>
              <a:rPr>
                <a:latin typeface="Arial"/>
              </a:rPr>
              <a:t>Debt consolidation merupakan kategori tujuan pinjaman terbanyak, dengan sekitar 18,2 ribu aplikasi. Gambar di sebelah kiri adalah visual asli Power BI dan memuat kategori yang tampil di dashboard.</a:t>
            </a:r>
          </a:p>
        </p:txBody>
      </p:sp>
      <p:sp>
        <p:nvSpPr>
          <p:cNvPr id="12" name="TextBox 11"/>
          <p:cNvSpPr txBox="1"/>
          <p:nvPr/>
        </p:nvSpPr>
        <p:spPr>
          <a:xfrm>
            <a:off x="6199632" y="4023360"/>
            <a:ext cx="5074920" cy="384048"/>
          </a:xfrm>
          <a:prstGeom prst="rect">
            <a:avLst/>
          </a:prstGeom>
          <a:noFill/>
        </p:spPr>
        <p:txBody>
          <a:bodyPr wrap="square" lIns="18288" tIns="18288" rIns="18288" bIns="18288">
            <a:spAutoFit/>
          </a:bodyPr>
          <a:lstStyle/>
          <a:p>
            <a:pPr>
              <a:spcBef>
                <a:spcPts val="0"/>
              </a:spcBef>
              <a:spcAft>
                <a:spcPts val="0"/>
              </a:spcAft>
              <a:defRPr sz="2000" b="1" i="0">
                <a:solidFill>
                  <a:srgbClr val="122A44"/>
                </a:solidFill>
                <a:latin typeface="Aptos"/>
              </a:defRPr>
            </a:pPr>
            <a:r>
              <a:rPr>
                <a:latin typeface="Arial"/>
              </a:rPr>
              <a:t>Interpretasi</a:t>
            </a:r>
          </a:p>
        </p:txBody>
      </p:sp>
      <p:sp>
        <p:nvSpPr>
          <p:cNvPr id="13" name="TextBox 12"/>
          <p:cNvSpPr txBox="1"/>
          <p:nvPr/>
        </p:nvSpPr>
        <p:spPr>
          <a:xfrm>
            <a:off x="6199632" y="4526280"/>
            <a:ext cx="5074920" cy="1051560"/>
          </a:xfrm>
          <a:prstGeom prst="rect">
            <a:avLst/>
          </a:prstGeom>
          <a:noFill/>
        </p:spPr>
        <p:txBody>
          <a:bodyPr wrap="square" lIns="18288" tIns="18288" rIns="18288" bIns="18288">
            <a:spAutoFit/>
          </a:bodyPr>
          <a:lstStyle/>
          <a:p>
            <a:pPr>
              <a:spcBef>
                <a:spcPts val="0"/>
              </a:spcBef>
              <a:spcAft>
                <a:spcPts val="0"/>
              </a:spcAft>
              <a:defRPr sz="1600" b="0" i="0">
                <a:solidFill>
                  <a:srgbClr val="364658"/>
                </a:solidFill>
                <a:latin typeface="Aptos"/>
              </a:defRPr>
            </a:pPr>
            <a:r>
              <a:rPr>
                <a:latin typeface="Arial"/>
              </a:rPr>
              <a:t>Jumlah aplikasi yang tinggi saja tidak membuktikan risiko gagal bayar lebih tinggi atau keuntungan lebih besar. Komposisi status dan rata-rata nilai pinjaman perlu diperiksa sebelum membuat rekomendasi risiko.</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spAutoFit/>
          </a:bodyPr>
          <a:lstStyle/>
          <a:p>
            <a:pPr>
              <a:spcBef>
                <a:spcPts val="0"/>
              </a:spcBef>
              <a:spcAft>
                <a:spcPts val="0"/>
              </a:spcAft>
              <a:defRPr sz="2800" b="1">
                <a:solidFill>
                  <a:srgbClr val="132A45"/>
                </a:solidFill>
                <a:latin typeface="Aptos Display"/>
              </a:defRPr>
            </a:pPr>
            <a:r>
              <a:rPr>
                <a:latin typeface="Arial"/>
              </a:rPr>
              <a:t>Total Loan Application by Month</a:t>
            </a:r>
          </a:p>
        </p:txBody>
      </p:sp>
      <p:sp>
        <p:nvSpPr>
          <p:cNvPr id="5" name="TextBox 4"/>
          <p:cNvSpPr txBox="1"/>
          <p:nvPr/>
        </p:nvSpPr>
        <p:spPr>
          <a:xfrm>
            <a:off x="749808" y="1115568"/>
            <a:ext cx="10972800" cy="292608"/>
          </a:xfrm>
          <a:prstGeom prst="rect">
            <a:avLst/>
          </a:prstGeom>
          <a:noFill/>
        </p:spPr>
        <p:txBody>
          <a:bodyPr wrap="square" lIns="0" tIns="0" rIns="0" bIns="0">
            <a:spAutoFit/>
          </a:bodyPr>
          <a:lstStyle/>
          <a:p>
            <a:pPr>
              <a:spcBef>
                <a:spcPts val="0"/>
              </a:spcBef>
              <a:spcAft>
                <a:spcPts val="0"/>
              </a:spcAft>
              <a:defRPr sz="1200" b="0">
                <a:solidFill>
                  <a:srgbClr val="5B6F88"/>
                </a:solidFill>
                <a:latin typeface="Aptos"/>
              </a:defRPr>
            </a:pPr>
            <a:r>
              <a:rPr>
                <a:latin typeface="Arial"/>
              </a:rPr>
              <a:t>Tren pengajuan berdasarkan issue_date. Data Desember belum mencakup satu bulan penuh karena dataset berakhir pada 12 Desember 2021.</a:t>
            </a:r>
          </a:p>
        </p:txBody>
      </p:sp>
      <p:sp>
        <p:nvSpPr>
          <p:cNvPr id="6" name="Rectangle 5"/>
          <p:cNvSpPr/>
          <p:nvPr/>
        </p:nvSpPr>
        <p:spPr>
          <a:xfrm>
            <a:off x="548640" y="1444752"/>
            <a:ext cx="11091672" cy="18288"/>
          </a:xfrm>
          <a:prstGeom prst="rect">
            <a:avLst/>
          </a:prstGeom>
          <a:solidFill>
            <a:srgbClr val="DCE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6400800" cy="201168"/>
          </a:xfrm>
          <a:prstGeom prst="rect">
            <a:avLst/>
          </a:prstGeom>
          <a:noFill/>
        </p:spPr>
        <p:txBody>
          <a:bodyPr wrap="square" lIns="0" tIns="0" rIns="0" bIns="0">
            <a:spAutoFit/>
          </a:bodyPr>
          <a:lstStyle/>
          <a:p>
            <a:pPr>
              <a:spcBef>
                <a:spcPts val="0"/>
              </a:spcBef>
              <a:spcAft>
                <a:spcPts val="0"/>
              </a:spcAft>
              <a:defRPr sz="800" b="0">
                <a:solidFill>
                  <a:srgbClr val="8294A8"/>
                </a:solidFill>
                <a:latin typeface="Aptos"/>
              </a:defRPr>
            </a:pPr>
            <a:r>
              <a:rPr>
                <a:latin typeface="Arial"/>
              </a:rPr>
              <a:t>LAPORAN PINJAMAN BANK  •  PORTOFOLIO ANALIS DATA</a:t>
            </a:r>
          </a:p>
        </p:txBody>
      </p:sp>
      <p:pic>
        <p:nvPicPr>
          <p:cNvPr id="9" name="Picture 8" descr="pbi_month_trend_crop.png"/>
          <p:cNvPicPr>
            <a:picLocks noChangeAspect="1"/>
          </p:cNvPicPr>
          <p:nvPr/>
        </p:nvPicPr>
        <p:blipFill>
          <a:blip r:embed="rId3"/>
          <a:stretch>
            <a:fillRect/>
          </a:stretch>
        </p:blipFill>
        <p:spPr>
          <a:xfrm>
            <a:off x="658368" y="1847088"/>
            <a:ext cx="6583680" cy="3830183"/>
          </a:xfrm>
          <a:prstGeom prst="rect">
            <a:avLst/>
          </a:prstGeom>
        </p:spPr>
      </p:pic>
      <p:sp>
        <p:nvSpPr>
          <p:cNvPr id="10" name="TextBox 9"/>
          <p:cNvSpPr txBox="1"/>
          <p:nvPr/>
        </p:nvSpPr>
        <p:spPr>
          <a:xfrm>
            <a:off x="7516368" y="2084831"/>
            <a:ext cx="3886200" cy="502920"/>
          </a:xfrm>
          <a:prstGeom prst="rect">
            <a:avLst/>
          </a:prstGeom>
          <a:noFill/>
        </p:spPr>
        <p:txBody>
          <a:bodyPr wrap="square" lIns="18288" tIns="18288" rIns="18288" bIns="18288">
            <a:spAutoFit/>
          </a:bodyPr>
          <a:lstStyle/>
          <a:p>
            <a:pPr>
              <a:spcBef>
                <a:spcPts val="0"/>
              </a:spcBef>
              <a:spcAft>
                <a:spcPts val="0"/>
              </a:spcAft>
              <a:defRPr sz="2000" b="1" i="0">
                <a:solidFill>
                  <a:srgbClr val="122A44"/>
                </a:solidFill>
                <a:latin typeface="Aptos"/>
              </a:defRPr>
            </a:pPr>
            <a:r>
              <a:rPr>
                <a:latin typeface="Arial"/>
              </a:rPr>
              <a:t>Desember belum lengkap</a:t>
            </a:r>
          </a:p>
        </p:txBody>
      </p:sp>
      <p:sp>
        <p:nvSpPr>
          <p:cNvPr id="11" name="TextBox 10"/>
          <p:cNvSpPr txBox="1"/>
          <p:nvPr/>
        </p:nvSpPr>
        <p:spPr>
          <a:xfrm>
            <a:off x="7516368" y="2724912"/>
            <a:ext cx="3886200" cy="1645920"/>
          </a:xfrm>
          <a:prstGeom prst="rect">
            <a:avLst/>
          </a:prstGeom>
          <a:noFill/>
        </p:spPr>
        <p:txBody>
          <a:bodyPr wrap="square" lIns="18288" tIns="18288" rIns="18288" bIns="18288">
            <a:spAutoFit/>
          </a:bodyPr>
          <a:lstStyle/>
          <a:p>
            <a:pPr>
              <a:spcBef>
                <a:spcPts val="0"/>
              </a:spcBef>
              <a:spcAft>
                <a:spcPts val="0"/>
              </a:spcAft>
              <a:defRPr sz="1500" b="0" i="0">
                <a:solidFill>
                  <a:srgbClr val="364658"/>
                </a:solidFill>
                <a:latin typeface="Aptos"/>
              </a:defRPr>
            </a:pPr>
            <a:r>
              <a:rPr>
                <a:latin typeface="Arial"/>
              </a:rPr>
              <a:t>Dashboard mencatat 4,3 ribu aplikasi pada Desember, tetapi dataset berakhir pada 12 Desember 2021. Angka Desember belum mencakup satu bulan penuh, sehingga tidak bisa dibandingkan langsung dengan bulan penuh.</a:t>
            </a:r>
          </a:p>
        </p:txBody>
      </p:sp>
      <p:sp>
        <p:nvSpPr>
          <p:cNvPr id="12" name="TextBox 11"/>
          <p:cNvSpPr txBox="1"/>
          <p:nvPr/>
        </p:nvSpPr>
        <p:spPr>
          <a:xfrm>
            <a:off x="7516368" y="4709160"/>
            <a:ext cx="3886200" cy="731520"/>
          </a:xfrm>
          <a:prstGeom prst="rect">
            <a:avLst/>
          </a:prstGeom>
          <a:noFill/>
        </p:spPr>
        <p:txBody>
          <a:bodyPr wrap="square" lIns="18288" tIns="18288" rIns="18288" bIns="18288">
            <a:spAutoFit/>
          </a:bodyPr>
          <a:lstStyle/>
          <a:p>
            <a:pPr>
              <a:spcBef>
                <a:spcPts val="0"/>
              </a:spcBef>
              <a:spcAft>
                <a:spcPts val="0"/>
              </a:spcAft>
              <a:defRPr sz="1200" b="0" i="1">
                <a:solidFill>
                  <a:srgbClr val="5B6F88"/>
                </a:solidFill>
                <a:latin typeface="Aptos"/>
              </a:defRPr>
            </a:pPr>
            <a:r>
              <a:rPr>
                <a:latin typeface="Arial"/>
              </a:rPr>
              <a:t>Grafik di sebelah kiri adalah potongan dari dashboard Power BI Overview asli; garis, warna, label, dan sumbunya tidak digambar ulang.</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extBox 1"/>
          <p:cNvSpPr txBox="1"/>
          <p:nvPr/>
        </p:nvSpPr>
        <p:spPr>
          <a:xfrm>
            <a:off x="548640" y="1463040"/>
            <a:ext cx="5486400" cy="1140953"/>
          </a:xfrm>
          <a:prstGeom prst="rect">
            <a:avLst/>
          </a:prstGeom>
          <a:noFill/>
        </p:spPr>
        <p:txBody>
          <a:bodyPr wrap="square" lIns="0" tIns="0" rIns="0" bIns="0" anchor="t">
            <a:spAutoFit/>
          </a:bodyPr>
          <a:lstStyle/>
          <a:p>
            <a:pPr algn="l">
              <a:lnSpc>
                <a:spcPct val="112000"/>
              </a:lnSpc>
              <a:spcAft>
                <a:spcPts val="300"/>
              </a:spcAft>
            </a:pPr>
            <a:r>
              <a:rPr sz="7200" b="1" i="0">
                <a:solidFill>
                  <a:schemeClr val="bg1"/>
                </a:solidFill>
                <a:latin typeface="Arial"/>
              </a:rPr>
              <a:t>04</a:t>
            </a:r>
          </a:p>
        </p:txBody>
      </p:sp>
      <p:sp>
        <p:nvSpPr>
          <p:cNvPr id="3" name="Rectangle 2"/>
          <p:cNvSpPr/>
          <p:nvPr/>
        </p:nvSpPr>
        <p:spPr>
          <a:xfrm>
            <a:off x="640080" y="3657600"/>
            <a:ext cx="822960" cy="548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86200"/>
            <a:ext cx="10058400" cy="640080"/>
          </a:xfrm>
          <a:prstGeom prst="rect">
            <a:avLst/>
          </a:prstGeom>
          <a:noFill/>
        </p:spPr>
        <p:txBody>
          <a:bodyPr wrap="square" lIns="0" tIns="0" rIns="0" bIns="0" anchor="t">
            <a:spAutoFit/>
          </a:bodyPr>
          <a:lstStyle/>
          <a:p>
            <a:pPr algn="l">
              <a:lnSpc>
                <a:spcPct val="112000"/>
              </a:lnSpc>
              <a:spcAft>
                <a:spcPts val="300"/>
              </a:spcAft>
            </a:pPr>
            <a:r>
              <a:rPr sz="3600" b="1" i="0">
                <a:solidFill>
                  <a:srgbClr val="FFFFFF"/>
                </a:solidFill>
                <a:latin typeface="Arial"/>
              </a:rPr>
              <a:t>Dashboard Power BI</a:t>
            </a:r>
          </a:p>
        </p:txBody>
      </p:sp>
      <p:sp>
        <p:nvSpPr>
          <p:cNvPr id="5" name="TextBox 4"/>
          <p:cNvSpPr txBox="1"/>
          <p:nvPr/>
        </p:nvSpPr>
        <p:spPr>
          <a:xfrm>
            <a:off x="640080" y="4617720"/>
            <a:ext cx="10058400" cy="221856"/>
          </a:xfrm>
          <a:prstGeom prst="rect">
            <a:avLst/>
          </a:prstGeom>
          <a:noFill/>
        </p:spPr>
        <p:txBody>
          <a:bodyPr wrap="square" lIns="0" tIns="0" rIns="0" bIns="0" anchor="t">
            <a:spAutoFit/>
          </a:bodyPr>
          <a:lstStyle/>
          <a:p>
            <a:pPr algn="l">
              <a:lnSpc>
                <a:spcPct val="112000"/>
              </a:lnSpc>
              <a:spcAft>
                <a:spcPts val="300"/>
              </a:spcAft>
            </a:pPr>
            <a:r>
              <a:rPr sz="1400" b="0" i="0" dirty="0">
                <a:solidFill>
                  <a:schemeClr val="bg1"/>
                </a:solidFill>
                <a:latin typeface="Arial"/>
              </a:rPr>
              <a:t>Halaman Summary dan Overview </a:t>
            </a:r>
            <a:r>
              <a:rPr sz="1400" b="0" i="0" dirty="0" err="1">
                <a:solidFill>
                  <a:schemeClr val="bg1"/>
                </a:solidFill>
                <a:latin typeface="Arial"/>
              </a:rPr>
              <a:t>menyajikan</a:t>
            </a:r>
            <a:r>
              <a:rPr sz="1400" b="0" i="0" dirty="0">
                <a:solidFill>
                  <a:schemeClr val="bg1"/>
                </a:solidFill>
                <a:latin typeface="Arial"/>
              </a:rPr>
              <a:t> </a:t>
            </a:r>
            <a:r>
              <a:rPr sz="1400" b="0" i="0" dirty="0" err="1">
                <a:solidFill>
                  <a:schemeClr val="bg1"/>
                </a:solidFill>
                <a:latin typeface="Arial"/>
              </a:rPr>
              <a:t>hasil</a:t>
            </a:r>
            <a:r>
              <a:rPr sz="1400" b="0" i="0" dirty="0">
                <a:solidFill>
                  <a:schemeClr val="bg1"/>
                </a:solidFill>
                <a:latin typeface="Arial"/>
              </a:rPr>
              <a:t> </a:t>
            </a:r>
            <a:r>
              <a:rPr sz="1400" b="0" i="0" dirty="0" err="1">
                <a:solidFill>
                  <a:schemeClr val="bg1"/>
                </a:solidFill>
                <a:latin typeface="Arial"/>
              </a:rPr>
              <a:t>analisis</a:t>
            </a:r>
            <a:r>
              <a:rPr sz="1400" b="0" i="0" dirty="0">
                <a:solidFill>
                  <a:schemeClr val="bg1"/>
                </a:solidFill>
                <a:latin typeface="Arial"/>
              </a:rPr>
              <a:t> </a:t>
            </a:r>
            <a:r>
              <a:rPr sz="1400" b="0" i="0" dirty="0" err="1">
                <a:solidFill>
                  <a:schemeClr val="bg1"/>
                </a:solidFill>
                <a:latin typeface="Arial"/>
              </a:rPr>
              <a:t>dalam</a:t>
            </a:r>
            <a:r>
              <a:rPr sz="1400" b="0" i="0" dirty="0">
                <a:solidFill>
                  <a:schemeClr val="bg1"/>
                </a:solidFill>
                <a:latin typeface="Arial"/>
              </a:rPr>
              <a:t> dashboard </a:t>
            </a:r>
            <a:r>
              <a:rPr sz="1400" b="0" i="0" dirty="0" err="1">
                <a:solidFill>
                  <a:schemeClr val="bg1"/>
                </a:solidFill>
                <a:latin typeface="Arial"/>
              </a:rPr>
              <a:t>interaktif</a:t>
            </a:r>
            <a:r>
              <a:rPr sz="1400" b="0" i="0" dirty="0">
                <a:solidFill>
                  <a:schemeClr val="bg1"/>
                </a:solidFill>
                <a:latin typeface="Arial"/>
              </a:rPr>
              <a:t>.</a:t>
            </a:r>
          </a:p>
        </p:txBody>
      </p:sp>
      <p:sp>
        <p:nvSpPr>
          <p:cNvPr id="6" name="TextBox 5"/>
          <p:cNvSpPr txBox="1"/>
          <p:nvPr/>
        </p:nvSpPr>
        <p:spPr>
          <a:xfrm>
            <a:off x="548640" y="6400800"/>
            <a:ext cx="7315200" cy="126766"/>
          </a:xfrm>
          <a:prstGeom prst="rect">
            <a:avLst/>
          </a:prstGeom>
          <a:noFill/>
        </p:spPr>
        <p:txBody>
          <a:bodyPr wrap="square" lIns="0" tIns="0" rIns="0" bIns="0" anchor="t">
            <a:spAutoFit/>
          </a:bodyPr>
          <a:lstStyle/>
          <a:p>
            <a:pPr algn="l">
              <a:lnSpc>
                <a:spcPct val="112000"/>
              </a:lnSpc>
              <a:spcAft>
                <a:spcPts val="300"/>
              </a:spcAft>
            </a:pPr>
            <a:r>
              <a:rPr sz="800" b="0" i="0" dirty="0">
                <a:solidFill>
                  <a:schemeClr val="bg1"/>
                </a:solidFill>
                <a:latin typeface="Arial"/>
              </a:rPr>
              <a:t>LAPORAN PINJAMAN BANK  •  PORTOFOLIO ANALIS DATA</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extBox 1"/>
          <p:cNvSpPr txBox="1"/>
          <p:nvPr/>
        </p:nvSpPr>
        <p:spPr>
          <a:xfrm>
            <a:off x="548640" y="1463040"/>
            <a:ext cx="5486400" cy="1140953"/>
          </a:xfrm>
          <a:prstGeom prst="rect">
            <a:avLst/>
          </a:prstGeom>
          <a:noFill/>
        </p:spPr>
        <p:txBody>
          <a:bodyPr wrap="square" lIns="0" tIns="0" rIns="0" bIns="0" anchor="t">
            <a:spAutoFit/>
          </a:bodyPr>
          <a:lstStyle/>
          <a:p>
            <a:pPr algn="l">
              <a:lnSpc>
                <a:spcPct val="112000"/>
              </a:lnSpc>
              <a:spcAft>
                <a:spcPts val="300"/>
              </a:spcAft>
            </a:pPr>
            <a:r>
              <a:rPr sz="7200" b="1" i="0" dirty="0">
                <a:solidFill>
                  <a:schemeClr val="bg1"/>
                </a:solidFill>
                <a:latin typeface="Arial"/>
              </a:rPr>
              <a:t>05</a:t>
            </a:r>
          </a:p>
        </p:txBody>
      </p:sp>
      <p:sp>
        <p:nvSpPr>
          <p:cNvPr id="3" name="Rectangle 2"/>
          <p:cNvSpPr/>
          <p:nvPr/>
        </p:nvSpPr>
        <p:spPr>
          <a:xfrm>
            <a:off x="640080" y="3657600"/>
            <a:ext cx="822960" cy="548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3886200"/>
            <a:ext cx="10058400" cy="640080"/>
          </a:xfrm>
          <a:prstGeom prst="rect">
            <a:avLst/>
          </a:prstGeom>
          <a:noFill/>
        </p:spPr>
        <p:txBody>
          <a:bodyPr wrap="square" lIns="0" tIns="0" rIns="0" bIns="0" anchor="t">
            <a:spAutoFit/>
          </a:bodyPr>
          <a:lstStyle/>
          <a:p>
            <a:pPr algn="l">
              <a:lnSpc>
                <a:spcPct val="112000"/>
              </a:lnSpc>
              <a:spcAft>
                <a:spcPts val="300"/>
              </a:spcAft>
            </a:pPr>
            <a:r>
              <a:rPr sz="3600" b="1" i="0">
                <a:solidFill>
                  <a:srgbClr val="FFFFFF"/>
                </a:solidFill>
                <a:latin typeface="Arial"/>
              </a:rPr>
              <a:t>Kesimpulan &amp; Langkah Berikutnya</a:t>
            </a:r>
          </a:p>
        </p:txBody>
      </p:sp>
      <p:sp>
        <p:nvSpPr>
          <p:cNvPr id="5" name="TextBox 4"/>
          <p:cNvSpPr txBox="1"/>
          <p:nvPr/>
        </p:nvSpPr>
        <p:spPr>
          <a:xfrm>
            <a:off x="640080" y="4617720"/>
            <a:ext cx="10058400" cy="221856"/>
          </a:xfrm>
          <a:prstGeom prst="rect">
            <a:avLst/>
          </a:prstGeom>
          <a:noFill/>
        </p:spPr>
        <p:txBody>
          <a:bodyPr wrap="square" lIns="0" tIns="0" rIns="0" bIns="0" anchor="t">
            <a:spAutoFit/>
          </a:bodyPr>
          <a:lstStyle/>
          <a:p>
            <a:pPr algn="l">
              <a:lnSpc>
                <a:spcPct val="112000"/>
              </a:lnSpc>
              <a:spcAft>
                <a:spcPts val="300"/>
              </a:spcAft>
            </a:pPr>
            <a:r>
              <a:rPr sz="1400" b="0" i="0" dirty="0" err="1">
                <a:solidFill>
                  <a:schemeClr val="bg1"/>
                </a:solidFill>
                <a:latin typeface="Arial"/>
              </a:rPr>
              <a:t>Rekomendasi</a:t>
            </a:r>
            <a:r>
              <a:rPr sz="1400" b="0" i="0" dirty="0">
                <a:solidFill>
                  <a:schemeClr val="bg1"/>
                </a:solidFill>
                <a:latin typeface="Arial"/>
              </a:rPr>
              <a:t>, </a:t>
            </a:r>
            <a:r>
              <a:rPr sz="1400" b="0" i="0" dirty="0" err="1">
                <a:solidFill>
                  <a:schemeClr val="bg1"/>
                </a:solidFill>
                <a:latin typeface="Arial"/>
              </a:rPr>
              <a:t>keterbatasan</a:t>
            </a:r>
            <a:r>
              <a:rPr sz="1400" b="0" i="0" dirty="0">
                <a:solidFill>
                  <a:schemeClr val="bg1"/>
                </a:solidFill>
                <a:latin typeface="Arial"/>
              </a:rPr>
              <a:t>, dan </a:t>
            </a:r>
            <a:r>
              <a:rPr sz="1400" b="0" i="0" dirty="0" err="1">
                <a:solidFill>
                  <a:schemeClr val="bg1"/>
                </a:solidFill>
                <a:latin typeface="Arial"/>
              </a:rPr>
              <a:t>aset</a:t>
            </a:r>
            <a:r>
              <a:rPr sz="1400" b="0" i="0" dirty="0">
                <a:solidFill>
                  <a:schemeClr val="bg1"/>
                </a:solidFill>
                <a:latin typeface="Arial"/>
              </a:rPr>
              <a:t> </a:t>
            </a:r>
            <a:r>
              <a:rPr sz="1400" b="0" i="0" dirty="0" err="1">
                <a:solidFill>
                  <a:schemeClr val="bg1"/>
                </a:solidFill>
                <a:latin typeface="Arial"/>
              </a:rPr>
              <a:t>portofolio</a:t>
            </a:r>
            <a:r>
              <a:rPr sz="1400" b="0" i="0" dirty="0">
                <a:solidFill>
                  <a:schemeClr val="bg1"/>
                </a:solidFill>
                <a:latin typeface="Arial"/>
              </a:rPr>
              <a:t> yang </a:t>
            </a:r>
            <a:r>
              <a:rPr sz="1400" b="0" i="0" dirty="0" err="1">
                <a:solidFill>
                  <a:schemeClr val="bg1"/>
                </a:solidFill>
                <a:latin typeface="Arial"/>
              </a:rPr>
              <a:t>dipublikasikan</a:t>
            </a:r>
            <a:r>
              <a:rPr sz="1400" b="0" i="0" dirty="0">
                <a:solidFill>
                  <a:schemeClr val="bg1"/>
                </a:solidFill>
                <a:latin typeface="Arial"/>
              </a:rPr>
              <a:t>.</a:t>
            </a:r>
          </a:p>
        </p:txBody>
      </p:sp>
      <p:sp>
        <p:nvSpPr>
          <p:cNvPr id="6" name="TextBox 5"/>
          <p:cNvSpPr txBox="1"/>
          <p:nvPr/>
        </p:nvSpPr>
        <p:spPr>
          <a:xfrm>
            <a:off x="548640" y="6400800"/>
            <a:ext cx="7315200" cy="126766"/>
          </a:xfrm>
          <a:prstGeom prst="rect">
            <a:avLst/>
          </a:prstGeom>
          <a:noFill/>
        </p:spPr>
        <p:txBody>
          <a:bodyPr wrap="square" lIns="0" tIns="0" rIns="0" bIns="0" anchor="t">
            <a:spAutoFit/>
          </a:bodyPr>
          <a:lstStyle/>
          <a:p>
            <a:pPr algn="l">
              <a:lnSpc>
                <a:spcPct val="112000"/>
              </a:lnSpc>
              <a:spcAft>
                <a:spcPts val="300"/>
              </a:spcAft>
            </a:pPr>
            <a:r>
              <a:rPr sz="800" b="0" i="0" dirty="0">
                <a:solidFill>
                  <a:schemeClr val="bg1"/>
                </a:solidFill>
                <a:latin typeface="Arial"/>
              </a:rPr>
              <a:t>LAPORAN PINJAMAN BANK  •  PORTOFOLIO ANALIS DATA</a:t>
            </a:r>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nchor="t">
            <a:spAutoFit/>
          </a:bodyPr>
          <a:lstStyle/>
          <a:p>
            <a:pPr algn="l">
              <a:lnSpc>
                <a:spcPct val="112000"/>
              </a:lnSpc>
              <a:spcAft>
                <a:spcPts val="300"/>
              </a:spcAft>
            </a:pPr>
            <a:r>
              <a:rPr sz="2800" b="1" i="0">
                <a:solidFill>
                  <a:srgbClr val="0F1E33"/>
                </a:solidFill>
                <a:latin typeface="Arial"/>
              </a:rPr>
              <a:t>Apa yang Perlu Diperiksa Selanjutnya?</a:t>
            </a:r>
          </a:p>
        </p:txBody>
      </p:sp>
      <p:sp>
        <p:nvSpPr>
          <p:cNvPr id="5" name="TextBox 4"/>
          <p:cNvSpPr txBox="1"/>
          <p:nvPr/>
        </p:nvSpPr>
        <p:spPr>
          <a:xfrm>
            <a:off x="749808" y="1115568"/>
            <a:ext cx="10972800" cy="274320"/>
          </a:xfrm>
          <a:prstGeom prst="rect">
            <a:avLst/>
          </a:prstGeom>
          <a:noFill/>
        </p:spPr>
        <p:txBody>
          <a:bodyPr wrap="square" lIns="0" tIns="0" rIns="0" bIns="0" anchor="t">
            <a:spAutoFit/>
          </a:bodyPr>
          <a:lstStyle/>
          <a:p>
            <a:pPr algn="l">
              <a:lnSpc>
                <a:spcPct val="112000"/>
              </a:lnSpc>
              <a:spcAft>
                <a:spcPts val="300"/>
              </a:spcAft>
            </a:pPr>
            <a:r>
              <a:rPr sz="1200" b="0" i="0">
                <a:solidFill>
                  <a:srgbClr val="5A6B82"/>
                </a:solidFill>
                <a:latin typeface="Arial"/>
              </a:rPr>
              <a:t>Rekomendasi awal berdasarkan temuan deskriptif.</a:t>
            </a:r>
          </a:p>
        </p:txBody>
      </p:sp>
      <p:sp>
        <p:nvSpPr>
          <p:cNvPr id="6" name="Rectangle 5"/>
          <p:cNvSpPr/>
          <p:nvPr/>
        </p:nvSpPr>
        <p:spPr>
          <a:xfrm>
            <a:off x="548640" y="1444752"/>
            <a:ext cx="11091672" cy="15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91640"/>
            <a:ext cx="5458968" cy="1874519"/>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04672" y="1920240"/>
            <a:ext cx="457200" cy="457200"/>
          </a:xfrm>
          <a:prstGeom prst="ellipse">
            <a:avLst/>
          </a:prstGeom>
          <a:solidFill>
            <a:srgbClr val="FEF2F2"/>
          </a:solidFill>
          <a:ln w="15240">
            <a:solidFill>
              <a:srgbClr val="B91C1C"/>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B91C1C"/>
                </a:solidFill>
                <a:latin typeface="Arial"/>
              </a:rPr>
              <a:t>1</a:t>
            </a:r>
          </a:p>
        </p:txBody>
      </p:sp>
      <p:sp>
        <p:nvSpPr>
          <p:cNvPr id="9" name="TextBox 8"/>
          <p:cNvSpPr txBox="1"/>
          <p:nvPr/>
        </p:nvSpPr>
        <p:spPr>
          <a:xfrm>
            <a:off x="1417320" y="1965960"/>
            <a:ext cx="4361688" cy="365760"/>
          </a:xfrm>
          <a:prstGeom prst="rect">
            <a:avLst/>
          </a:prstGeom>
          <a:noFill/>
        </p:spPr>
        <p:txBody>
          <a:bodyPr wrap="square" lIns="0" tIns="0" rIns="0" bIns="0" anchor="t">
            <a:spAutoFit/>
          </a:bodyPr>
          <a:lstStyle/>
          <a:p>
            <a:pPr algn="l">
              <a:lnSpc>
                <a:spcPct val="112000"/>
              </a:lnSpc>
              <a:spcAft>
                <a:spcPts val="300"/>
              </a:spcAft>
            </a:pPr>
            <a:r>
              <a:rPr sz="1400" b="1" i="0">
                <a:solidFill>
                  <a:srgbClr val="0F1E33"/>
                </a:solidFill>
                <a:latin typeface="Arial"/>
              </a:rPr>
              <a:t>Periksa Status Charged Off</a:t>
            </a:r>
          </a:p>
        </p:txBody>
      </p:sp>
      <p:sp>
        <p:nvSpPr>
          <p:cNvPr id="10" name="TextBox 9"/>
          <p:cNvSpPr txBox="1"/>
          <p:nvPr/>
        </p:nvSpPr>
        <p:spPr>
          <a:xfrm>
            <a:off x="804672" y="2560320"/>
            <a:ext cx="4956048" cy="914400"/>
          </a:xfrm>
          <a:prstGeom prst="rect">
            <a:avLst/>
          </a:prstGeom>
          <a:noFill/>
        </p:spPr>
        <p:txBody>
          <a:bodyPr wrap="square" lIns="0" tIns="0" rIns="0" bIns="0" anchor="t">
            <a:spAutoFit/>
          </a:bodyPr>
          <a:lstStyle/>
          <a:p>
            <a:pPr algn="l">
              <a:lnSpc>
                <a:spcPct val="125000"/>
              </a:lnSpc>
              <a:spcAft>
                <a:spcPts val="300"/>
              </a:spcAft>
            </a:pPr>
            <a:r>
              <a:rPr sz="1000" b="0" i="0">
                <a:solidFill>
                  <a:srgbClr val="5A6B82"/>
                </a:solidFill>
                <a:latin typeface="Arial"/>
              </a:rPr>
              <a:t>Bandingkan status ini berdasarkan grade/sub-grade, tenor, suku bunga, dan DTI untuk menentukan segmen yang perlu ditinjau lebih lanjut.</a:t>
            </a:r>
          </a:p>
        </p:txBody>
      </p:sp>
      <p:sp>
        <p:nvSpPr>
          <p:cNvPr id="11" name="Rounded Rectangle 10"/>
          <p:cNvSpPr/>
          <p:nvPr/>
        </p:nvSpPr>
        <p:spPr>
          <a:xfrm>
            <a:off x="6181344" y="1691640"/>
            <a:ext cx="5458968" cy="1874519"/>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437376" y="1920240"/>
            <a:ext cx="457200" cy="457200"/>
          </a:xfrm>
          <a:prstGeom prst="ellipse">
            <a:avLst/>
          </a:prstGeom>
          <a:solidFill>
            <a:srgbClr val="FFF7ED"/>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B45309"/>
                </a:solidFill>
                <a:latin typeface="Arial"/>
              </a:rPr>
              <a:t>2</a:t>
            </a:r>
          </a:p>
        </p:txBody>
      </p:sp>
      <p:sp>
        <p:nvSpPr>
          <p:cNvPr id="13" name="TextBox 12"/>
          <p:cNvSpPr txBox="1"/>
          <p:nvPr/>
        </p:nvSpPr>
        <p:spPr>
          <a:xfrm>
            <a:off x="7050024" y="1965960"/>
            <a:ext cx="4361688" cy="365760"/>
          </a:xfrm>
          <a:prstGeom prst="rect">
            <a:avLst/>
          </a:prstGeom>
          <a:noFill/>
        </p:spPr>
        <p:txBody>
          <a:bodyPr wrap="square" lIns="0" tIns="0" rIns="0" bIns="0" anchor="t">
            <a:spAutoFit/>
          </a:bodyPr>
          <a:lstStyle/>
          <a:p>
            <a:pPr algn="l">
              <a:lnSpc>
                <a:spcPct val="112000"/>
              </a:lnSpc>
              <a:spcAft>
                <a:spcPts val="300"/>
              </a:spcAft>
            </a:pPr>
            <a:r>
              <a:rPr sz="1400" b="1" i="0">
                <a:solidFill>
                  <a:srgbClr val="0F1E33"/>
                </a:solidFill>
                <a:latin typeface="Arial"/>
              </a:rPr>
              <a:t>Tinjau Debt Consolidation</a:t>
            </a:r>
          </a:p>
        </p:txBody>
      </p:sp>
      <p:sp>
        <p:nvSpPr>
          <p:cNvPr id="14" name="TextBox 13"/>
          <p:cNvSpPr txBox="1"/>
          <p:nvPr/>
        </p:nvSpPr>
        <p:spPr>
          <a:xfrm>
            <a:off x="6437376" y="2560320"/>
            <a:ext cx="4956048" cy="914400"/>
          </a:xfrm>
          <a:prstGeom prst="rect">
            <a:avLst/>
          </a:prstGeom>
          <a:noFill/>
        </p:spPr>
        <p:txBody>
          <a:bodyPr wrap="square" lIns="0" tIns="0" rIns="0" bIns="0" anchor="t">
            <a:spAutoFit/>
          </a:bodyPr>
          <a:lstStyle/>
          <a:p>
            <a:pPr algn="l">
              <a:lnSpc>
                <a:spcPct val="125000"/>
              </a:lnSpc>
              <a:spcAft>
                <a:spcPts val="300"/>
              </a:spcAft>
            </a:pPr>
            <a:r>
              <a:rPr sz="1000" b="0" i="0">
                <a:solidFill>
                  <a:srgbClr val="5A6B82"/>
                </a:solidFill>
                <a:latin typeface="Arial"/>
              </a:rPr>
              <a:t>Analisis proporsi Charged Off, rata-rata nilai pinjaman, dan karakteristik peminjam pada kelompok tujuan terbesar ini.</a:t>
            </a:r>
          </a:p>
        </p:txBody>
      </p:sp>
      <p:sp>
        <p:nvSpPr>
          <p:cNvPr id="15" name="Rounded Rectangle 14"/>
          <p:cNvSpPr/>
          <p:nvPr/>
        </p:nvSpPr>
        <p:spPr>
          <a:xfrm>
            <a:off x="548640" y="3749039"/>
            <a:ext cx="5458968" cy="1874519"/>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04672" y="3977639"/>
            <a:ext cx="457200" cy="457200"/>
          </a:xfrm>
          <a:prstGeom prst="ellipse">
            <a:avLst/>
          </a:prstGeom>
          <a:solidFill>
            <a:srgbClr val="EFF4FF"/>
          </a:solidFill>
          <a:ln w="15240">
            <a:solidFill>
              <a:srgbClr val="1E40A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1E40AF"/>
                </a:solidFill>
                <a:latin typeface="Arial"/>
              </a:rPr>
              <a:t>3</a:t>
            </a:r>
          </a:p>
        </p:txBody>
      </p:sp>
      <p:sp>
        <p:nvSpPr>
          <p:cNvPr id="17" name="TextBox 16"/>
          <p:cNvSpPr txBox="1"/>
          <p:nvPr/>
        </p:nvSpPr>
        <p:spPr>
          <a:xfrm>
            <a:off x="1417320" y="4023359"/>
            <a:ext cx="4361688" cy="365760"/>
          </a:xfrm>
          <a:prstGeom prst="rect">
            <a:avLst/>
          </a:prstGeom>
          <a:noFill/>
        </p:spPr>
        <p:txBody>
          <a:bodyPr wrap="square" lIns="0" tIns="0" rIns="0" bIns="0" anchor="t">
            <a:spAutoFit/>
          </a:bodyPr>
          <a:lstStyle/>
          <a:p>
            <a:pPr algn="l">
              <a:lnSpc>
                <a:spcPct val="112000"/>
              </a:lnSpc>
              <a:spcAft>
                <a:spcPts val="300"/>
              </a:spcAft>
            </a:pPr>
            <a:r>
              <a:rPr sz="1400" b="1" i="0">
                <a:solidFill>
                  <a:srgbClr val="0F1E33"/>
                </a:solidFill>
                <a:latin typeface="Arial"/>
              </a:rPr>
              <a:t>Perbaiki Pelaporan Tren</a:t>
            </a:r>
          </a:p>
        </p:txBody>
      </p:sp>
      <p:sp>
        <p:nvSpPr>
          <p:cNvPr id="18" name="TextBox 17"/>
          <p:cNvSpPr txBox="1"/>
          <p:nvPr/>
        </p:nvSpPr>
        <p:spPr>
          <a:xfrm>
            <a:off x="804672" y="4617719"/>
            <a:ext cx="4956048" cy="914400"/>
          </a:xfrm>
          <a:prstGeom prst="rect">
            <a:avLst/>
          </a:prstGeom>
          <a:noFill/>
        </p:spPr>
        <p:txBody>
          <a:bodyPr wrap="square" lIns="0" tIns="0" rIns="0" bIns="0" anchor="t">
            <a:spAutoFit/>
          </a:bodyPr>
          <a:lstStyle/>
          <a:p>
            <a:pPr algn="l">
              <a:lnSpc>
                <a:spcPct val="125000"/>
              </a:lnSpc>
              <a:spcAft>
                <a:spcPts val="300"/>
              </a:spcAft>
            </a:pPr>
            <a:r>
              <a:rPr sz="1000" b="0" i="0">
                <a:solidFill>
                  <a:srgbClr val="5A6B82"/>
                </a:solidFill>
                <a:latin typeface="Arial"/>
              </a:rPr>
              <a:t>Pastikan cakupan tanggal setiap bulan dan bandingkan periode yang setara. Data Desember belum lengkap.</a:t>
            </a:r>
          </a:p>
        </p:txBody>
      </p:sp>
      <p:sp>
        <p:nvSpPr>
          <p:cNvPr id="19" name="Rounded Rectangle 18"/>
          <p:cNvSpPr/>
          <p:nvPr/>
        </p:nvSpPr>
        <p:spPr>
          <a:xfrm>
            <a:off x="6181344" y="3749039"/>
            <a:ext cx="5458968" cy="1874519"/>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37376" y="3977639"/>
            <a:ext cx="457200" cy="457200"/>
          </a:xfrm>
          <a:prstGeom prst="ellipse">
            <a:avLst/>
          </a:prstGeom>
          <a:solidFill>
            <a:srgbClr val="ECFDF5"/>
          </a:solidFill>
          <a:ln w="15240">
            <a:solidFill>
              <a:srgbClr val="047857"/>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47857"/>
                </a:solidFill>
                <a:latin typeface="Arial"/>
              </a:rPr>
              <a:t>4</a:t>
            </a:r>
          </a:p>
        </p:txBody>
      </p:sp>
      <p:sp>
        <p:nvSpPr>
          <p:cNvPr id="21" name="TextBox 20"/>
          <p:cNvSpPr txBox="1"/>
          <p:nvPr/>
        </p:nvSpPr>
        <p:spPr>
          <a:xfrm>
            <a:off x="7050024" y="4023359"/>
            <a:ext cx="4361688" cy="365760"/>
          </a:xfrm>
          <a:prstGeom prst="rect">
            <a:avLst/>
          </a:prstGeom>
          <a:noFill/>
        </p:spPr>
        <p:txBody>
          <a:bodyPr wrap="square" lIns="0" tIns="0" rIns="0" bIns="0" anchor="t">
            <a:spAutoFit/>
          </a:bodyPr>
          <a:lstStyle/>
          <a:p>
            <a:pPr algn="l">
              <a:lnSpc>
                <a:spcPct val="112000"/>
              </a:lnSpc>
              <a:spcAft>
                <a:spcPts val="300"/>
              </a:spcAft>
            </a:pPr>
            <a:r>
              <a:rPr sz="1400" b="1" i="0">
                <a:solidFill>
                  <a:srgbClr val="0F1E33"/>
                </a:solidFill>
                <a:latin typeface="Arial"/>
              </a:rPr>
              <a:t>Pisahkan Tanggal Pinjaman dan Pembayaran</a:t>
            </a:r>
          </a:p>
        </p:txBody>
      </p:sp>
      <p:sp>
        <p:nvSpPr>
          <p:cNvPr id="22" name="TextBox 21"/>
          <p:cNvSpPr txBox="1"/>
          <p:nvPr/>
        </p:nvSpPr>
        <p:spPr>
          <a:xfrm>
            <a:off x="6437376" y="4617719"/>
            <a:ext cx="4956048" cy="914400"/>
          </a:xfrm>
          <a:prstGeom prst="rect">
            <a:avLst/>
          </a:prstGeom>
          <a:noFill/>
        </p:spPr>
        <p:txBody>
          <a:bodyPr wrap="square" lIns="0" tIns="0" rIns="0" bIns="0" anchor="t">
            <a:spAutoFit/>
          </a:bodyPr>
          <a:lstStyle/>
          <a:p>
            <a:pPr algn="l">
              <a:lnSpc>
                <a:spcPct val="125000"/>
              </a:lnSpc>
              <a:spcAft>
                <a:spcPts val="300"/>
              </a:spcAft>
            </a:pPr>
            <a:r>
              <a:rPr sz="1000" b="0" i="0">
                <a:solidFill>
                  <a:srgbClr val="5A6B82"/>
                </a:solidFill>
                <a:latin typeface="Arial"/>
              </a:rPr>
              <a:t>Untuk analisis arus kas, gunakan tanggal pembayaran yang sebenarnya jika tersedia. Mengelompokkan total_payment berdasarkan issue_date tidak menunjukkan pembayaran yang diterima pada bulan tersebut.</a:t>
            </a:r>
          </a:p>
        </p:txBody>
      </p:sp>
      <p:sp>
        <p:nvSpPr>
          <p:cNvPr id="23" name="Rounded Rectangle 22"/>
          <p:cNvSpPr/>
          <p:nvPr/>
        </p:nvSpPr>
        <p:spPr>
          <a:xfrm>
            <a:off x="548640" y="5715000"/>
            <a:ext cx="11091672" cy="640080"/>
          </a:xfrm>
          <a:prstGeom prst="roundRect">
            <a:avLst>
              <a:gd name="adj" fmla="val 4500"/>
            </a:avLst>
          </a:prstGeom>
          <a:solidFill>
            <a:srgbClr val="0F1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815584"/>
            <a:ext cx="10607040" cy="457200"/>
          </a:xfrm>
          <a:prstGeom prst="rect">
            <a:avLst/>
          </a:prstGeom>
          <a:noFill/>
        </p:spPr>
        <p:txBody>
          <a:bodyPr wrap="square" lIns="0" tIns="0" rIns="0" bIns="0" anchor="ctr">
            <a:spAutoFit/>
          </a:bodyPr>
          <a:lstStyle/>
          <a:p>
            <a:pPr algn="l">
              <a:lnSpc>
                <a:spcPct val="112000"/>
              </a:lnSpc>
              <a:spcAft>
                <a:spcPts val="300"/>
              </a:spcAft>
            </a:pPr>
            <a:r>
              <a:rPr sz="1000" b="1" i="0" dirty="0">
                <a:solidFill>
                  <a:srgbClr val="047857"/>
                </a:solidFill>
                <a:latin typeface="Arial"/>
              </a:rPr>
              <a:t>KESIMPULAN   </a:t>
            </a:r>
            <a:r>
              <a:rPr sz="1000" b="0" i="0" dirty="0">
                <a:solidFill>
                  <a:srgbClr val="E2E8F0"/>
                </a:solidFill>
                <a:latin typeface="Arial"/>
              </a:rPr>
              <a:t>Data </a:t>
            </a:r>
            <a:r>
              <a:rPr sz="1000" b="0" i="0" dirty="0" err="1">
                <a:solidFill>
                  <a:srgbClr val="E2E8F0"/>
                </a:solidFill>
                <a:latin typeface="Arial"/>
              </a:rPr>
              <a:t>menggambarkan</a:t>
            </a:r>
            <a:r>
              <a:rPr sz="1000" b="0" i="0" dirty="0">
                <a:solidFill>
                  <a:srgbClr val="E2E8F0"/>
                </a:solidFill>
                <a:latin typeface="Arial"/>
              </a:rPr>
              <a:t> </a:t>
            </a:r>
            <a:r>
              <a:rPr sz="1000" b="0" i="0" dirty="0" err="1">
                <a:solidFill>
                  <a:srgbClr val="E2E8F0"/>
                </a:solidFill>
                <a:latin typeface="Arial"/>
              </a:rPr>
              <a:t>ukuran</a:t>
            </a:r>
            <a:r>
              <a:rPr sz="1000" b="0" i="0" dirty="0">
                <a:solidFill>
                  <a:srgbClr val="E2E8F0"/>
                </a:solidFill>
                <a:latin typeface="Arial"/>
              </a:rPr>
              <a:t> </a:t>
            </a:r>
            <a:r>
              <a:rPr sz="1000" b="0" i="0" dirty="0" err="1">
                <a:solidFill>
                  <a:srgbClr val="E2E8F0"/>
                </a:solidFill>
                <a:latin typeface="Arial"/>
              </a:rPr>
              <a:t>portofolio</a:t>
            </a:r>
            <a:r>
              <a:rPr sz="1000" b="0" i="0" dirty="0">
                <a:solidFill>
                  <a:srgbClr val="E2E8F0"/>
                </a:solidFill>
                <a:latin typeface="Arial"/>
              </a:rPr>
              <a:t>, </a:t>
            </a:r>
            <a:r>
              <a:rPr sz="1000" b="0" i="0" dirty="0" err="1">
                <a:solidFill>
                  <a:srgbClr val="E2E8F0"/>
                </a:solidFill>
                <a:latin typeface="Arial"/>
              </a:rPr>
              <a:t>komposisi</a:t>
            </a:r>
            <a:r>
              <a:rPr sz="1000" b="0" i="0" dirty="0">
                <a:solidFill>
                  <a:srgbClr val="E2E8F0"/>
                </a:solidFill>
                <a:latin typeface="Arial"/>
              </a:rPr>
              <a:t> status </a:t>
            </a:r>
            <a:r>
              <a:rPr sz="1000" b="0" i="0" dirty="0" err="1">
                <a:solidFill>
                  <a:srgbClr val="E2E8F0"/>
                </a:solidFill>
                <a:latin typeface="Arial"/>
              </a:rPr>
              <a:t>pinjaman</a:t>
            </a:r>
            <a:r>
              <a:rPr sz="1000" b="0" i="0" dirty="0">
                <a:solidFill>
                  <a:srgbClr val="E2E8F0"/>
                </a:solidFill>
                <a:latin typeface="Arial"/>
              </a:rPr>
              <a:t>, dan </a:t>
            </a:r>
            <a:r>
              <a:rPr sz="1000" b="0" i="0" dirty="0" err="1">
                <a:solidFill>
                  <a:srgbClr val="E2E8F0"/>
                </a:solidFill>
                <a:latin typeface="Arial"/>
              </a:rPr>
              <a:t>tujuan</a:t>
            </a:r>
            <a:r>
              <a:rPr sz="1000" b="0" i="0" dirty="0">
                <a:solidFill>
                  <a:srgbClr val="E2E8F0"/>
                </a:solidFill>
                <a:latin typeface="Arial"/>
              </a:rPr>
              <a:t> </a:t>
            </a:r>
            <a:r>
              <a:rPr sz="1000" b="0" i="0" dirty="0" err="1">
                <a:solidFill>
                  <a:srgbClr val="E2E8F0"/>
                </a:solidFill>
                <a:latin typeface="Arial"/>
              </a:rPr>
              <a:t>pinjaman</a:t>
            </a:r>
            <a:r>
              <a:rPr sz="1000" b="0" i="0" dirty="0">
                <a:solidFill>
                  <a:srgbClr val="E2E8F0"/>
                </a:solidFill>
                <a:latin typeface="Arial"/>
              </a:rPr>
              <a:t> yang paling </a:t>
            </a:r>
            <a:r>
              <a:rPr sz="1000" b="0" i="0" dirty="0" err="1">
                <a:solidFill>
                  <a:srgbClr val="E2E8F0"/>
                </a:solidFill>
                <a:latin typeface="Arial"/>
              </a:rPr>
              <a:t>banyak</a:t>
            </a:r>
            <a:r>
              <a:rPr sz="1000" b="0" i="0" dirty="0">
                <a:solidFill>
                  <a:srgbClr val="E2E8F0"/>
                </a:solidFill>
                <a:latin typeface="Arial"/>
              </a:rPr>
              <a:t> </a:t>
            </a:r>
            <a:r>
              <a:rPr sz="1000" b="0" i="0" dirty="0" err="1">
                <a:solidFill>
                  <a:srgbClr val="E2E8F0"/>
                </a:solidFill>
                <a:latin typeface="Arial"/>
              </a:rPr>
              <a:t>muncul</a:t>
            </a:r>
            <a:r>
              <a:rPr sz="1000" b="0" i="0" dirty="0">
                <a:solidFill>
                  <a:srgbClr val="E2E8F0"/>
                </a:solidFill>
                <a:latin typeface="Arial"/>
              </a:rPr>
              <a:t>. </a:t>
            </a:r>
            <a:r>
              <a:rPr sz="1000" b="0" i="0" dirty="0" err="1">
                <a:solidFill>
                  <a:srgbClr val="E2E8F0"/>
                </a:solidFill>
                <a:latin typeface="Arial"/>
              </a:rPr>
              <a:t>Analisis</a:t>
            </a:r>
            <a:r>
              <a:rPr sz="1000" b="0" i="0" dirty="0">
                <a:solidFill>
                  <a:srgbClr val="E2E8F0"/>
                </a:solidFill>
                <a:latin typeface="Arial"/>
              </a:rPr>
              <a:t> </a:t>
            </a:r>
            <a:r>
              <a:rPr sz="1000" b="0" i="0" dirty="0" err="1">
                <a:solidFill>
                  <a:srgbClr val="E2E8F0"/>
                </a:solidFill>
                <a:latin typeface="Arial"/>
              </a:rPr>
              <a:t>lanjutan</a:t>
            </a:r>
            <a:r>
              <a:rPr sz="1000" b="0" i="0" dirty="0">
                <a:solidFill>
                  <a:srgbClr val="E2E8F0"/>
                </a:solidFill>
                <a:latin typeface="Arial"/>
              </a:rPr>
              <a:t> </a:t>
            </a:r>
            <a:r>
              <a:rPr sz="1000" b="0" i="0" dirty="0" err="1">
                <a:solidFill>
                  <a:srgbClr val="E2E8F0"/>
                </a:solidFill>
                <a:latin typeface="Arial"/>
              </a:rPr>
              <a:t>diperlukan</a:t>
            </a:r>
            <a:r>
              <a:rPr sz="1000" b="0" i="0" dirty="0">
                <a:solidFill>
                  <a:srgbClr val="E2E8F0"/>
                </a:solidFill>
                <a:latin typeface="Arial"/>
              </a:rPr>
              <a:t> </a:t>
            </a:r>
            <a:r>
              <a:rPr sz="1000" b="0" i="0" dirty="0" err="1">
                <a:solidFill>
                  <a:srgbClr val="E2E8F0"/>
                </a:solidFill>
                <a:latin typeface="Arial"/>
              </a:rPr>
              <a:t>sebelum</a:t>
            </a:r>
            <a:r>
              <a:rPr sz="1000" b="0" i="0" dirty="0">
                <a:solidFill>
                  <a:srgbClr val="E2E8F0"/>
                </a:solidFill>
                <a:latin typeface="Arial"/>
              </a:rPr>
              <a:t> </a:t>
            </a:r>
            <a:r>
              <a:rPr sz="1000" b="0" i="0" dirty="0" err="1">
                <a:solidFill>
                  <a:srgbClr val="E2E8F0"/>
                </a:solidFill>
                <a:latin typeface="Arial"/>
              </a:rPr>
              <a:t>menyimpulkan</a:t>
            </a:r>
            <a:r>
              <a:rPr sz="1000" b="0" i="0" dirty="0">
                <a:solidFill>
                  <a:srgbClr val="E2E8F0"/>
                </a:solidFill>
                <a:latin typeface="Arial"/>
              </a:rPr>
              <a:t> </a:t>
            </a:r>
            <a:r>
              <a:rPr sz="1000" b="0" i="0" dirty="0" err="1">
                <a:solidFill>
                  <a:srgbClr val="E2E8F0"/>
                </a:solidFill>
                <a:latin typeface="Arial"/>
              </a:rPr>
              <a:t>sebab-akibat</a:t>
            </a:r>
            <a:r>
              <a:rPr sz="1000" b="0" i="0" dirty="0">
                <a:solidFill>
                  <a:srgbClr val="E2E8F0"/>
                </a:solidFill>
                <a:latin typeface="Arial"/>
              </a:rPr>
              <a:t> </a:t>
            </a:r>
            <a:r>
              <a:rPr sz="1000" b="0" i="0" dirty="0" err="1">
                <a:solidFill>
                  <a:srgbClr val="E2E8F0"/>
                </a:solidFill>
                <a:latin typeface="Arial"/>
              </a:rPr>
              <a:t>atau</a:t>
            </a:r>
            <a:r>
              <a:rPr sz="1000" b="0" i="0" dirty="0">
                <a:solidFill>
                  <a:srgbClr val="E2E8F0"/>
                </a:solidFill>
                <a:latin typeface="Arial"/>
              </a:rPr>
              <a:t> </a:t>
            </a:r>
            <a:r>
              <a:rPr sz="1000" b="0" i="0" dirty="0" err="1">
                <a:solidFill>
                  <a:srgbClr val="E2E8F0"/>
                </a:solidFill>
                <a:latin typeface="Arial"/>
              </a:rPr>
              <a:t>memprediksi</a:t>
            </a:r>
            <a:r>
              <a:rPr sz="1000" b="0" i="0" dirty="0">
                <a:solidFill>
                  <a:srgbClr val="E2E8F0"/>
                </a:solidFill>
                <a:latin typeface="Arial"/>
              </a:rPr>
              <a:t> </a:t>
            </a:r>
            <a:r>
              <a:rPr sz="1000" b="0" i="0" dirty="0" err="1">
                <a:solidFill>
                  <a:srgbClr val="E2E8F0"/>
                </a:solidFill>
                <a:latin typeface="Arial"/>
              </a:rPr>
              <a:t>gagal</a:t>
            </a:r>
            <a:r>
              <a:rPr sz="1000" b="0" i="0" dirty="0">
                <a:solidFill>
                  <a:srgbClr val="E2E8F0"/>
                </a:solidFill>
                <a:latin typeface="Arial"/>
              </a:rPr>
              <a:t> </a:t>
            </a:r>
            <a:r>
              <a:rPr sz="1000" b="0" i="0" dirty="0" err="1">
                <a:solidFill>
                  <a:srgbClr val="E2E8F0"/>
                </a:solidFill>
                <a:latin typeface="Arial"/>
              </a:rPr>
              <a:t>bayar</a:t>
            </a:r>
            <a:r>
              <a:rPr sz="1000" b="0" i="0" dirty="0">
                <a:solidFill>
                  <a:srgbClr val="E2E8F0"/>
                </a:solidFill>
                <a:latin typeface="Arial"/>
              </a:rPr>
              <a:t>.</a:t>
            </a:r>
          </a:p>
        </p:txBody>
      </p:sp>
      <p:sp>
        <p:nvSpPr>
          <p:cNvPr id="25" name="TextBox 24"/>
          <p:cNvSpPr txBox="1"/>
          <p:nvPr/>
        </p:nvSpPr>
        <p:spPr>
          <a:xfrm>
            <a:off x="548640" y="6565392"/>
            <a:ext cx="6400800" cy="201168"/>
          </a:xfrm>
          <a:prstGeom prst="rect">
            <a:avLst/>
          </a:prstGeom>
          <a:noFill/>
        </p:spPr>
        <p:txBody>
          <a:bodyPr wrap="square" lIns="0" tIns="0" rIns="0" bIns="0" anchor="t">
            <a:spAutoFit/>
          </a:bodyPr>
          <a:lstStyle/>
          <a:p>
            <a:pPr algn="l">
              <a:lnSpc>
                <a:spcPct val="112000"/>
              </a:lnSpc>
              <a:spcAft>
                <a:spcPts val="300"/>
              </a:spcAft>
            </a:pPr>
            <a:r>
              <a:rPr sz="800" b="0" i="0">
                <a:solidFill>
                  <a:srgbClr val="94A3B8"/>
                </a:solidFill>
                <a:latin typeface="Arial"/>
              </a:rPr>
              <a:t>LAPORAN PINJAMAN BANK  •  PORTOFOLIO ANALIS DATA</a:t>
            </a: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ectangle 1"/>
          <p:cNvSpPr/>
          <p:nvPr/>
        </p:nvSpPr>
        <p:spPr>
          <a:xfrm>
            <a:off x="548640" y="457200"/>
            <a:ext cx="64008"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49808" y="658368"/>
            <a:ext cx="10972800" cy="457200"/>
          </a:xfrm>
          <a:prstGeom prst="rect">
            <a:avLst/>
          </a:prstGeom>
          <a:noFill/>
        </p:spPr>
        <p:txBody>
          <a:bodyPr wrap="square" lIns="0" tIns="0" rIns="0" bIns="0" anchor="t">
            <a:spAutoFit/>
          </a:bodyPr>
          <a:lstStyle/>
          <a:p>
            <a:pPr algn="l">
              <a:lnSpc>
                <a:spcPct val="112000"/>
              </a:lnSpc>
              <a:spcAft>
                <a:spcPts val="300"/>
              </a:spcAft>
            </a:pPr>
            <a:r>
              <a:rPr sz="2800" b="1" i="0">
                <a:solidFill>
                  <a:srgbClr val="0F1E33"/>
                </a:solidFill>
                <a:latin typeface="Arial"/>
              </a:rPr>
              <a:t>Sumber Data &amp; Keterbatasan</a:t>
            </a:r>
          </a:p>
        </p:txBody>
      </p:sp>
      <p:sp>
        <p:nvSpPr>
          <p:cNvPr id="5" name="TextBox 4"/>
          <p:cNvSpPr txBox="1"/>
          <p:nvPr/>
        </p:nvSpPr>
        <p:spPr>
          <a:xfrm>
            <a:off x="749808" y="1115568"/>
            <a:ext cx="10972800" cy="274320"/>
          </a:xfrm>
          <a:prstGeom prst="rect">
            <a:avLst/>
          </a:prstGeom>
          <a:noFill/>
        </p:spPr>
        <p:txBody>
          <a:bodyPr wrap="square" lIns="0" tIns="0" rIns="0" bIns="0" anchor="t">
            <a:spAutoFit/>
          </a:bodyPr>
          <a:lstStyle/>
          <a:p>
            <a:pPr algn="l">
              <a:lnSpc>
                <a:spcPct val="112000"/>
              </a:lnSpc>
              <a:spcAft>
                <a:spcPts val="300"/>
              </a:spcAft>
            </a:pPr>
            <a:r>
              <a:rPr sz="1200" b="0" i="0">
                <a:solidFill>
                  <a:srgbClr val="5A6B82"/>
                </a:solidFill>
                <a:latin typeface="Arial"/>
              </a:rPr>
              <a:t>Transparansi mengenai dataset dan hal-hal yang dapat maupun tidak dapat disimpulkan dari analisis ini.</a:t>
            </a:r>
          </a:p>
        </p:txBody>
      </p:sp>
      <p:sp>
        <p:nvSpPr>
          <p:cNvPr id="6" name="Rectangle 5"/>
          <p:cNvSpPr/>
          <p:nvPr/>
        </p:nvSpPr>
        <p:spPr>
          <a:xfrm>
            <a:off x="548640" y="1444752"/>
            <a:ext cx="11091672" cy="1524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48640" y="1691640"/>
            <a:ext cx="5394960" cy="4480560"/>
          </a:xfrm>
          <a:prstGeom prst="roundRect">
            <a:avLst>
              <a:gd name="adj" fmla="val 45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tx1">
                  <a:lumMod val="95000"/>
                  <a:lumOff val="5000"/>
                </a:schemeClr>
              </a:solidFill>
            </a:endParaRPr>
          </a:p>
        </p:txBody>
      </p:sp>
      <p:sp>
        <p:nvSpPr>
          <p:cNvPr id="8" name="Rectangle 7"/>
          <p:cNvSpPr/>
          <p:nvPr/>
        </p:nvSpPr>
        <p:spPr>
          <a:xfrm>
            <a:off x="548640" y="1691640"/>
            <a:ext cx="5394960" cy="731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874519"/>
            <a:ext cx="4937760" cy="174343"/>
          </a:xfrm>
          <a:prstGeom prst="rect">
            <a:avLst/>
          </a:prstGeom>
          <a:noFill/>
        </p:spPr>
        <p:txBody>
          <a:bodyPr wrap="square" lIns="0" tIns="0" rIns="0" bIns="0" anchor="t">
            <a:spAutoFit/>
          </a:bodyPr>
          <a:lstStyle/>
          <a:p>
            <a:pPr algn="l">
              <a:lnSpc>
                <a:spcPct val="112000"/>
              </a:lnSpc>
              <a:spcAft>
                <a:spcPts val="300"/>
              </a:spcAft>
            </a:pPr>
            <a:r>
              <a:rPr sz="1100" b="1" i="0" dirty="0">
                <a:solidFill>
                  <a:schemeClr val="tx1">
                    <a:lumMod val="95000"/>
                    <a:lumOff val="5000"/>
                  </a:schemeClr>
                </a:solidFill>
                <a:latin typeface="Arial"/>
              </a:rPr>
              <a:t>SUMBER DATA</a:t>
            </a:r>
          </a:p>
        </p:txBody>
      </p:sp>
      <p:sp>
        <p:nvSpPr>
          <p:cNvPr id="10" name="TextBox 9"/>
          <p:cNvSpPr txBox="1"/>
          <p:nvPr/>
        </p:nvSpPr>
        <p:spPr>
          <a:xfrm>
            <a:off x="804672" y="2286000"/>
            <a:ext cx="1371600" cy="158441"/>
          </a:xfrm>
          <a:prstGeom prst="rect">
            <a:avLst/>
          </a:prstGeom>
          <a:noFill/>
        </p:spPr>
        <p:txBody>
          <a:bodyPr wrap="square" lIns="0" tIns="0" rIns="0" bIns="0" anchor="t">
            <a:spAutoFit/>
          </a:bodyPr>
          <a:lstStyle/>
          <a:p>
            <a:pPr algn="l">
              <a:lnSpc>
                <a:spcPct val="112000"/>
              </a:lnSpc>
              <a:spcAft>
                <a:spcPts val="300"/>
              </a:spcAft>
            </a:pPr>
            <a:r>
              <a:rPr sz="1000" b="1" i="0">
                <a:solidFill>
                  <a:schemeClr val="tx1">
                    <a:lumMod val="95000"/>
                    <a:lumOff val="5000"/>
                  </a:schemeClr>
                </a:solidFill>
                <a:latin typeface="Arial"/>
              </a:rPr>
              <a:t>Dataset</a:t>
            </a:r>
          </a:p>
        </p:txBody>
      </p:sp>
      <p:sp>
        <p:nvSpPr>
          <p:cNvPr id="11" name="TextBox 10"/>
          <p:cNvSpPr txBox="1"/>
          <p:nvPr/>
        </p:nvSpPr>
        <p:spPr>
          <a:xfrm>
            <a:off x="2240280" y="2286000"/>
            <a:ext cx="3566160" cy="502920"/>
          </a:xfrm>
          <a:prstGeom prst="rect">
            <a:avLst/>
          </a:prstGeom>
          <a:noFill/>
        </p:spPr>
        <p:txBody>
          <a:bodyPr wrap="square" lIns="0" tIns="0" rIns="0" bIns="0" anchor="t">
            <a:spAutoFit/>
          </a:bodyPr>
          <a:lstStyle/>
          <a:p>
            <a:pPr algn="l">
              <a:lnSpc>
                <a:spcPct val="115000"/>
              </a:lnSpc>
              <a:spcAft>
                <a:spcPts val="300"/>
              </a:spcAft>
            </a:pPr>
            <a:r>
              <a:rPr sz="1000" b="0" i="0">
                <a:solidFill>
                  <a:srgbClr val="0F1E33"/>
                </a:solidFill>
                <a:latin typeface="Arial"/>
              </a:rPr>
              <a:t>Data pinjaman keuangan (CSV), 38.576 baris × 24 kolom</a:t>
            </a:r>
          </a:p>
        </p:txBody>
      </p:sp>
      <p:sp>
        <p:nvSpPr>
          <p:cNvPr id="12" name="Rectangle 11"/>
          <p:cNvSpPr/>
          <p:nvPr/>
        </p:nvSpPr>
        <p:spPr>
          <a:xfrm>
            <a:off x="804672" y="2852928"/>
            <a:ext cx="4892040"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3035808"/>
            <a:ext cx="1371600" cy="158441"/>
          </a:xfrm>
          <a:prstGeom prst="rect">
            <a:avLst/>
          </a:prstGeom>
          <a:noFill/>
        </p:spPr>
        <p:txBody>
          <a:bodyPr wrap="square" lIns="0" tIns="0" rIns="0" bIns="0" anchor="t">
            <a:spAutoFit/>
          </a:bodyPr>
          <a:lstStyle/>
          <a:p>
            <a:pPr algn="l">
              <a:lnSpc>
                <a:spcPct val="112000"/>
              </a:lnSpc>
              <a:spcAft>
                <a:spcPts val="300"/>
              </a:spcAft>
            </a:pPr>
            <a:r>
              <a:rPr sz="1000" b="1" i="0">
                <a:solidFill>
                  <a:schemeClr val="tx1">
                    <a:lumMod val="95000"/>
                    <a:lumOff val="5000"/>
                  </a:schemeClr>
                </a:solidFill>
                <a:latin typeface="Arial"/>
              </a:rPr>
              <a:t>Periode</a:t>
            </a:r>
          </a:p>
        </p:txBody>
      </p:sp>
      <p:sp>
        <p:nvSpPr>
          <p:cNvPr id="14" name="TextBox 13"/>
          <p:cNvSpPr txBox="1"/>
          <p:nvPr/>
        </p:nvSpPr>
        <p:spPr>
          <a:xfrm>
            <a:off x="2240280" y="3035808"/>
            <a:ext cx="3566160" cy="502920"/>
          </a:xfrm>
          <a:prstGeom prst="rect">
            <a:avLst/>
          </a:prstGeom>
          <a:noFill/>
        </p:spPr>
        <p:txBody>
          <a:bodyPr wrap="square" lIns="0" tIns="0" rIns="0" bIns="0" anchor="t">
            <a:spAutoFit/>
          </a:bodyPr>
          <a:lstStyle/>
          <a:p>
            <a:pPr algn="l">
              <a:lnSpc>
                <a:spcPct val="115000"/>
              </a:lnSpc>
              <a:spcAft>
                <a:spcPts val="300"/>
              </a:spcAft>
            </a:pPr>
            <a:r>
              <a:rPr sz="1000" b="0" i="0">
                <a:solidFill>
                  <a:srgbClr val="0F1E33"/>
                </a:solidFill>
                <a:latin typeface="Arial"/>
              </a:rPr>
              <a:t>Sampai 12 Desember 2021 (bulan terakhir belum lengkap)</a:t>
            </a:r>
          </a:p>
        </p:txBody>
      </p:sp>
      <p:sp>
        <p:nvSpPr>
          <p:cNvPr id="15" name="Rectangle 14"/>
          <p:cNvSpPr/>
          <p:nvPr/>
        </p:nvSpPr>
        <p:spPr>
          <a:xfrm>
            <a:off x="804672" y="3602736"/>
            <a:ext cx="4892040"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3785616"/>
            <a:ext cx="1371600" cy="158441"/>
          </a:xfrm>
          <a:prstGeom prst="rect">
            <a:avLst/>
          </a:prstGeom>
          <a:noFill/>
        </p:spPr>
        <p:txBody>
          <a:bodyPr wrap="square" lIns="0" tIns="0" rIns="0" bIns="0" anchor="t">
            <a:spAutoFit/>
          </a:bodyPr>
          <a:lstStyle/>
          <a:p>
            <a:pPr algn="l">
              <a:lnSpc>
                <a:spcPct val="112000"/>
              </a:lnSpc>
              <a:spcAft>
                <a:spcPts val="300"/>
              </a:spcAft>
            </a:pPr>
            <a:r>
              <a:rPr sz="1000" b="1" i="0">
                <a:solidFill>
                  <a:schemeClr val="tx1">
                    <a:lumMod val="95000"/>
                    <a:lumOff val="5000"/>
                  </a:schemeClr>
                </a:solidFill>
                <a:latin typeface="Arial"/>
              </a:rPr>
              <a:t>Asal data</a:t>
            </a:r>
          </a:p>
        </p:txBody>
      </p:sp>
      <p:sp>
        <p:nvSpPr>
          <p:cNvPr id="17" name="TextBox 16"/>
          <p:cNvSpPr txBox="1"/>
          <p:nvPr/>
        </p:nvSpPr>
        <p:spPr>
          <a:xfrm>
            <a:off x="2240280" y="3785616"/>
            <a:ext cx="3566160" cy="502920"/>
          </a:xfrm>
          <a:prstGeom prst="rect">
            <a:avLst/>
          </a:prstGeom>
          <a:noFill/>
        </p:spPr>
        <p:txBody>
          <a:bodyPr wrap="square" lIns="0" tIns="0" rIns="0" bIns="0" anchor="t">
            <a:spAutoFit/>
          </a:bodyPr>
          <a:lstStyle/>
          <a:p>
            <a:pPr algn="l">
              <a:lnSpc>
                <a:spcPct val="115000"/>
              </a:lnSpc>
              <a:spcAft>
                <a:spcPts val="300"/>
              </a:spcAft>
            </a:pPr>
            <a:r>
              <a:rPr sz="1000" b="0" i="0">
                <a:solidFill>
                  <a:srgbClr val="0F1E33"/>
                </a:solidFill>
                <a:latin typeface="Arial"/>
              </a:rPr>
              <a:t>Brief proyek dan aset referensi yang bersumber dari materi lain (portofolio pembelajaran)</a:t>
            </a:r>
          </a:p>
        </p:txBody>
      </p:sp>
      <p:sp>
        <p:nvSpPr>
          <p:cNvPr id="18" name="Rectangle 17"/>
          <p:cNvSpPr/>
          <p:nvPr/>
        </p:nvSpPr>
        <p:spPr>
          <a:xfrm>
            <a:off x="804672" y="4352544"/>
            <a:ext cx="4892040"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4535424"/>
            <a:ext cx="1371600" cy="158441"/>
          </a:xfrm>
          <a:prstGeom prst="rect">
            <a:avLst/>
          </a:prstGeom>
          <a:noFill/>
        </p:spPr>
        <p:txBody>
          <a:bodyPr wrap="square" lIns="0" tIns="0" rIns="0" bIns="0" anchor="t">
            <a:spAutoFit/>
          </a:bodyPr>
          <a:lstStyle/>
          <a:p>
            <a:pPr algn="l">
              <a:lnSpc>
                <a:spcPct val="112000"/>
              </a:lnSpc>
              <a:spcAft>
                <a:spcPts val="300"/>
              </a:spcAft>
            </a:pPr>
            <a:r>
              <a:rPr sz="1000" b="1" i="0">
                <a:solidFill>
                  <a:schemeClr val="tx1">
                    <a:lumMod val="95000"/>
                    <a:lumOff val="5000"/>
                  </a:schemeClr>
                </a:solidFill>
                <a:latin typeface="Arial"/>
              </a:rPr>
              <a:t>Tools</a:t>
            </a:r>
          </a:p>
        </p:txBody>
      </p:sp>
      <p:sp>
        <p:nvSpPr>
          <p:cNvPr id="20" name="TextBox 19"/>
          <p:cNvSpPr txBox="1"/>
          <p:nvPr/>
        </p:nvSpPr>
        <p:spPr>
          <a:xfrm>
            <a:off x="2240280" y="4535424"/>
            <a:ext cx="3566160" cy="502920"/>
          </a:xfrm>
          <a:prstGeom prst="rect">
            <a:avLst/>
          </a:prstGeom>
          <a:noFill/>
        </p:spPr>
        <p:txBody>
          <a:bodyPr wrap="square" lIns="0" tIns="0" rIns="0" bIns="0" anchor="t">
            <a:spAutoFit/>
          </a:bodyPr>
          <a:lstStyle/>
          <a:p>
            <a:pPr algn="l">
              <a:lnSpc>
                <a:spcPct val="115000"/>
              </a:lnSpc>
              <a:spcAft>
                <a:spcPts val="300"/>
              </a:spcAft>
            </a:pPr>
            <a:r>
              <a:rPr sz="1000" b="0" i="0">
                <a:solidFill>
                  <a:srgbClr val="0F1E33"/>
                </a:solidFill>
                <a:latin typeface="Arial"/>
              </a:rPr>
              <a:t>PostgreSQL / DBeaver • Power BI • Excel • Python</a:t>
            </a:r>
          </a:p>
        </p:txBody>
      </p:sp>
      <p:sp>
        <p:nvSpPr>
          <p:cNvPr id="21" name="Rectangle 20"/>
          <p:cNvSpPr/>
          <p:nvPr/>
        </p:nvSpPr>
        <p:spPr>
          <a:xfrm>
            <a:off x="804672" y="5102352"/>
            <a:ext cx="4892040"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 y="5285232"/>
            <a:ext cx="1371600" cy="158441"/>
          </a:xfrm>
          <a:prstGeom prst="rect">
            <a:avLst/>
          </a:prstGeom>
          <a:noFill/>
        </p:spPr>
        <p:txBody>
          <a:bodyPr wrap="square" lIns="0" tIns="0" rIns="0" bIns="0" anchor="t">
            <a:spAutoFit/>
          </a:bodyPr>
          <a:lstStyle/>
          <a:p>
            <a:pPr algn="l">
              <a:lnSpc>
                <a:spcPct val="112000"/>
              </a:lnSpc>
              <a:spcAft>
                <a:spcPts val="300"/>
              </a:spcAft>
            </a:pPr>
            <a:r>
              <a:rPr sz="1000" b="1" i="0">
                <a:solidFill>
                  <a:schemeClr val="tx1">
                    <a:lumMod val="95000"/>
                    <a:lumOff val="5000"/>
                  </a:schemeClr>
                </a:solidFill>
                <a:latin typeface="Arial"/>
              </a:rPr>
              <a:t>Reproduksibilitas</a:t>
            </a:r>
          </a:p>
        </p:txBody>
      </p:sp>
      <p:sp>
        <p:nvSpPr>
          <p:cNvPr id="23" name="TextBox 22"/>
          <p:cNvSpPr txBox="1"/>
          <p:nvPr/>
        </p:nvSpPr>
        <p:spPr>
          <a:xfrm>
            <a:off x="2240280" y="5285232"/>
            <a:ext cx="3566160" cy="502920"/>
          </a:xfrm>
          <a:prstGeom prst="rect">
            <a:avLst/>
          </a:prstGeom>
          <a:noFill/>
        </p:spPr>
        <p:txBody>
          <a:bodyPr wrap="square" lIns="0" tIns="0" rIns="0" bIns="0" anchor="t">
            <a:spAutoFit/>
          </a:bodyPr>
          <a:lstStyle/>
          <a:p>
            <a:pPr algn="l">
              <a:lnSpc>
                <a:spcPct val="115000"/>
              </a:lnSpc>
              <a:spcAft>
                <a:spcPts val="300"/>
              </a:spcAft>
            </a:pPr>
            <a:r>
              <a:rPr sz="1000" b="0" i="0">
                <a:solidFill>
                  <a:srgbClr val="0F1E33"/>
                </a:solidFill>
                <a:latin typeface="Arial"/>
              </a:rPr>
              <a:t>Kumpulan query SQL lengkap dipublikasikan bersama presentasi ini</a:t>
            </a:r>
          </a:p>
        </p:txBody>
      </p:sp>
      <p:sp>
        <p:nvSpPr>
          <p:cNvPr id="24" name="Rectangle 23"/>
          <p:cNvSpPr/>
          <p:nvPr/>
        </p:nvSpPr>
        <p:spPr>
          <a:xfrm>
            <a:off x="804672" y="5852160"/>
            <a:ext cx="4892040" cy="762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217920" y="1691640"/>
            <a:ext cx="5422392" cy="4480560"/>
          </a:xfrm>
          <a:prstGeom prst="roundRect">
            <a:avLst>
              <a:gd name="adj" fmla="val 4500"/>
            </a:avLst>
          </a:prstGeom>
          <a:solidFill>
            <a:srgbClr val="FEF2F2"/>
          </a:solidFill>
          <a:ln w="1270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17920" y="1691640"/>
            <a:ext cx="5422392" cy="731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73952" y="1874519"/>
            <a:ext cx="4937760" cy="274320"/>
          </a:xfrm>
          <a:prstGeom prst="rect">
            <a:avLst/>
          </a:prstGeom>
          <a:noFill/>
        </p:spPr>
        <p:txBody>
          <a:bodyPr wrap="square" lIns="0" tIns="0" rIns="0" bIns="0" anchor="t">
            <a:spAutoFit/>
          </a:bodyPr>
          <a:lstStyle/>
          <a:p>
            <a:pPr algn="l">
              <a:lnSpc>
                <a:spcPct val="112000"/>
              </a:lnSpc>
              <a:spcAft>
                <a:spcPts val="300"/>
              </a:spcAft>
            </a:pPr>
            <a:r>
              <a:rPr sz="1100" b="1" i="0">
                <a:solidFill>
                  <a:srgbClr val="B91C1C"/>
                </a:solidFill>
                <a:latin typeface="Arial"/>
              </a:rPr>
              <a:t>KETERBATASAN UTAMA</a:t>
            </a:r>
          </a:p>
        </p:txBody>
      </p:sp>
      <p:sp>
        <p:nvSpPr>
          <p:cNvPr id="28" name="Rectangle 27"/>
          <p:cNvSpPr/>
          <p:nvPr/>
        </p:nvSpPr>
        <p:spPr>
          <a:xfrm>
            <a:off x="6473952" y="2350008"/>
            <a:ext cx="109728" cy="10972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20840" y="2286000"/>
            <a:ext cx="4754880" cy="640080"/>
          </a:xfrm>
          <a:prstGeom prst="rect">
            <a:avLst/>
          </a:prstGeom>
          <a:noFill/>
        </p:spPr>
        <p:txBody>
          <a:bodyPr wrap="square" lIns="0" tIns="0" rIns="0" bIns="0" anchor="t">
            <a:spAutoFit/>
          </a:bodyPr>
          <a:lstStyle/>
          <a:p>
            <a:pPr algn="l">
              <a:lnSpc>
                <a:spcPct val="120000"/>
              </a:lnSpc>
              <a:spcAft>
                <a:spcPts val="300"/>
              </a:spcAft>
            </a:pPr>
            <a:r>
              <a:rPr sz="1000" b="0" i="0">
                <a:solidFill>
                  <a:srgbClr val="0F1E33"/>
                </a:solidFill>
                <a:latin typeface="Arial"/>
              </a:rPr>
              <a:t>Analisis hanya bersifat deskriptif — tidak memprediksi gagal bayar atau menyimpulkan sebab-akibat.</a:t>
            </a:r>
          </a:p>
        </p:txBody>
      </p:sp>
      <p:sp>
        <p:nvSpPr>
          <p:cNvPr id="30" name="Rectangle 29"/>
          <p:cNvSpPr/>
          <p:nvPr/>
        </p:nvSpPr>
        <p:spPr>
          <a:xfrm>
            <a:off x="6473952" y="3099816"/>
            <a:ext cx="109728" cy="10972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20840" y="3035808"/>
            <a:ext cx="4754880" cy="640080"/>
          </a:xfrm>
          <a:prstGeom prst="rect">
            <a:avLst/>
          </a:prstGeom>
          <a:noFill/>
        </p:spPr>
        <p:txBody>
          <a:bodyPr wrap="square" lIns="0" tIns="0" rIns="0" bIns="0" anchor="t">
            <a:spAutoFit/>
          </a:bodyPr>
          <a:lstStyle/>
          <a:p>
            <a:pPr algn="l">
              <a:lnSpc>
                <a:spcPct val="120000"/>
              </a:lnSpc>
              <a:spcAft>
                <a:spcPts val="300"/>
              </a:spcAft>
            </a:pPr>
            <a:r>
              <a:rPr sz="1000" b="0" i="0">
                <a:solidFill>
                  <a:srgbClr val="0F1E33"/>
                </a:solidFill>
                <a:latin typeface="Arial"/>
              </a:rPr>
              <a:t>Data issue_date perlu ditinjau cakupannya; Desember belum lengkap.</a:t>
            </a:r>
          </a:p>
        </p:txBody>
      </p:sp>
      <p:sp>
        <p:nvSpPr>
          <p:cNvPr id="32" name="Rectangle 31"/>
          <p:cNvSpPr/>
          <p:nvPr/>
        </p:nvSpPr>
        <p:spPr>
          <a:xfrm>
            <a:off x="6473952" y="3849624"/>
            <a:ext cx="109728" cy="10972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20840" y="3785616"/>
            <a:ext cx="4754880" cy="640080"/>
          </a:xfrm>
          <a:prstGeom prst="rect">
            <a:avLst/>
          </a:prstGeom>
          <a:noFill/>
        </p:spPr>
        <p:txBody>
          <a:bodyPr wrap="square" lIns="0" tIns="0" rIns="0" bIns="0" anchor="t">
            <a:spAutoFit/>
          </a:bodyPr>
          <a:lstStyle/>
          <a:p>
            <a:pPr algn="l">
              <a:lnSpc>
                <a:spcPct val="120000"/>
              </a:lnSpc>
              <a:spcAft>
                <a:spcPts val="300"/>
              </a:spcAft>
            </a:pPr>
            <a:r>
              <a:rPr sz="1000" b="0" i="0">
                <a:solidFill>
                  <a:srgbClr val="0F1E33"/>
                </a:solidFill>
                <a:latin typeface="Arial"/>
              </a:rPr>
              <a:t>total_payment yang dikelompokkan berdasarkan issue_date ≠ pembayaran yang benar-benar diterima pada bulan tersebut.</a:t>
            </a:r>
          </a:p>
        </p:txBody>
      </p:sp>
      <p:sp>
        <p:nvSpPr>
          <p:cNvPr id="34" name="Rectangle 33"/>
          <p:cNvSpPr/>
          <p:nvPr/>
        </p:nvSpPr>
        <p:spPr>
          <a:xfrm>
            <a:off x="6473952" y="4599432"/>
            <a:ext cx="109728" cy="10972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20840" y="4535424"/>
            <a:ext cx="4754880" cy="640080"/>
          </a:xfrm>
          <a:prstGeom prst="rect">
            <a:avLst/>
          </a:prstGeom>
          <a:noFill/>
        </p:spPr>
        <p:txBody>
          <a:bodyPr wrap="square" lIns="0" tIns="0" rIns="0" bIns="0" anchor="t">
            <a:spAutoFit/>
          </a:bodyPr>
          <a:lstStyle/>
          <a:p>
            <a:pPr algn="l">
              <a:lnSpc>
                <a:spcPct val="120000"/>
              </a:lnSpc>
              <a:spcAft>
                <a:spcPts val="300"/>
              </a:spcAft>
            </a:pPr>
            <a:r>
              <a:rPr sz="1000" b="0" i="0">
                <a:solidFill>
                  <a:srgbClr val="0F1E33"/>
                </a:solidFill>
                <a:latin typeface="Arial"/>
              </a:rPr>
              <a:t>Kolom emp_title kosong pada 1.438 baris (3,73%) — tidak disertakan pada analisis yang menggunakan kolom tersebut.</a:t>
            </a:r>
          </a:p>
        </p:txBody>
      </p:sp>
      <p:sp>
        <p:nvSpPr>
          <p:cNvPr id="36" name="Rectangle 35"/>
          <p:cNvSpPr/>
          <p:nvPr/>
        </p:nvSpPr>
        <p:spPr>
          <a:xfrm>
            <a:off x="6473952" y="5349240"/>
            <a:ext cx="109728" cy="10972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20840" y="5285232"/>
            <a:ext cx="4754880" cy="640080"/>
          </a:xfrm>
          <a:prstGeom prst="rect">
            <a:avLst/>
          </a:prstGeom>
          <a:noFill/>
        </p:spPr>
        <p:txBody>
          <a:bodyPr wrap="square" lIns="0" tIns="0" rIns="0" bIns="0" anchor="t">
            <a:spAutoFit/>
          </a:bodyPr>
          <a:lstStyle/>
          <a:p>
            <a:pPr algn="l">
              <a:lnSpc>
                <a:spcPct val="120000"/>
              </a:lnSpc>
              <a:spcAft>
                <a:spcPts val="300"/>
              </a:spcAft>
            </a:pPr>
            <a:r>
              <a:rPr sz="1000" b="0" i="0">
                <a:solidFill>
                  <a:srgbClr val="0F1E33"/>
                </a:solidFill>
                <a:latin typeface="Arial"/>
              </a:rPr>
              <a:t>Publikasikan file PBIX atau dataset mentah hanya jika hak untuk membagikannya sudah jelas.</a:t>
            </a:r>
          </a:p>
        </p:txBody>
      </p:sp>
      <p:sp>
        <p:nvSpPr>
          <p:cNvPr id="38" name="TextBox 37"/>
          <p:cNvSpPr txBox="1"/>
          <p:nvPr/>
        </p:nvSpPr>
        <p:spPr>
          <a:xfrm>
            <a:off x="548640" y="6565392"/>
            <a:ext cx="6400800" cy="201168"/>
          </a:xfrm>
          <a:prstGeom prst="rect">
            <a:avLst/>
          </a:prstGeom>
          <a:noFill/>
        </p:spPr>
        <p:txBody>
          <a:bodyPr wrap="square" lIns="0" tIns="0" rIns="0" bIns="0" anchor="t">
            <a:spAutoFit/>
          </a:bodyPr>
          <a:lstStyle/>
          <a:p>
            <a:pPr algn="l">
              <a:lnSpc>
                <a:spcPct val="112000"/>
              </a:lnSpc>
              <a:spcAft>
                <a:spcPts val="300"/>
              </a:spcAft>
            </a:pPr>
            <a:r>
              <a:rPr sz="800" b="0" i="0">
                <a:solidFill>
                  <a:srgbClr val="94A3B8"/>
                </a:solidFill>
                <a:latin typeface="Arial"/>
              </a:rPr>
              <a:t>LAPORAN PINJAMAN BANK  •  PORTOFOLIO ANALIS DATA</a:t>
            </a:r>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7" name="Rounded Rectangle 26"/>
          <p:cNvSpPr/>
          <p:nvPr/>
        </p:nvSpPr>
        <p:spPr>
          <a:xfrm>
            <a:off x="548640" y="4069080"/>
            <a:ext cx="11091672" cy="2057400"/>
          </a:xfrm>
          <a:prstGeom prst="roundRect">
            <a:avLst>
              <a:gd name="adj" fmla="val 45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5840" y="4343400"/>
            <a:ext cx="10058400" cy="640080"/>
          </a:xfrm>
          <a:prstGeom prst="rect">
            <a:avLst/>
          </a:prstGeom>
          <a:noFill/>
        </p:spPr>
        <p:txBody>
          <a:bodyPr wrap="square" lIns="0" tIns="0" rIns="0" bIns="0" anchor="t">
            <a:spAutoFit/>
          </a:bodyPr>
          <a:lstStyle/>
          <a:p>
            <a:pPr algn="l">
              <a:lnSpc>
                <a:spcPct val="112000"/>
              </a:lnSpc>
              <a:spcAft>
                <a:spcPts val="300"/>
              </a:spcAft>
            </a:pPr>
            <a:r>
              <a:rPr sz="3600" b="1" i="0">
                <a:solidFill>
                  <a:srgbClr val="FFFFFF"/>
                </a:solidFill>
                <a:latin typeface="Arial"/>
              </a:rPr>
              <a:t>Terima kasih</a:t>
            </a:r>
          </a:p>
        </p:txBody>
      </p:sp>
      <p:sp>
        <p:nvSpPr>
          <p:cNvPr id="29" name="TextBox 28"/>
          <p:cNvSpPr txBox="1"/>
          <p:nvPr/>
        </p:nvSpPr>
        <p:spPr>
          <a:xfrm>
            <a:off x="1005840" y="5074920"/>
            <a:ext cx="10058400" cy="320040"/>
          </a:xfrm>
          <a:prstGeom prst="rect">
            <a:avLst/>
          </a:prstGeom>
          <a:noFill/>
        </p:spPr>
        <p:txBody>
          <a:bodyPr wrap="square" lIns="0" tIns="0" rIns="0" bIns="0" anchor="t">
            <a:spAutoFit/>
          </a:bodyPr>
          <a:lstStyle/>
          <a:p>
            <a:pPr algn="l">
              <a:lnSpc>
                <a:spcPct val="112000"/>
              </a:lnSpc>
              <a:spcAft>
                <a:spcPts val="300"/>
              </a:spcAft>
            </a:pPr>
            <a:r>
              <a:rPr sz="1200" b="0" i="0">
                <a:solidFill>
                  <a:srgbClr val="94A3B8"/>
                </a:solidFill>
                <a:latin typeface="Arial"/>
              </a:rPr>
              <a:t>Pertanyaan, masukan, dan kolaborasi dipersilakan.</a:t>
            </a:r>
          </a:p>
        </p:txBody>
      </p:sp>
      <p:pic>
        <p:nvPicPr>
          <p:cNvPr id="30" name="Picture 29" descr="image1.png"/>
          <p:cNvPicPr>
            <a:picLocks noChangeAspect="1"/>
          </p:cNvPicPr>
          <p:nvPr/>
        </p:nvPicPr>
        <p:blipFill>
          <a:blip r:embed="rId3"/>
          <a:stretch>
            <a:fillRect/>
          </a:stretch>
        </p:blipFill>
        <p:spPr>
          <a:xfrm>
            <a:off x="1005840" y="5577840"/>
            <a:ext cx="278969" cy="274320"/>
          </a:xfrm>
          <a:prstGeom prst="rect">
            <a:avLst/>
          </a:prstGeom>
        </p:spPr>
      </p:pic>
      <p:sp>
        <p:nvSpPr>
          <p:cNvPr id="34" name="TextBox 33"/>
          <p:cNvSpPr txBox="1"/>
          <p:nvPr/>
        </p:nvSpPr>
        <p:spPr>
          <a:xfrm>
            <a:off x="548640" y="6565392"/>
            <a:ext cx="6400800" cy="126766"/>
          </a:xfrm>
          <a:prstGeom prst="rect">
            <a:avLst/>
          </a:prstGeom>
          <a:noFill/>
        </p:spPr>
        <p:txBody>
          <a:bodyPr wrap="square" lIns="0" tIns="0" rIns="0" bIns="0" anchor="t">
            <a:spAutoFit/>
          </a:bodyPr>
          <a:lstStyle/>
          <a:p>
            <a:pPr algn="l">
              <a:lnSpc>
                <a:spcPct val="112000"/>
              </a:lnSpc>
              <a:spcAft>
                <a:spcPts val="300"/>
              </a:spcAft>
            </a:pPr>
            <a:r>
              <a:rPr sz="800" b="0" i="0" dirty="0">
                <a:solidFill>
                  <a:schemeClr val="bg1"/>
                </a:solidFill>
                <a:latin typeface="Arial"/>
              </a:rPr>
              <a:t>LAPORAN PINJAMAN BANK  •  PORTOFOLIO ANALIS DATA</a:t>
            </a:r>
          </a:p>
        </p:txBody>
      </p:sp>
      <p:sp>
        <p:nvSpPr>
          <p:cNvPr id="66" name="TextBox 65">
            <a:hlinkClick r:id="rId4"/>
          </p:cNvPr>
          <p:cNvSpPr txBox="1"/>
          <p:nvPr/>
        </p:nvSpPr>
        <p:spPr>
          <a:xfrm>
            <a:off x="1417320" y="5596128"/>
            <a:ext cx="2011680" cy="274320"/>
          </a:xfrm>
          <a:prstGeom prst="rect">
            <a:avLst/>
          </a:prstGeom>
          <a:noFill/>
        </p:spPr>
        <p:txBody>
          <a:bodyPr wrap="square" lIns="9144" tIns="9144" rIns="9144" bIns="9144">
            <a:spAutoFit/>
          </a:bodyPr>
          <a:lstStyle/>
          <a:p>
            <a:pPr algn="l"/>
            <a:r>
              <a:rPr sz="1100" b="1">
                <a:solidFill>
                  <a:srgbClr val="FFFFFF"/>
                </a:solidFill>
                <a:latin typeface="Arial"/>
              </a:rPr>
              <a:t>GitHub</a:t>
            </a:r>
          </a:p>
        </p:txBody>
      </p:sp>
      <p:sp>
        <p:nvSpPr>
          <p:cNvPr id="67" name="TextBox 66">
            <a:hlinkClick r:id="rId5"/>
          </p:cNvPr>
          <p:cNvSpPr txBox="1"/>
          <p:nvPr/>
        </p:nvSpPr>
        <p:spPr>
          <a:xfrm>
            <a:off x="3474720" y="5596128"/>
            <a:ext cx="2743200" cy="274320"/>
          </a:xfrm>
          <a:prstGeom prst="rect">
            <a:avLst/>
          </a:prstGeom>
          <a:noFill/>
        </p:spPr>
        <p:txBody>
          <a:bodyPr wrap="square" lIns="9144" tIns="9144" rIns="9144" bIns="9144">
            <a:spAutoFit/>
          </a:bodyPr>
          <a:lstStyle/>
          <a:p>
            <a:pPr algn="l"/>
            <a:r>
              <a:rPr sz="1100" b="1">
                <a:solidFill>
                  <a:srgbClr val="FFFFFF"/>
                </a:solidFill>
                <a:latin typeface="Arial"/>
              </a:rPr>
              <a:t>Profil LinkedIn</a:t>
            </a:r>
          </a:p>
        </p:txBody>
      </p:sp>
      <p:sp>
        <p:nvSpPr>
          <p:cNvPr id="68" name="TextBox 67">
            <a:hlinkClick r:id="rId6"/>
          </p:cNvPr>
          <p:cNvSpPr txBox="1"/>
          <p:nvPr/>
        </p:nvSpPr>
        <p:spPr>
          <a:xfrm>
            <a:off x="6035040" y="5596128"/>
            <a:ext cx="5486400" cy="274320"/>
          </a:xfrm>
          <a:prstGeom prst="rect">
            <a:avLst/>
          </a:prstGeom>
          <a:noFill/>
        </p:spPr>
        <p:txBody>
          <a:bodyPr wrap="square" lIns="9144" tIns="9144" rIns="9144" bIns="9144">
            <a:spAutoFit/>
          </a:bodyPr>
          <a:lstStyle/>
          <a:p>
            <a:pPr algn="l"/>
            <a:r>
              <a:rPr sz="1100" b="1">
                <a:solidFill>
                  <a:srgbClr val="FFFFFF"/>
                </a:solidFill>
                <a:latin typeface="Arial"/>
              </a:rPr>
              <a:t>Email: simanjuntakbaharu@gmail.com</a:t>
            </a:r>
          </a:p>
        </p:txBody>
      </p:sp>
      <p:pic>
        <p:nvPicPr>
          <p:cNvPr id="7" name="Picture 6">
            <a:extLst>
              <a:ext uri="{FF2B5EF4-FFF2-40B4-BE49-F238E27FC236}">
                <a16:creationId xmlns:a16="http://schemas.microsoft.com/office/drawing/2014/main" id="{60800FD5-292F-A95C-2F39-3A1D65FDF8EE}"/>
              </a:ext>
            </a:extLst>
          </p:cNvPr>
          <p:cNvPicPr>
            <a:picLocks noChangeAspect="1"/>
          </p:cNvPicPr>
          <p:nvPr/>
        </p:nvPicPr>
        <p:blipFill>
          <a:blip r:embed="rId7"/>
          <a:stretch>
            <a:fillRect/>
          </a:stretch>
        </p:blipFill>
        <p:spPr>
          <a:xfrm>
            <a:off x="85969" y="91440"/>
            <a:ext cx="12041376" cy="3818669"/>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70</TotalTime>
  <Words>1621</Words>
  <Application>Microsoft Office PowerPoint</Application>
  <PresentationFormat>Widescreen</PresentationFormat>
  <Paragraphs>208</Paragraphs>
  <Slides>22</Slides>
  <Notes>22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ASUS</dc:creator>
  <cp:keywords/>
  <dc:description>generated using python-pptx</dc:description>
  <cp:lastModifiedBy>Baharu Simanjuntak</cp:lastModifiedBy>
  <cp:revision>10</cp:revision>
  <dcterms:created xsi:type="dcterms:W3CDTF">2013-01-27T09:14:16Z</dcterms:created>
  <dcterms:modified xsi:type="dcterms:W3CDTF">2026-10-24T05:01:22Z</dcterms:modified>
  <cp:category/>
</cp:coreProperties>
</file>