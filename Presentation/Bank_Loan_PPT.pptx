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49" r:id="rId2"/>
    <p:sldMasterId id="2147483650" r:id="rId3"/>
    <p:sldMasterId id="2147483651" r:id="rId4"/>
    <p:sldMasterId id="2147483652" r:id="rId5"/>
    <p:sldMasterId id="2147483653" r:id="rId6"/>
    <p:sldMasterId id="2147483654" r:id="rId7"/>
    <p:sldMasterId id="2147483655" r:id="rId8"/>
    <p:sldMasterId id="2147483656" r:id="rId9"/>
    <p:sldMasterId id="2147483659" r:id="rId10"/>
    <p:sldMasterId id="2147483660" r:id="rId11"/>
  </p:sldMasterIdLst>
  <p:notesMasterIdLst>
    <p:notesMasterId r:id="rId23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0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notesMaster" Target="notesMasters/notesMaster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4F81BD"/>
            </a:solidFill>
            <a:ln w="9360">
              <a:solidFill>
                <a:srgbClr val="F9F9F9"/>
              </a:solidFill>
              <a:round/>
            </a:ln>
          </c:spPr>
          <c:dPt>
            <c:idx val="0"/>
            <c:bubble3D val="0"/>
            <c:spPr>
              <a:solidFill>
                <a:srgbClr val="219FDE"/>
              </a:solidFill>
              <a:ln w="9360">
                <a:noFill/>
              </a:ln>
            </c:spPr>
            <c:extLst>
              <c:ext xmlns:c16="http://schemas.microsoft.com/office/drawing/2014/chart" uri="{C3380CC4-5D6E-409C-BE32-E72D297353CC}">
                <c16:uniqueId val="{00000001-92A9-48BC-A34C-DF7AC6DC84C7}"/>
              </c:ext>
            </c:extLst>
          </c:dPt>
          <c:dPt>
            <c:idx val="1"/>
            <c:bubble3D val="0"/>
            <c:spPr>
              <a:solidFill>
                <a:srgbClr val="E4E7EA"/>
              </a:solidFill>
              <a:ln w="9360">
                <a:noFill/>
              </a:ln>
            </c:spPr>
            <c:extLst>
              <c:ext xmlns:c16="http://schemas.microsoft.com/office/drawing/2014/chart" uri="{C3380CC4-5D6E-409C-BE32-E72D297353CC}">
                <c16:uniqueId val="{00000003-92A9-48BC-A34C-DF7AC6DC84C7}"/>
              </c:ext>
            </c:extLst>
          </c:dPt>
          <c:dLbls>
            <c:dLbl>
              <c:idx val="0"/>
              <c:spPr/>
              <c:txPr>
                <a:bodyPr wrap="none"/>
                <a:lstStyle/>
                <a:p>
                  <a:pPr>
                    <a:defRPr sz="10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2A9-48BC-A34C-DF7AC6DC84C7}"/>
                </c:ext>
              </c:extLst>
            </c:dLbl>
            <c:dLbl>
              <c:idx val="1"/>
              <c:spPr/>
              <c:txPr>
                <a:bodyPr wrap="none"/>
                <a:lstStyle/>
                <a:p>
                  <a:pPr>
                    <a:defRPr sz="10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2A9-48BC-A34C-DF7AC6DC84C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 </c:separator>
            <c:showLeaderLines val="1"/>
            <c:leaderLines>
              <c:spPr>
                <a:ln>
                  <a:solidFill>
                    <a:srgbClr val="F9F9F9"/>
                  </a:solidFill>
                </a:ln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categories</c:f>
              <c:strCache>
                <c:ptCount val="2"/>
                <c:pt idx="0">
                  <c:v>Loan group</c:v>
                </c:pt>
                <c:pt idx="1">
                  <c:v>Remaining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86.18</c:v>
                </c:pt>
                <c:pt idx="1">
                  <c:v>13.82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2A9-48BC-A34C-DF7AC6DC84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 w="0">
          <a:noFill/>
        </a:ln>
      </c:spPr>
    </c:plotArea>
    <c:plotVisOnly val="1"/>
    <c:dispBlanksAs val="gap"/>
    <c:showDLblsOverMax val="1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4F81BD"/>
            </a:solidFill>
            <a:ln w="9360">
              <a:solidFill>
                <a:srgbClr val="F9F9F9"/>
              </a:solidFill>
              <a:round/>
            </a:ln>
          </c:spPr>
          <c:dPt>
            <c:idx val="0"/>
            <c:bubble3D val="0"/>
            <c:spPr>
              <a:solidFill>
                <a:srgbClr val="EF6935"/>
              </a:solidFill>
              <a:ln w="9360">
                <a:noFill/>
              </a:ln>
            </c:spPr>
            <c:extLst>
              <c:ext xmlns:c16="http://schemas.microsoft.com/office/drawing/2014/chart" uri="{C3380CC4-5D6E-409C-BE32-E72D297353CC}">
                <c16:uniqueId val="{00000001-1DF1-47BF-80DB-758EA2BCCE8D}"/>
              </c:ext>
            </c:extLst>
          </c:dPt>
          <c:dPt>
            <c:idx val="1"/>
            <c:bubble3D val="0"/>
            <c:spPr>
              <a:solidFill>
                <a:srgbClr val="E4E7EA"/>
              </a:solidFill>
              <a:ln w="9360">
                <a:noFill/>
              </a:ln>
            </c:spPr>
            <c:extLst>
              <c:ext xmlns:c16="http://schemas.microsoft.com/office/drawing/2014/chart" uri="{C3380CC4-5D6E-409C-BE32-E72D297353CC}">
                <c16:uniqueId val="{00000003-1DF1-47BF-80DB-758EA2BCCE8D}"/>
              </c:ext>
            </c:extLst>
          </c:dPt>
          <c:dLbls>
            <c:dLbl>
              <c:idx val="0"/>
              <c:spPr/>
              <c:txPr>
                <a:bodyPr wrap="none"/>
                <a:lstStyle/>
                <a:p>
                  <a:pPr>
                    <a:defRPr sz="10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DF1-47BF-80DB-758EA2BCCE8D}"/>
                </c:ext>
              </c:extLst>
            </c:dLbl>
            <c:dLbl>
              <c:idx val="1"/>
              <c:spPr/>
              <c:txPr>
                <a:bodyPr wrap="none"/>
                <a:lstStyle/>
                <a:p>
                  <a:pPr>
                    <a:defRPr sz="10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DF1-47BF-80DB-758EA2BCCE8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 </c:separator>
            <c:showLeaderLines val="1"/>
            <c:leaderLines>
              <c:spPr>
                <a:ln>
                  <a:solidFill>
                    <a:srgbClr val="F9F9F9"/>
                  </a:solidFill>
                </a:ln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categories</c:f>
              <c:strCache>
                <c:ptCount val="2"/>
                <c:pt idx="0">
                  <c:v>Loan group</c:v>
                </c:pt>
                <c:pt idx="1">
                  <c:v>Remaining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13.82</c:v>
                </c:pt>
                <c:pt idx="1">
                  <c:v>86.18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DF1-47BF-80DB-758EA2BCCE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 w="0">
          <a:noFill/>
        </a:ln>
      </c:spPr>
    </c:plotArea>
    <c:plotVisOnly val="1"/>
    <c:dispBlanksAs val="gap"/>
    <c:showDLblsOverMax val="1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Total Loan Application</c:v>
                </c:pt>
              </c:strCache>
            </c:strRef>
          </c:tx>
          <c:spPr>
            <a:solidFill>
              <a:srgbClr val="4F81BD"/>
            </a:solidFill>
            <a:ln w="9360">
              <a:solidFill>
                <a:srgbClr val="F9F9F9"/>
              </a:solidFill>
              <a:round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1BA99D"/>
              </a:solidFill>
              <a:ln w="9360">
                <a:noFill/>
              </a:ln>
            </c:spPr>
            <c:extLst>
              <c:ext xmlns:c16="http://schemas.microsoft.com/office/drawing/2014/chart" uri="{C3380CC4-5D6E-409C-BE32-E72D297353CC}">
                <c16:uniqueId val="{00000001-7DCF-44EE-9E2E-65EDB12DFAD0}"/>
              </c:ext>
            </c:extLst>
          </c:dPt>
          <c:dPt>
            <c:idx val="1"/>
            <c:invertIfNegative val="0"/>
            <c:bubble3D val="0"/>
            <c:spPr>
              <a:solidFill>
                <a:srgbClr val="4F79A2"/>
              </a:solidFill>
              <a:ln w="9360">
                <a:noFill/>
              </a:ln>
            </c:spPr>
            <c:extLst>
              <c:ext xmlns:c16="http://schemas.microsoft.com/office/drawing/2014/chart" uri="{C3380CC4-5D6E-409C-BE32-E72D297353CC}">
                <c16:uniqueId val="{00000003-7DCF-44EE-9E2E-65EDB12DFAD0}"/>
              </c:ext>
            </c:extLst>
          </c:dPt>
          <c:dPt>
            <c:idx val="2"/>
            <c:invertIfNegative val="0"/>
            <c:bubble3D val="0"/>
            <c:spPr>
              <a:solidFill>
                <a:srgbClr val="4F79A2"/>
              </a:solidFill>
              <a:ln w="9360">
                <a:noFill/>
              </a:ln>
            </c:spPr>
            <c:extLst>
              <c:ext xmlns:c16="http://schemas.microsoft.com/office/drawing/2014/chart" uri="{C3380CC4-5D6E-409C-BE32-E72D297353CC}">
                <c16:uniqueId val="{00000005-7DCF-44EE-9E2E-65EDB12DFAD0}"/>
              </c:ext>
            </c:extLst>
          </c:dPt>
          <c:dPt>
            <c:idx val="3"/>
            <c:invertIfNegative val="0"/>
            <c:bubble3D val="0"/>
            <c:spPr>
              <a:solidFill>
                <a:srgbClr val="4F79A2"/>
              </a:solidFill>
              <a:ln w="9360">
                <a:noFill/>
              </a:ln>
            </c:spPr>
            <c:extLst>
              <c:ext xmlns:c16="http://schemas.microsoft.com/office/drawing/2014/chart" uri="{C3380CC4-5D6E-409C-BE32-E72D297353CC}">
                <c16:uniqueId val="{00000007-7DCF-44EE-9E2E-65EDB12DFAD0}"/>
              </c:ext>
            </c:extLst>
          </c:dPt>
          <c:dPt>
            <c:idx val="4"/>
            <c:invertIfNegative val="0"/>
            <c:bubble3D val="0"/>
            <c:spPr>
              <a:solidFill>
                <a:srgbClr val="4F79A2"/>
              </a:solidFill>
              <a:ln w="9360">
                <a:noFill/>
              </a:ln>
            </c:spPr>
            <c:extLst>
              <c:ext xmlns:c16="http://schemas.microsoft.com/office/drawing/2014/chart" uri="{C3380CC4-5D6E-409C-BE32-E72D297353CC}">
                <c16:uniqueId val="{00000009-7DCF-44EE-9E2E-65EDB12DFAD0}"/>
              </c:ext>
            </c:extLst>
          </c:dPt>
          <c:dLbls>
            <c:dLbl>
              <c:idx val="0"/>
              <c:numFmt formatCode="0,\K" sourceLinked="0"/>
              <c:spPr/>
              <c:txPr>
                <a:bodyPr wrap="square"/>
                <a:lstStyle/>
                <a:p>
                  <a:pPr>
                    <a:defRPr sz="1000" b="1" u="none" strike="noStrike">
                      <a:solidFill>
                        <a:srgbClr val="172D46"/>
                      </a:solidFill>
                      <a:uFillTx/>
                      <a:latin typeface="Apto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DCF-44EE-9E2E-65EDB12DFAD0}"/>
                </c:ext>
              </c:extLst>
            </c:dLbl>
            <c:dLbl>
              <c:idx val="1"/>
              <c:numFmt formatCode="0,\K" sourceLinked="0"/>
              <c:spPr/>
              <c:txPr>
                <a:bodyPr wrap="square"/>
                <a:lstStyle/>
                <a:p>
                  <a:pPr>
                    <a:defRPr sz="1000" b="1" u="none" strike="noStrike">
                      <a:solidFill>
                        <a:srgbClr val="172D46"/>
                      </a:solidFill>
                      <a:uFillTx/>
                      <a:latin typeface="Apto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DCF-44EE-9E2E-65EDB12DFAD0}"/>
                </c:ext>
              </c:extLst>
            </c:dLbl>
            <c:dLbl>
              <c:idx val="2"/>
              <c:numFmt formatCode="0,\K" sourceLinked="0"/>
              <c:spPr/>
              <c:txPr>
                <a:bodyPr wrap="square"/>
                <a:lstStyle/>
                <a:p>
                  <a:pPr>
                    <a:defRPr sz="1000" b="1" u="none" strike="noStrike">
                      <a:solidFill>
                        <a:srgbClr val="172D46"/>
                      </a:solidFill>
                      <a:uFillTx/>
                      <a:latin typeface="Apto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DCF-44EE-9E2E-65EDB12DFAD0}"/>
                </c:ext>
              </c:extLst>
            </c:dLbl>
            <c:dLbl>
              <c:idx val="3"/>
              <c:numFmt formatCode="0,\K" sourceLinked="0"/>
              <c:spPr/>
              <c:txPr>
                <a:bodyPr wrap="square"/>
                <a:lstStyle/>
                <a:p>
                  <a:pPr>
                    <a:defRPr sz="1000" b="1" u="none" strike="noStrike">
                      <a:solidFill>
                        <a:srgbClr val="172D46"/>
                      </a:solidFill>
                      <a:uFillTx/>
                      <a:latin typeface="Apto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DCF-44EE-9E2E-65EDB12DFAD0}"/>
                </c:ext>
              </c:extLst>
            </c:dLbl>
            <c:dLbl>
              <c:idx val="4"/>
              <c:numFmt formatCode="0,\K" sourceLinked="0"/>
              <c:spPr/>
              <c:txPr>
                <a:bodyPr wrap="square"/>
                <a:lstStyle/>
                <a:p>
                  <a:pPr>
                    <a:defRPr sz="1000" b="1" u="none" strike="noStrike">
                      <a:solidFill>
                        <a:srgbClr val="172D46"/>
                      </a:solidFill>
                      <a:uFillTx/>
                      <a:latin typeface="Apto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DCF-44EE-9E2E-65EDB12DFAD0}"/>
                </c:ext>
              </c:extLst>
            </c:dLbl>
            <c:numFmt formatCode="0,\K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000" b="1" u="none" strike="noStrike">
                    <a:solidFill>
                      <a:srgbClr val="172D46"/>
                    </a:solidFill>
                    <a:uFillTx/>
                    <a:latin typeface="Apto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>
                      <a:solidFill>
                        <a:srgbClr val="F9F9F9"/>
                      </a:solidFill>
                    </a:ln>
                  </c:spPr>
                </c15:leaderLines>
              </c:ext>
            </c:extLst>
          </c:dLbls>
          <c:cat>
            <c:strRef>
              <c:f>categories</c:f>
              <c:strCache>
                <c:ptCount val="10"/>
                <c:pt idx="0">
                  <c:v>Debt consolidation</c:v>
                </c:pt>
                <c:pt idx="1">
                  <c:v>credit card</c:v>
                </c:pt>
                <c:pt idx="2">
                  <c:v>other</c:v>
                </c:pt>
                <c:pt idx="3">
                  <c:v>home improvement</c:v>
                </c:pt>
                <c:pt idx="4">
                  <c:v>major purchase</c:v>
                </c:pt>
                <c:pt idx="5">
                  <c:v>small business</c:v>
                </c:pt>
                <c:pt idx="6">
                  <c:v>car</c:v>
                </c:pt>
                <c:pt idx="7">
                  <c:v>wedding</c:v>
                </c:pt>
                <c:pt idx="8">
                  <c:v>medical</c:v>
                </c:pt>
                <c:pt idx="9">
                  <c:v>moving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0"/>
                <c:pt idx="0">
                  <c:v>18214</c:v>
                </c:pt>
                <c:pt idx="1">
                  <c:v>4998</c:v>
                </c:pt>
                <c:pt idx="2">
                  <c:v>3824</c:v>
                </c:pt>
                <c:pt idx="3">
                  <c:v>2876</c:v>
                </c:pt>
                <c:pt idx="4">
                  <c:v>2110</c:v>
                </c:pt>
                <c:pt idx="5">
                  <c:v>1776</c:v>
                </c:pt>
                <c:pt idx="6">
                  <c:v>1497</c:v>
                </c:pt>
                <c:pt idx="7">
                  <c:v>928</c:v>
                </c:pt>
                <c:pt idx="8">
                  <c:v>667</c:v>
                </c:pt>
                <c:pt idx="9">
                  <c:v>559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DCF-44EE-9E2E-65EDB12DFA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55166463"/>
        <c:axId val="81255314"/>
      </c:barChart>
      <c:catAx>
        <c:axId val="55166463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950" b="0" u="none" strike="noStrike">
                <a:solidFill>
                  <a:srgbClr val="68778B"/>
                </a:solidFill>
                <a:uFillTx/>
                <a:latin typeface="Aptos"/>
              </a:defRPr>
            </a:pPr>
            <a:endParaRPr lang="en-US"/>
          </a:p>
        </c:txPr>
        <c:crossAx val="81255314"/>
        <c:crosses val="autoZero"/>
        <c:auto val="1"/>
        <c:lblAlgn val="ctr"/>
        <c:lblOffset val="100"/>
        <c:noMultiLvlLbl val="0"/>
      </c:catAx>
      <c:valAx>
        <c:axId val="81255314"/>
        <c:scaling>
          <c:orientation val="minMax"/>
          <c:max val="22000"/>
          <c:min val="0"/>
        </c:scaling>
        <c:delete val="0"/>
        <c:axPos val="t"/>
        <c:majorGridlines>
          <c:spPr>
            <a:ln w="9360">
              <a:solidFill>
                <a:srgbClr val="DCE2E8"/>
              </a:solidFill>
              <a:round/>
            </a:ln>
          </c:spPr>
        </c:majorGridlines>
        <c:numFmt formatCode="0,\K" sourceLinked="0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950" b="0" u="none" strike="noStrike">
                <a:solidFill>
                  <a:srgbClr val="68778B"/>
                </a:solidFill>
                <a:uFillTx/>
                <a:latin typeface="Aptos"/>
              </a:defRPr>
            </a:pPr>
            <a:endParaRPr lang="en-US"/>
          </a:p>
        </c:txPr>
        <c:crossAx val="55166463"/>
        <c:crosses val="autoZero"/>
        <c:crossBetween val="between"/>
        <c:majorUnit val="5000"/>
      </c:valAx>
      <c:spPr>
        <a:noFill/>
        <a:ln w="0">
          <a:noFill/>
        </a:ln>
      </c:spPr>
    </c:plotArea>
    <c:plotVisOnly val="1"/>
    <c:dispBlanksAs val="gap"/>
    <c:showDLblsOverMax val="1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areaChart>
        <c:grouping val="standard"/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Total Loan Application</c:v>
                </c:pt>
              </c:strCache>
            </c:strRef>
          </c:tx>
          <c:spPr>
            <a:solidFill>
              <a:srgbClr val="A4ABD3"/>
            </a:solidFill>
            <a:ln w="25560">
              <a:solidFill>
                <a:srgbClr val="1E4FBD"/>
              </a:solidFill>
              <a:round/>
            </a:ln>
          </c:spPr>
          <c:dLbls>
            <c:numFmt formatCode="0.0,\K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900" b="1" u="none" strike="noStrike">
                    <a:solidFill>
                      <a:srgbClr val="1E4FBD"/>
                    </a:solidFill>
                    <a:uFillTx/>
                    <a:latin typeface="Apto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>
                      <a:solidFill>
                        <a:srgbClr val="1E4FBD"/>
                      </a:solidFill>
                    </a:ln>
                  </c:spPr>
                </c15:leaderLines>
              </c:ext>
            </c:extLst>
          </c:dLbls>
          <c:cat>
            <c:strRef>
              <c:f>categories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2"/>
                <c:pt idx="0">
                  <c:v>2332</c:v>
                </c:pt>
                <c:pt idx="1">
                  <c:v>2279</c:v>
                </c:pt>
                <c:pt idx="2">
                  <c:v>2627</c:v>
                </c:pt>
                <c:pt idx="3">
                  <c:v>2755</c:v>
                </c:pt>
                <c:pt idx="4">
                  <c:v>2911</c:v>
                </c:pt>
                <c:pt idx="5">
                  <c:v>3184</c:v>
                </c:pt>
                <c:pt idx="6">
                  <c:v>3366</c:v>
                </c:pt>
                <c:pt idx="7">
                  <c:v>3441</c:v>
                </c:pt>
                <c:pt idx="8">
                  <c:v>3536</c:v>
                </c:pt>
                <c:pt idx="9">
                  <c:v>3796</c:v>
                </c:pt>
                <c:pt idx="10">
                  <c:v>4035</c:v>
                </c:pt>
                <c:pt idx="11">
                  <c:v>4314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5C-4301-849D-91842B42A0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8942972"/>
        <c:axId val="58245363"/>
      </c:areaChart>
      <c:catAx>
        <c:axId val="8894297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360">
            <a:solidFill>
              <a:srgbClr val="AAB4BF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172D46"/>
                </a:solidFill>
                <a:uFillTx/>
                <a:latin typeface="Aptos"/>
              </a:defRPr>
            </a:pPr>
            <a:endParaRPr lang="en-US"/>
          </a:p>
        </c:txPr>
        <c:crossAx val="58245363"/>
        <c:crosses val="autoZero"/>
        <c:auto val="1"/>
        <c:lblAlgn val="ctr"/>
        <c:lblOffset val="100"/>
        <c:noMultiLvlLbl val="0"/>
      </c:catAx>
      <c:valAx>
        <c:axId val="58245363"/>
        <c:scaling>
          <c:orientation val="minMax"/>
          <c:max val="500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9360">
            <a:noFill/>
          </a:ln>
        </c:spPr>
        <c:txPr>
          <a:bodyPr/>
          <a:lstStyle/>
          <a:p>
            <a:pPr>
              <a:defRPr sz="1800" b="0" u="none" strike="noStrike">
                <a:solidFill>
                  <a:srgbClr val="F4F8FB"/>
                </a:solidFill>
                <a:uFillTx/>
                <a:latin typeface="Calibri"/>
              </a:defRPr>
            </a:pPr>
            <a:endParaRPr lang="en-US"/>
          </a:p>
        </c:txPr>
        <c:crossAx val="88942972"/>
        <c:crosses val="autoZero"/>
        <c:crossBetween val="midCat"/>
        <c:majorUnit val="1000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032F0F-CB25-42E8-B67F-C96E4B2D160A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54746A-0B60-4E4E-826C-3F1554219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880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54746A-0B60-4E4E-826C-3F15542198D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194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3D56DC58-EA6C-42BC-AF46-10803CEBE79C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D2C68F3B-81F6-445C-A80E-E031D4C12A2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10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D755925-8F39-4C57-9BC3-1DB26A01A4B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864000" lvl="1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296000" lvl="2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728000" lvl="3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160000" lvl="4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E2F0EDC-1E87-4BBC-8A3F-B6D0AC1C381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 anchorCtr="1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864000" lvl="1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296000" lvl="2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728000" lvl="3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160000" lvl="4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34635E6-23D0-4B92-9BE4-9A43F2A0195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864000" lvl="1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296000" lvl="2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728000" lvl="3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160000" lvl="4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6B091CC-96D2-4392-AADD-DE5F8C93F23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432000" indent="-324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40DEFCD-D339-480E-81AF-E579B8827F6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864000" lvl="1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296000" lvl="2" indent="-288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728000" lvl="3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160000" lvl="4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33D1297-8E3C-409C-8F4A-D167AD9F32A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432000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7971DAD-6FA4-4BB1-896E-6473609F266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C20552C-A8AC-420D-B40C-54017321169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C33E793-1640-4D10-8C78-F690FB57F31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864000" lvl="1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296000" lvl="2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728000" lvl="3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160000" lvl="4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1D4A35C-1417-413E-A4D5-6C3B7AA0CAA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8923EF2-3CA6-4E8C-A491-0A0DE80C7E0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ansziel31/bank-loan-report-portfolio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ounded Rectangle 1"/>
          <p:cNvSpPr/>
          <p:nvPr/>
        </p:nvSpPr>
        <p:spPr>
          <a:xfrm>
            <a:off x="8001000" y="1097280"/>
            <a:ext cx="3337200" cy="4434480"/>
          </a:xfrm>
          <a:prstGeom prst="roundRect">
            <a:avLst>
              <a:gd name="adj" fmla="val 12000"/>
            </a:avLst>
          </a:prstGeom>
          <a:solidFill>
            <a:srgbClr val="203B59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ounded Rectangle 2"/>
          <p:cNvSpPr/>
          <p:nvPr/>
        </p:nvSpPr>
        <p:spPr>
          <a:xfrm>
            <a:off x="8458200" y="3337560"/>
            <a:ext cx="383760" cy="1234080"/>
          </a:xfrm>
          <a:prstGeom prst="roundRect">
            <a:avLst>
              <a:gd name="adj" fmla="val 12000"/>
            </a:avLst>
          </a:prstGeom>
          <a:solidFill>
            <a:srgbClr val="4F79A5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Rounded Rectangle 3"/>
          <p:cNvSpPr/>
          <p:nvPr/>
        </p:nvSpPr>
        <p:spPr>
          <a:xfrm>
            <a:off x="9125640" y="2651760"/>
            <a:ext cx="383760" cy="1919880"/>
          </a:xfrm>
          <a:prstGeom prst="roundRect">
            <a:avLst>
              <a:gd name="adj" fmla="val 12000"/>
            </a:avLst>
          </a:prstGeom>
          <a:solidFill>
            <a:srgbClr val="17A99D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Rounded Rectangle 4"/>
          <p:cNvSpPr/>
          <p:nvPr/>
        </p:nvSpPr>
        <p:spPr>
          <a:xfrm>
            <a:off x="9793080" y="2103120"/>
            <a:ext cx="383760" cy="2468520"/>
          </a:xfrm>
          <a:prstGeom prst="roundRect">
            <a:avLst>
              <a:gd name="adj" fmla="val 12000"/>
            </a:avLst>
          </a:prstGeom>
          <a:solidFill>
            <a:srgbClr val="A5E4DD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" name="Rounded Rectangle 5"/>
          <p:cNvSpPr/>
          <p:nvPr/>
        </p:nvSpPr>
        <p:spPr>
          <a:xfrm>
            <a:off x="10460880" y="1463040"/>
            <a:ext cx="383760" cy="3108600"/>
          </a:xfrm>
          <a:prstGeom prst="roundRect">
            <a:avLst>
              <a:gd name="adj" fmla="val 12000"/>
            </a:avLst>
          </a:prstGeom>
          <a:solidFill>
            <a:srgbClr val="ED8A65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Rectangle 6"/>
          <p:cNvSpPr/>
          <p:nvPr/>
        </p:nvSpPr>
        <p:spPr>
          <a:xfrm>
            <a:off x="8366760" y="1828800"/>
            <a:ext cx="2651400" cy="10440"/>
          </a:xfrm>
          <a:prstGeom prst="rect">
            <a:avLst/>
          </a:prstGeom>
          <a:solidFill>
            <a:srgbClr val="47617A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4200" rIns="90000" bIns="-342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Rectangle 7"/>
          <p:cNvSpPr/>
          <p:nvPr/>
        </p:nvSpPr>
        <p:spPr>
          <a:xfrm>
            <a:off x="8366760" y="2697480"/>
            <a:ext cx="2651400" cy="10440"/>
          </a:xfrm>
          <a:prstGeom prst="rect">
            <a:avLst/>
          </a:prstGeom>
          <a:solidFill>
            <a:srgbClr val="47617A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4200" rIns="90000" bIns="-342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Rectangle 8"/>
          <p:cNvSpPr/>
          <p:nvPr/>
        </p:nvSpPr>
        <p:spPr>
          <a:xfrm>
            <a:off x="8366760" y="3566160"/>
            <a:ext cx="2651400" cy="10440"/>
          </a:xfrm>
          <a:prstGeom prst="rect">
            <a:avLst/>
          </a:prstGeom>
          <a:solidFill>
            <a:srgbClr val="47617A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4200" rIns="90000" bIns="-342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731520" y="777240"/>
            <a:ext cx="6217560" cy="18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7A99D"/>
                </a:solidFill>
                <a:effectLst/>
                <a:uFillTx/>
                <a:latin typeface="Aptos"/>
              </a:rPr>
              <a:t>DATA ANALYST PORTFOLIO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731520" y="1417320"/>
            <a:ext cx="6766200" cy="107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BANK LOAN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REPORT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1"/>
          <p:cNvSpPr/>
          <p:nvPr/>
        </p:nvSpPr>
        <p:spPr>
          <a:xfrm>
            <a:off x="768240" y="3246120"/>
            <a:ext cx="6217560" cy="34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A5E4DD"/>
                </a:solidFill>
                <a:effectLst/>
                <a:uFillTx/>
                <a:latin typeface="Aptos"/>
              </a:rPr>
              <a:t>Loan Portfolio Analysis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Rectangle 12"/>
          <p:cNvSpPr/>
          <p:nvPr/>
        </p:nvSpPr>
        <p:spPr>
          <a:xfrm>
            <a:off x="768240" y="3904560"/>
            <a:ext cx="1005480" cy="63720"/>
          </a:xfrm>
          <a:prstGeom prst="rect">
            <a:avLst/>
          </a:prstGeom>
          <a:solidFill>
            <a:srgbClr val="17A99D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13"/>
          <p:cNvSpPr/>
          <p:nvPr/>
        </p:nvSpPr>
        <p:spPr>
          <a:xfrm>
            <a:off x="768240" y="4251960"/>
            <a:ext cx="6217560" cy="2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D5E0E9"/>
                </a:solidFill>
                <a:effectLst/>
                <a:uFillTx/>
                <a:latin typeface="Aptos"/>
              </a:rPr>
              <a:t>A loan data case study using PostgreSQL and Power BI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14"/>
          <p:cNvSpPr/>
          <p:nvPr/>
        </p:nvSpPr>
        <p:spPr>
          <a:xfrm>
            <a:off x="768240" y="5989320"/>
            <a:ext cx="7314840" cy="18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8BBCD"/>
                </a:solidFill>
                <a:effectLst/>
                <a:uFillTx/>
                <a:latin typeface="Aptos"/>
              </a:rPr>
              <a:t>Baharu Simanjuntak  •  Data Analytics Bootcamp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5"/>
          <p:cNvSpPr/>
          <p:nvPr/>
        </p:nvSpPr>
        <p:spPr>
          <a:xfrm>
            <a:off x="8046720" y="5715000"/>
            <a:ext cx="3474360" cy="15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A8BBCD"/>
                </a:solidFill>
                <a:effectLst/>
                <a:uFillTx/>
                <a:latin typeface="Aptos"/>
              </a:rPr>
              <a:t>DATA 2021  |  SQL ANALYSIS  |  STORYTELLING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1"/>
          <p:cNvSpPr/>
          <p:nvPr/>
        </p:nvSpPr>
        <p:spPr>
          <a:xfrm>
            <a:off x="594360" y="320040"/>
            <a:ext cx="10881000" cy="17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17A99D"/>
                </a:solidFill>
                <a:effectLst/>
                <a:uFillTx/>
                <a:latin typeface="Aptos"/>
              </a:rPr>
              <a:t>01 / INTRODUCTION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594360" y="658440"/>
            <a:ext cx="10972440" cy="41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152A43"/>
                </a:solidFill>
                <a:effectLst/>
                <a:uFillTx/>
                <a:latin typeface="Aptos"/>
              </a:rPr>
              <a:t>About Me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3"/>
          <p:cNvSpPr/>
          <p:nvPr/>
        </p:nvSpPr>
        <p:spPr>
          <a:xfrm>
            <a:off x="621720" y="1225440"/>
            <a:ext cx="10881000" cy="20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47488"/>
                </a:solidFill>
                <a:effectLst/>
                <a:uFillTx/>
                <a:latin typeface="Aptos"/>
              </a:rPr>
              <a:t>Professional background and my transition into data analytics.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ectangle 4"/>
          <p:cNvSpPr/>
          <p:nvPr/>
        </p:nvSpPr>
        <p:spPr>
          <a:xfrm>
            <a:off x="594360" y="6537960"/>
            <a:ext cx="10972440" cy="13320"/>
          </a:xfrm>
          <a:prstGeom prst="rect">
            <a:avLst/>
          </a:prstGeom>
          <a:solidFill>
            <a:srgbClr val="DCE4EB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1320" rIns="90000" bIns="-313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5"/>
          <p:cNvSpPr/>
          <p:nvPr/>
        </p:nvSpPr>
        <p:spPr>
          <a:xfrm>
            <a:off x="594360" y="6574680"/>
            <a:ext cx="9143640" cy="14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647488"/>
                </a:solidFill>
                <a:effectLst/>
                <a:uFillTx/>
                <a:latin typeface="Aptos"/>
              </a:rPr>
              <a:t>BANK LOAN REPORT  •  PORTFOLIO CASE STUDY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ounded Rectangle 7"/>
          <p:cNvSpPr/>
          <p:nvPr/>
        </p:nvSpPr>
        <p:spPr>
          <a:xfrm>
            <a:off x="640080" y="1828800"/>
            <a:ext cx="3291480" cy="4251600"/>
          </a:xfrm>
          <a:prstGeom prst="roundRect">
            <a:avLst>
              <a:gd name="adj" fmla="val 12000"/>
            </a:avLst>
          </a:prstGeom>
          <a:solidFill>
            <a:srgbClr val="152A43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8"/>
          <p:cNvSpPr/>
          <p:nvPr/>
        </p:nvSpPr>
        <p:spPr>
          <a:xfrm>
            <a:off x="914400" y="2240280"/>
            <a:ext cx="2742840" cy="76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BAHARU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SIMANJUNTAK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ectangle 9"/>
          <p:cNvSpPr/>
          <p:nvPr/>
        </p:nvSpPr>
        <p:spPr>
          <a:xfrm>
            <a:off x="914400" y="3383280"/>
            <a:ext cx="731160" cy="50040"/>
          </a:xfrm>
          <a:prstGeom prst="rect">
            <a:avLst/>
          </a:prstGeom>
          <a:solidFill>
            <a:srgbClr val="17A99D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10"/>
          <p:cNvSpPr/>
          <p:nvPr/>
        </p:nvSpPr>
        <p:spPr>
          <a:xfrm>
            <a:off x="914400" y="3703320"/>
            <a:ext cx="2559960" cy="67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r>
              <a:rPr lang="en-US" sz="1400" b="1" u="none" strike="noStrike">
                <a:solidFill>
                  <a:srgbClr val="A5E4DD"/>
                </a:solidFill>
                <a:effectLst/>
                <a:uFillTx/>
                <a:latin typeface="Aptos"/>
              </a:rPr>
              <a:t>Data Analytics &amp; BI Bootcamp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A5E4DD"/>
                </a:solidFill>
                <a:effectLst/>
                <a:uFillTx/>
                <a:latin typeface="Aptos"/>
              </a:rPr>
              <a:t>Dibimbing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11"/>
          <p:cNvSpPr/>
          <p:nvPr/>
        </p:nvSpPr>
        <p:spPr>
          <a:xfrm>
            <a:off x="914400" y="5120640"/>
            <a:ext cx="2651400" cy="20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D5E0E9"/>
                </a:solidFill>
                <a:effectLst/>
                <a:uFillTx/>
                <a:latin typeface="Aptos"/>
              </a:rPr>
              <a:t>Career goal: Junior Data Analyst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ounded Rectangle 12"/>
          <p:cNvSpPr/>
          <p:nvPr/>
        </p:nvSpPr>
        <p:spPr>
          <a:xfrm>
            <a:off x="4343400" y="1920240"/>
            <a:ext cx="72720" cy="621360"/>
          </a:xfrm>
          <a:prstGeom prst="roundRect">
            <a:avLst>
              <a:gd name="adj" fmla="val 12000"/>
            </a:avLst>
          </a:prstGeom>
          <a:solidFill>
            <a:srgbClr val="17A99D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13"/>
          <p:cNvSpPr/>
          <p:nvPr/>
        </p:nvSpPr>
        <p:spPr>
          <a:xfrm>
            <a:off x="4544640" y="1874520"/>
            <a:ext cx="6793560" cy="23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52A43"/>
                </a:solidFill>
                <a:effectLst/>
                <a:uFillTx/>
                <a:latin typeface="Aptos"/>
              </a:rPr>
              <a:t>Previous experience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14"/>
          <p:cNvSpPr/>
          <p:nvPr/>
        </p:nvSpPr>
        <p:spPr>
          <a:xfrm>
            <a:off x="4544640" y="2176200"/>
            <a:ext cx="6738840" cy="37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9394B"/>
                </a:solidFill>
                <a:effectLst/>
                <a:uFillTx/>
                <a:latin typeface="Aptos"/>
              </a:rPr>
              <a:t>3+ years across Purchasing and telecom field operations, including vendor quote comparisons, invoice processing, stock checks, and structured field-data collection.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ounded Rectangle 15"/>
          <p:cNvSpPr/>
          <p:nvPr/>
        </p:nvSpPr>
        <p:spPr>
          <a:xfrm>
            <a:off x="4343400" y="3108960"/>
            <a:ext cx="72720" cy="621360"/>
          </a:xfrm>
          <a:prstGeom prst="roundRect">
            <a:avLst>
              <a:gd name="adj" fmla="val 12000"/>
            </a:avLst>
          </a:prstGeom>
          <a:solidFill>
            <a:srgbClr val="4F79A5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16"/>
          <p:cNvSpPr/>
          <p:nvPr/>
        </p:nvSpPr>
        <p:spPr>
          <a:xfrm>
            <a:off x="4544640" y="3063240"/>
            <a:ext cx="6793560" cy="23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52A43"/>
                </a:solidFill>
                <a:effectLst/>
                <a:uFillTx/>
                <a:latin typeface="Aptos"/>
              </a:rPr>
              <a:t>Learning focus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17"/>
          <p:cNvSpPr/>
          <p:nvPr/>
        </p:nvSpPr>
        <p:spPr>
          <a:xfrm>
            <a:off x="4544640" y="3364920"/>
            <a:ext cx="6738840" cy="37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9394B"/>
                </a:solidFill>
                <a:effectLst/>
                <a:uFillTx/>
                <a:latin typeface="Aptos"/>
              </a:rPr>
              <a:t>Building practical skills in Excel, SQL, Python, and Power BI to analyze business data and communicate insights clearly.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18"/>
          <p:cNvSpPr/>
          <p:nvPr/>
        </p:nvSpPr>
        <p:spPr>
          <a:xfrm>
            <a:off x="4343400" y="4297680"/>
            <a:ext cx="72720" cy="621360"/>
          </a:xfrm>
          <a:prstGeom prst="roundRect">
            <a:avLst>
              <a:gd name="adj" fmla="val 12000"/>
            </a:avLst>
          </a:prstGeom>
          <a:solidFill>
            <a:srgbClr val="ED8A65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19"/>
          <p:cNvSpPr/>
          <p:nvPr/>
        </p:nvSpPr>
        <p:spPr>
          <a:xfrm>
            <a:off x="4544640" y="4251960"/>
            <a:ext cx="6793560" cy="23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52A43"/>
                </a:solidFill>
                <a:effectLst/>
                <a:uFillTx/>
                <a:latin typeface="Aptos"/>
              </a:rPr>
              <a:t>Portfolio goal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20"/>
          <p:cNvSpPr/>
          <p:nvPr/>
        </p:nvSpPr>
        <p:spPr>
          <a:xfrm>
            <a:off x="4544640" y="4553640"/>
            <a:ext cx="6738840" cy="37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9394B"/>
                </a:solidFill>
                <a:effectLst/>
                <a:uFillTx/>
                <a:latin typeface="Aptos"/>
              </a:rPr>
              <a:t>Documenting my learning through a loan-portfolio case study, with data checks, SQL review, dashboard refinement, and data storytelling.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ounded Rectangle 21"/>
          <p:cNvSpPr/>
          <p:nvPr/>
        </p:nvSpPr>
        <p:spPr>
          <a:xfrm>
            <a:off x="4343400" y="5532120"/>
            <a:ext cx="6857640" cy="502560"/>
          </a:xfrm>
          <a:prstGeom prst="roundRect">
            <a:avLst>
              <a:gd name="adj" fmla="val 12000"/>
            </a:avLst>
          </a:prstGeom>
          <a:solidFill>
            <a:srgbClr val="EAF0F5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Box 22"/>
          <p:cNvSpPr/>
          <p:nvPr/>
        </p:nvSpPr>
        <p:spPr>
          <a:xfrm>
            <a:off x="4507920" y="5641920"/>
            <a:ext cx="6528600" cy="18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8"/>
                </a:solidFill>
                <a:effectLst/>
                <a:uFillTx/>
                <a:latin typeface="Aptos"/>
              </a:rPr>
              <a:t>Core tools: Excel • PostgreSQL • Python • Power BI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1"/>
          <p:cNvSpPr/>
          <p:nvPr/>
        </p:nvSpPr>
        <p:spPr>
          <a:xfrm>
            <a:off x="594360" y="320040"/>
            <a:ext cx="10881000" cy="17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u="none" strike="noStrike" dirty="0">
                <a:solidFill>
                  <a:srgbClr val="17A99D"/>
                </a:solidFill>
                <a:effectLst/>
                <a:uFillTx/>
                <a:latin typeface="Aptos"/>
              </a:rPr>
              <a:t>02 / PROJECT OVERVIEW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2"/>
          <p:cNvSpPr/>
          <p:nvPr/>
        </p:nvSpPr>
        <p:spPr>
          <a:xfrm>
            <a:off x="594360" y="658440"/>
            <a:ext cx="10972440" cy="41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152A43"/>
                </a:solidFill>
                <a:effectLst/>
                <a:uFillTx/>
                <a:latin typeface="Aptos"/>
              </a:rPr>
              <a:t>Bank Loan Report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3"/>
          <p:cNvSpPr/>
          <p:nvPr/>
        </p:nvSpPr>
        <p:spPr>
          <a:xfrm>
            <a:off x="621720" y="1225440"/>
            <a:ext cx="10881000" cy="20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47488"/>
                </a:solidFill>
                <a:effectLst/>
                <a:uFillTx/>
                <a:latin typeface="Aptos"/>
              </a:rPr>
              <a:t>Project overview and skills applied.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ectangle 4"/>
          <p:cNvSpPr/>
          <p:nvPr/>
        </p:nvSpPr>
        <p:spPr>
          <a:xfrm>
            <a:off x="594360" y="6537960"/>
            <a:ext cx="10972440" cy="13320"/>
          </a:xfrm>
          <a:prstGeom prst="rect">
            <a:avLst/>
          </a:prstGeom>
          <a:solidFill>
            <a:srgbClr val="DCE4EB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1320" rIns="90000" bIns="-313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5"/>
          <p:cNvSpPr/>
          <p:nvPr/>
        </p:nvSpPr>
        <p:spPr>
          <a:xfrm>
            <a:off x="594360" y="6574680"/>
            <a:ext cx="9143640" cy="14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647488"/>
                </a:solidFill>
                <a:effectLst/>
                <a:uFillTx/>
                <a:latin typeface="Aptos"/>
              </a:rPr>
              <a:t>BANK LOAN REPORT  •  PORTFOLIO CASE STUDY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ounded Rectangle 7"/>
          <p:cNvSpPr/>
          <p:nvPr/>
        </p:nvSpPr>
        <p:spPr>
          <a:xfrm>
            <a:off x="640080" y="1783080"/>
            <a:ext cx="5303160" cy="438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8"/>
          <p:cNvSpPr/>
          <p:nvPr/>
        </p:nvSpPr>
        <p:spPr>
          <a:xfrm>
            <a:off x="914400" y="2030040"/>
            <a:ext cx="4388760" cy="17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17A99D"/>
                </a:solidFill>
                <a:effectLst/>
                <a:uFillTx/>
                <a:latin typeface="Aptos"/>
              </a:rPr>
              <a:t>PROJECT SUMMARY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9"/>
          <p:cNvSpPr/>
          <p:nvPr/>
        </p:nvSpPr>
        <p:spPr>
          <a:xfrm>
            <a:off x="914400" y="2468880"/>
            <a:ext cx="4571640" cy="107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52A43"/>
                </a:solidFill>
                <a:effectLst/>
                <a:uFillTx/>
                <a:latin typeface="Aptos"/>
              </a:rPr>
              <a:t>Reviewing loan applications and portfolio performance by loan amount, recorded payments, loan status, and borrower characteristics.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10"/>
          <p:cNvSpPr/>
          <p:nvPr/>
        </p:nvSpPr>
        <p:spPr>
          <a:xfrm>
            <a:off x="914400" y="3703320"/>
            <a:ext cx="4388760" cy="20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4F79A5"/>
                </a:solidFill>
                <a:effectLst/>
                <a:uFillTx/>
                <a:latin typeface="Aptos"/>
              </a:rPr>
              <a:t>Key question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11"/>
          <p:cNvSpPr/>
          <p:nvPr/>
        </p:nvSpPr>
        <p:spPr>
          <a:xfrm>
            <a:off x="914400" y="4041720"/>
            <a:ext cx="4480200" cy="43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9394B"/>
                </a:solidFill>
                <a:effectLst/>
                <a:uFillTx/>
                <a:latin typeface="Aptos"/>
              </a:rPr>
              <a:t>What is the loan-status mix, and which portfolio indicators need monitoring?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12"/>
          <p:cNvSpPr/>
          <p:nvPr/>
        </p:nvSpPr>
        <p:spPr>
          <a:xfrm>
            <a:off x="914400" y="5074920"/>
            <a:ext cx="4388760" cy="20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4F79A5"/>
                </a:solidFill>
                <a:effectLst/>
                <a:uFillTx/>
                <a:latin typeface="Aptos"/>
              </a:rPr>
              <a:t>Deliverables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13"/>
          <p:cNvSpPr/>
          <p:nvPr/>
        </p:nvSpPr>
        <p:spPr>
          <a:xfrm>
            <a:off x="914400" y="5394960"/>
            <a:ext cx="4480200" cy="40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9394B"/>
                </a:solidFill>
                <a:effectLst/>
                <a:uFillTx/>
                <a:latin typeface="Aptos"/>
              </a:rPr>
              <a:t>KPI summary, analytical SQL queries, visualizations, insights, and recommendations.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ounded Rectangle 14"/>
          <p:cNvSpPr/>
          <p:nvPr/>
        </p:nvSpPr>
        <p:spPr>
          <a:xfrm>
            <a:off x="6263640" y="1783080"/>
            <a:ext cx="5257440" cy="4388760"/>
          </a:xfrm>
          <a:prstGeom prst="roundRect">
            <a:avLst>
              <a:gd name="adj" fmla="val 12000"/>
            </a:avLst>
          </a:prstGeom>
          <a:solidFill>
            <a:srgbClr val="152A43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15"/>
          <p:cNvSpPr/>
          <p:nvPr/>
        </p:nvSpPr>
        <p:spPr>
          <a:xfrm>
            <a:off x="6583680" y="2057400"/>
            <a:ext cx="4388760" cy="17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5E4DD"/>
                </a:solidFill>
                <a:effectLst/>
                <a:uFillTx/>
                <a:latin typeface="Aptos"/>
              </a:rPr>
              <a:t>TOOLS &amp; METHODS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ounded Rectangle 16"/>
          <p:cNvSpPr/>
          <p:nvPr/>
        </p:nvSpPr>
        <p:spPr>
          <a:xfrm>
            <a:off x="6583680" y="2560320"/>
            <a:ext cx="82080" cy="475200"/>
          </a:xfrm>
          <a:prstGeom prst="roundRect">
            <a:avLst>
              <a:gd name="adj" fmla="val 12000"/>
            </a:avLst>
          </a:prstGeom>
          <a:solidFill>
            <a:srgbClr val="17A99D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17"/>
          <p:cNvSpPr/>
          <p:nvPr/>
        </p:nvSpPr>
        <p:spPr>
          <a:xfrm>
            <a:off x="6812280" y="2560320"/>
            <a:ext cx="3931560" cy="21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PostgreSQL / DBeaver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18"/>
          <p:cNvSpPr/>
          <p:nvPr/>
        </p:nvSpPr>
        <p:spPr>
          <a:xfrm>
            <a:off x="6812280" y="2807280"/>
            <a:ext cx="425160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CAD7E2"/>
                </a:solidFill>
                <a:effectLst/>
                <a:uFillTx/>
                <a:latin typeface="Aptos"/>
              </a:rPr>
              <a:t>Reviewing queries and validating aggregation results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ounded Rectangle 19"/>
          <p:cNvSpPr/>
          <p:nvPr/>
        </p:nvSpPr>
        <p:spPr>
          <a:xfrm>
            <a:off x="6583680" y="3319200"/>
            <a:ext cx="82080" cy="475200"/>
          </a:xfrm>
          <a:prstGeom prst="roundRect">
            <a:avLst>
              <a:gd name="adj" fmla="val 12000"/>
            </a:avLst>
          </a:prstGeom>
          <a:solidFill>
            <a:srgbClr val="4F79A5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20"/>
          <p:cNvSpPr/>
          <p:nvPr/>
        </p:nvSpPr>
        <p:spPr>
          <a:xfrm>
            <a:off x="6812280" y="3319200"/>
            <a:ext cx="3931560" cy="21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Power BI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21"/>
          <p:cNvSpPr/>
          <p:nvPr/>
        </p:nvSpPr>
        <p:spPr>
          <a:xfrm>
            <a:off x="6812280" y="3566160"/>
            <a:ext cx="425160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CAD7E2"/>
                </a:solidFill>
                <a:effectLst/>
                <a:uFillTx/>
                <a:latin typeface="Aptos"/>
              </a:rPr>
              <a:t>Dashboard for summarizing results and exploring patterns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ounded Rectangle 22"/>
          <p:cNvSpPr/>
          <p:nvPr/>
        </p:nvSpPr>
        <p:spPr>
          <a:xfrm>
            <a:off x="6583680" y="4078080"/>
            <a:ext cx="82080" cy="475200"/>
          </a:xfrm>
          <a:prstGeom prst="roundRect">
            <a:avLst>
              <a:gd name="adj" fmla="val 12000"/>
            </a:avLst>
          </a:prstGeom>
          <a:solidFill>
            <a:srgbClr val="ED8A65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23"/>
          <p:cNvSpPr/>
          <p:nvPr/>
        </p:nvSpPr>
        <p:spPr>
          <a:xfrm>
            <a:off x="6812280" y="4078080"/>
            <a:ext cx="3931560" cy="21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Data checks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24"/>
          <p:cNvSpPr/>
          <p:nvPr/>
        </p:nvSpPr>
        <p:spPr>
          <a:xfrm>
            <a:off x="6812280" y="4325040"/>
            <a:ext cx="425160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CAD7E2"/>
                </a:solidFill>
                <a:effectLst/>
                <a:uFillTx/>
                <a:latin typeface="Aptos"/>
              </a:rPr>
              <a:t>Row counts, unique IDs, missing values, and date range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Rounded Rectangle 25"/>
          <p:cNvSpPr/>
          <p:nvPr/>
        </p:nvSpPr>
        <p:spPr>
          <a:xfrm>
            <a:off x="6583680" y="4837320"/>
            <a:ext cx="82080" cy="475200"/>
          </a:xfrm>
          <a:prstGeom prst="roundRect">
            <a:avLst>
              <a:gd name="adj" fmla="val 12000"/>
            </a:avLst>
          </a:prstGeom>
          <a:solidFill>
            <a:srgbClr val="D5A23E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26"/>
          <p:cNvSpPr/>
          <p:nvPr/>
        </p:nvSpPr>
        <p:spPr>
          <a:xfrm>
            <a:off x="6812280" y="4837320"/>
            <a:ext cx="3931560" cy="21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Storytelling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27"/>
          <p:cNvSpPr/>
          <p:nvPr/>
        </p:nvSpPr>
        <p:spPr>
          <a:xfrm>
            <a:off x="6812280" y="5083920"/>
            <a:ext cx="425160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CAD7E2"/>
                </a:solidFill>
                <a:effectLst/>
                <a:uFillTx/>
                <a:latin typeface="Aptos"/>
              </a:rPr>
              <a:t>Connecting metrics to business questions and follow-up actions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ounded Rectangle 28"/>
          <p:cNvSpPr/>
          <p:nvPr/>
        </p:nvSpPr>
        <p:spPr>
          <a:xfrm>
            <a:off x="6583680" y="5474637"/>
            <a:ext cx="4571640" cy="529920"/>
          </a:xfrm>
          <a:prstGeom prst="roundRect">
            <a:avLst>
              <a:gd name="adj" fmla="val 12000"/>
            </a:avLst>
          </a:prstGeom>
          <a:solidFill>
            <a:srgbClr val="294A67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29"/>
          <p:cNvSpPr/>
          <p:nvPr/>
        </p:nvSpPr>
        <p:spPr>
          <a:xfrm>
            <a:off x="6665760" y="5474637"/>
            <a:ext cx="4242600" cy="52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Portfolio type: Project-based case study.</a:t>
            </a:r>
          </a:p>
          <a:p>
            <a:r>
              <a:rPr lang="en-US" sz="800" dirty="0">
                <a:solidFill>
                  <a:schemeClr val="bg1"/>
                </a:solidFill>
              </a:rPr>
              <a:t>I chose this Bank Loan project to practice data checking, loan status analysis, and making recommendations using SQL and Power BI. This project uses a sourced project brief and reference assets.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Box 1"/>
          <p:cNvSpPr/>
          <p:nvPr/>
        </p:nvSpPr>
        <p:spPr>
          <a:xfrm>
            <a:off x="594360" y="320040"/>
            <a:ext cx="10881000" cy="17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17A99D"/>
                </a:solidFill>
                <a:effectLst/>
                <a:uFillTx/>
                <a:latin typeface="Aptos"/>
              </a:rPr>
              <a:t>03 / MAIN PROJECT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2"/>
          <p:cNvSpPr/>
          <p:nvPr/>
        </p:nvSpPr>
        <p:spPr>
          <a:xfrm>
            <a:off x="594360" y="658440"/>
            <a:ext cx="10972440" cy="41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152A43"/>
                </a:solidFill>
                <a:effectLst/>
                <a:uFillTx/>
                <a:latin typeface="Aptos"/>
              </a:rPr>
              <a:t>Business context &amp; questions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3"/>
          <p:cNvSpPr/>
          <p:nvPr/>
        </p:nvSpPr>
        <p:spPr>
          <a:xfrm>
            <a:off x="621720" y="1225440"/>
            <a:ext cx="10881000" cy="20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47488"/>
                </a:solidFill>
                <a:effectLst/>
                <a:uFillTx/>
                <a:latin typeface="Aptos"/>
              </a:rPr>
              <a:t>Loan reporting helps stakeholders monitor portfolio size, status, and borrower characteristics.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ectangle 4"/>
          <p:cNvSpPr/>
          <p:nvPr/>
        </p:nvSpPr>
        <p:spPr>
          <a:xfrm>
            <a:off x="594360" y="6537960"/>
            <a:ext cx="10972440" cy="13320"/>
          </a:xfrm>
          <a:prstGeom prst="rect">
            <a:avLst/>
          </a:prstGeom>
          <a:solidFill>
            <a:srgbClr val="DCE4EB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1320" rIns="90000" bIns="-313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5"/>
          <p:cNvSpPr/>
          <p:nvPr/>
        </p:nvSpPr>
        <p:spPr>
          <a:xfrm>
            <a:off x="594360" y="6574680"/>
            <a:ext cx="9143640" cy="14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647488"/>
                </a:solidFill>
                <a:effectLst/>
                <a:uFillTx/>
                <a:latin typeface="Aptos"/>
              </a:rPr>
              <a:t>BANK LOAN REPORT  •  PORTFOLIO CASE STUDY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ounded Rectangle 7"/>
          <p:cNvSpPr/>
          <p:nvPr/>
        </p:nvSpPr>
        <p:spPr>
          <a:xfrm>
            <a:off x="777240" y="1920240"/>
            <a:ext cx="72720" cy="621360"/>
          </a:xfrm>
          <a:prstGeom prst="roundRect">
            <a:avLst>
              <a:gd name="adj" fmla="val 12000"/>
            </a:avLst>
          </a:prstGeom>
          <a:solidFill>
            <a:srgbClr val="17A99D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8"/>
          <p:cNvSpPr/>
          <p:nvPr/>
        </p:nvSpPr>
        <p:spPr>
          <a:xfrm>
            <a:off x="978480" y="1874520"/>
            <a:ext cx="5056200" cy="23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52A43"/>
                </a:solidFill>
                <a:effectLst/>
                <a:uFillTx/>
                <a:latin typeface="Aptos"/>
              </a:rPr>
              <a:t>Context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9"/>
          <p:cNvSpPr/>
          <p:nvPr/>
        </p:nvSpPr>
        <p:spPr>
          <a:xfrm>
            <a:off x="978480" y="2176200"/>
            <a:ext cx="5001480" cy="40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9394B"/>
                </a:solidFill>
                <a:effectLst/>
                <a:uFillTx/>
                <a:latin typeface="Aptos"/>
              </a:rPr>
              <a:t>A lender needs to track application volume, loan amounts, and recorded repayments.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ounded Rectangle 10"/>
          <p:cNvSpPr/>
          <p:nvPr/>
        </p:nvSpPr>
        <p:spPr>
          <a:xfrm>
            <a:off x="777240" y="3200400"/>
            <a:ext cx="72720" cy="621360"/>
          </a:xfrm>
          <a:prstGeom prst="roundRect">
            <a:avLst>
              <a:gd name="adj" fmla="val 12000"/>
            </a:avLst>
          </a:prstGeom>
          <a:solidFill>
            <a:srgbClr val="4F79A5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11"/>
          <p:cNvSpPr/>
          <p:nvPr/>
        </p:nvSpPr>
        <p:spPr>
          <a:xfrm>
            <a:off x="978480" y="3154680"/>
            <a:ext cx="5056200" cy="23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52A43"/>
                </a:solidFill>
                <a:effectLst/>
                <a:uFillTx/>
                <a:latin typeface="Aptos"/>
              </a:rPr>
              <a:t>Analysis challenge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12"/>
          <p:cNvSpPr/>
          <p:nvPr/>
        </p:nvSpPr>
        <p:spPr>
          <a:xfrm>
            <a:off x="978480" y="3456360"/>
            <a:ext cx="5001480" cy="37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9394B"/>
                </a:solidFill>
                <a:effectLst/>
                <a:uFillTx/>
                <a:latin typeface="Aptos"/>
              </a:rPr>
              <a:t>Metrics are spread across multiple fields. A summary is needed to compare loan statuses and identify dominant segments.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ounded Rectangle 13"/>
          <p:cNvSpPr/>
          <p:nvPr/>
        </p:nvSpPr>
        <p:spPr>
          <a:xfrm>
            <a:off x="6309360" y="1920240"/>
            <a:ext cx="72720" cy="621360"/>
          </a:xfrm>
          <a:prstGeom prst="roundRect">
            <a:avLst>
              <a:gd name="adj" fmla="val 12000"/>
            </a:avLst>
          </a:prstGeom>
          <a:solidFill>
            <a:srgbClr val="ED8A65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14"/>
          <p:cNvSpPr/>
          <p:nvPr/>
        </p:nvSpPr>
        <p:spPr>
          <a:xfrm>
            <a:off x="6510600" y="1874520"/>
            <a:ext cx="4873320" cy="23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52A43"/>
                </a:solidFill>
                <a:effectLst/>
                <a:uFillTx/>
                <a:latin typeface="Aptos"/>
              </a:rPr>
              <a:t>Question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15"/>
          <p:cNvSpPr/>
          <p:nvPr/>
        </p:nvSpPr>
        <p:spPr>
          <a:xfrm>
            <a:off x="6510600" y="2176200"/>
            <a:ext cx="4818600" cy="37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9394B"/>
                </a:solidFill>
                <a:effectLst/>
                <a:uFillTx/>
                <a:latin typeface="Aptos"/>
              </a:rPr>
              <a:t>What are total applications, funded amount, recorded payments, average interest rate, and average DTI?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Rounded Rectangle 16"/>
          <p:cNvSpPr/>
          <p:nvPr/>
        </p:nvSpPr>
        <p:spPr>
          <a:xfrm>
            <a:off x="6309360" y="3200400"/>
            <a:ext cx="72720" cy="621360"/>
          </a:xfrm>
          <a:prstGeom prst="roundRect">
            <a:avLst>
              <a:gd name="adj" fmla="val 12000"/>
            </a:avLst>
          </a:prstGeom>
          <a:solidFill>
            <a:srgbClr val="D5A23E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Box 17"/>
          <p:cNvSpPr/>
          <p:nvPr/>
        </p:nvSpPr>
        <p:spPr>
          <a:xfrm>
            <a:off x="6510600" y="3154680"/>
            <a:ext cx="4873320" cy="23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52A43"/>
                </a:solidFill>
                <a:effectLst/>
                <a:uFillTx/>
                <a:latin typeface="Aptos"/>
              </a:rPr>
              <a:t>Question 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18"/>
          <p:cNvSpPr/>
          <p:nvPr/>
        </p:nvSpPr>
        <p:spPr>
          <a:xfrm>
            <a:off x="6510600" y="3456360"/>
            <a:ext cx="4818600" cy="37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9394B"/>
                </a:solidFill>
                <a:effectLst/>
                <a:uFillTx/>
                <a:latin typeface="Aptos"/>
              </a:rPr>
              <a:t>How is the portfolio split across Fully Paid, Current, and Charged Off? How do applications vary by month and loan purpose?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ounded Rectangle 19"/>
          <p:cNvSpPr/>
          <p:nvPr/>
        </p:nvSpPr>
        <p:spPr>
          <a:xfrm>
            <a:off x="822960" y="5074920"/>
            <a:ext cx="10515240" cy="639720"/>
          </a:xfrm>
          <a:prstGeom prst="roundRect">
            <a:avLst>
              <a:gd name="adj" fmla="val 12000"/>
            </a:avLst>
          </a:prstGeom>
          <a:solidFill>
            <a:srgbClr val="EAF0F5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20"/>
          <p:cNvSpPr/>
          <p:nvPr/>
        </p:nvSpPr>
        <p:spPr>
          <a:xfrm>
            <a:off x="987480" y="5184720"/>
            <a:ext cx="10186200" cy="18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8"/>
                </a:solidFill>
                <a:effectLst/>
                <a:uFillTx/>
                <a:latin typeface="Aptos"/>
              </a:rPr>
              <a:t>Scope: This is a descriptive analysis of the available dataset, not a default prediction model or a causal analysis.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 1"/>
          <p:cNvSpPr/>
          <p:nvPr/>
        </p:nvSpPr>
        <p:spPr>
          <a:xfrm>
            <a:off x="594360" y="320040"/>
            <a:ext cx="10881000" cy="17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17A99D"/>
                </a:solidFill>
                <a:effectLst/>
                <a:uFillTx/>
                <a:latin typeface="Aptos"/>
              </a:rPr>
              <a:t>04 / ANALYSIS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2"/>
          <p:cNvSpPr/>
          <p:nvPr/>
        </p:nvSpPr>
        <p:spPr>
          <a:xfrm>
            <a:off x="594360" y="658440"/>
            <a:ext cx="10972440" cy="41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152A43"/>
                </a:solidFill>
                <a:effectLst/>
                <a:uFillTx/>
                <a:latin typeface="Aptos"/>
              </a:rPr>
              <a:t>Understanding and preparing the data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3"/>
          <p:cNvSpPr/>
          <p:nvPr/>
        </p:nvSpPr>
        <p:spPr>
          <a:xfrm>
            <a:off x="621720" y="1225440"/>
            <a:ext cx="10881000" cy="20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47488"/>
                </a:solidFill>
                <a:effectLst/>
                <a:uFillTx/>
                <a:latin typeface="Aptos"/>
              </a:rPr>
              <a:t>The CSV was checked before calculating the metrics.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ectangle 4"/>
          <p:cNvSpPr/>
          <p:nvPr/>
        </p:nvSpPr>
        <p:spPr>
          <a:xfrm>
            <a:off x="594360" y="6537960"/>
            <a:ext cx="10972440" cy="13320"/>
          </a:xfrm>
          <a:prstGeom prst="rect">
            <a:avLst/>
          </a:prstGeom>
          <a:solidFill>
            <a:srgbClr val="DCE4EB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1320" rIns="90000" bIns="-313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Box 5"/>
          <p:cNvSpPr/>
          <p:nvPr/>
        </p:nvSpPr>
        <p:spPr>
          <a:xfrm>
            <a:off x="594360" y="6574680"/>
            <a:ext cx="9143640" cy="14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647488"/>
                </a:solidFill>
                <a:effectLst/>
                <a:uFillTx/>
                <a:latin typeface="Aptos"/>
              </a:rPr>
              <a:t>BANK LOAN REPORT  •  PORTFOLIO CASE STUDY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ounded Rectangle 7"/>
          <p:cNvSpPr/>
          <p:nvPr/>
        </p:nvSpPr>
        <p:spPr>
          <a:xfrm>
            <a:off x="731520" y="1828800"/>
            <a:ext cx="2514240" cy="1416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Rounded Rectangle 8"/>
          <p:cNvSpPr/>
          <p:nvPr/>
        </p:nvSpPr>
        <p:spPr>
          <a:xfrm>
            <a:off x="731520" y="1828800"/>
            <a:ext cx="72720" cy="1416960"/>
          </a:xfrm>
          <a:prstGeom prst="roundRect">
            <a:avLst>
              <a:gd name="adj" fmla="val 12000"/>
            </a:avLst>
          </a:prstGeom>
          <a:solidFill>
            <a:srgbClr val="17A99D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TextBox 9"/>
          <p:cNvSpPr/>
          <p:nvPr/>
        </p:nvSpPr>
        <p:spPr>
          <a:xfrm>
            <a:off x="932760" y="1993320"/>
            <a:ext cx="2166840" cy="16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647488"/>
                </a:solidFill>
                <a:effectLst/>
                <a:uFillTx/>
                <a:latin typeface="Aptos"/>
              </a:rPr>
              <a:t>ROW COUNT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10"/>
          <p:cNvSpPr/>
          <p:nvPr/>
        </p:nvSpPr>
        <p:spPr>
          <a:xfrm>
            <a:off x="932760" y="2286000"/>
            <a:ext cx="2194200" cy="35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152A43"/>
                </a:solidFill>
                <a:effectLst/>
                <a:uFillTx/>
                <a:latin typeface="Aptos"/>
              </a:rPr>
              <a:t>38,576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11"/>
          <p:cNvSpPr/>
          <p:nvPr/>
        </p:nvSpPr>
        <p:spPr>
          <a:xfrm>
            <a:off x="932760" y="2788920"/>
            <a:ext cx="2194200" cy="17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47488"/>
                </a:solidFill>
                <a:effectLst/>
                <a:uFillTx/>
                <a:latin typeface="Aptos"/>
              </a:rPr>
              <a:t>Loan records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ounded Rectangle 12"/>
          <p:cNvSpPr/>
          <p:nvPr/>
        </p:nvSpPr>
        <p:spPr>
          <a:xfrm>
            <a:off x="3429000" y="1828800"/>
            <a:ext cx="2514240" cy="1416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Rounded Rectangle 13"/>
          <p:cNvSpPr/>
          <p:nvPr/>
        </p:nvSpPr>
        <p:spPr>
          <a:xfrm>
            <a:off x="3429000" y="1828800"/>
            <a:ext cx="72720" cy="1416960"/>
          </a:xfrm>
          <a:prstGeom prst="roundRect">
            <a:avLst>
              <a:gd name="adj" fmla="val 12000"/>
            </a:avLst>
          </a:prstGeom>
          <a:solidFill>
            <a:srgbClr val="4F79A5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Box 14"/>
          <p:cNvSpPr/>
          <p:nvPr/>
        </p:nvSpPr>
        <p:spPr>
          <a:xfrm>
            <a:off x="3630240" y="1993320"/>
            <a:ext cx="2166840" cy="16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647488"/>
                </a:solidFill>
                <a:effectLst/>
                <a:uFillTx/>
                <a:latin typeface="Aptos"/>
              </a:rPr>
              <a:t>COLUMN COUNT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15"/>
          <p:cNvSpPr/>
          <p:nvPr/>
        </p:nvSpPr>
        <p:spPr>
          <a:xfrm>
            <a:off x="3630240" y="2286000"/>
            <a:ext cx="2194200" cy="35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152A43"/>
                </a:solidFill>
                <a:effectLst/>
                <a:uFillTx/>
                <a:latin typeface="Aptos"/>
              </a:rPr>
              <a:t>24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16"/>
          <p:cNvSpPr/>
          <p:nvPr/>
        </p:nvSpPr>
        <p:spPr>
          <a:xfrm>
            <a:off x="3630240" y="2788920"/>
            <a:ext cx="2194200" cy="31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47488"/>
                </a:solidFill>
                <a:effectLst/>
                <a:uFillTx/>
                <a:latin typeface="Aptos"/>
              </a:rPr>
              <a:t>Fields covering status, dates, and loan values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Rounded Rectangle 17"/>
          <p:cNvSpPr/>
          <p:nvPr/>
        </p:nvSpPr>
        <p:spPr>
          <a:xfrm>
            <a:off x="6126480" y="1828800"/>
            <a:ext cx="2514240" cy="1416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Rounded Rectangle 18"/>
          <p:cNvSpPr/>
          <p:nvPr/>
        </p:nvSpPr>
        <p:spPr>
          <a:xfrm>
            <a:off x="6126480" y="1828800"/>
            <a:ext cx="72720" cy="1416960"/>
          </a:xfrm>
          <a:prstGeom prst="roundRect">
            <a:avLst>
              <a:gd name="adj" fmla="val 12000"/>
            </a:avLst>
          </a:prstGeom>
          <a:solidFill>
            <a:srgbClr val="ED8A65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19"/>
          <p:cNvSpPr/>
          <p:nvPr/>
        </p:nvSpPr>
        <p:spPr>
          <a:xfrm>
            <a:off x="6327720" y="1993320"/>
            <a:ext cx="2166840" cy="16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647488"/>
                </a:solidFill>
                <a:effectLst/>
                <a:uFillTx/>
                <a:latin typeface="Aptos"/>
              </a:rPr>
              <a:t>UNIQUE IDs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20"/>
          <p:cNvSpPr/>
          <p:nvPr/>
        </p:nvSpPr>
        <p:spPr>
          <a:xfrm>
            <a:off x="6327720" y="2286000"/>
            <a:ext cx="2194200" cy="35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152A43"/>
                </a:solidFill>
                <a:effectLst/>
                <a:uFillTx/>
                <a:latin typeface="Aptos"/>
              </a:rPr>
              <a:t>38,576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21"/>
          <p:cNvSpPr/>
          <p:nvPr/>
        </p:nvSpPr>
        <p:spPr>
          <a:xfrm>
            <a:off x="6327720" y="2788920"/>
            <a:ext cx="2194200" cy="17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47488"/>
                </a:solidFill>
                <a:effectLst/>
                <a:uFillTx/>
                <a:latin typeface="Aptos"/>
              </a:rPr>
              <a:t>No duplicate loan IDs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Rounded Rectangle 22"/>
          <p:cNvSpPr/>
          <p:nvPr/>
        </p:nvSpPr>
        <p:spPr>
          <a:xfrm>
            <a:off x="8823960" y="1828800"/>
            <a:ext cx="2514240" cy="1416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Rounded Rectangle 23"/>
          <p:cNvSpPr/>
          <p:nvPr/>
        </p:nvSpPr>
        <p:spPr>
          <a:xfrm>
            <a:off x="8823960" y="1828800"/>
            <a:ext cx="72720" cy="1416960"/>
          </a:xfrm>
          <a:prstGeom prst="roundRect">
            <a:avLst>
              <a:gd name="adj" fmla="val 12000"/>
            </a:avLst>
          </a:prstGeom>
          <a:solidFill>
            <a:srgbClr val="D5A23E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Box 24"/>
          <p:cNvSpPr/>
          <p:nvPr/>
        </p:nvSpPr>
        <p:spPr>
          <a:xfrm>
            <a:off x="9025200" y="1993320"/>
            <a:ext cx="2166840" cy="16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647488"/>
                </a:solidFill>
                <a:effectLst/>
                <a:uFillTx/>
                <a:latin typeface="Aptos"/>
              </a:rPr>
              <a:t>MISSING EMP TITLE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25"/>
          <p:cNvSpPr/>
          <p:nvPr/>
        </p:nvSpPr>
        <p:spPr>
          <a:xfrm>
            <a:off x="9025200" y="2286000"/>
            <a:ext cx="2194200" cy="35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152A43"/>
                </a:solidFill>
                <a:effectLst/>
                <a:uFillTx/>
                <a:latin typeface="Aptos"/>
              </a:rPr>
              <a:t>1,438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26"/>
          <p:cNvSpPr/>
          <p:nvPr/>
        </p:nvSpPr>
        <p:spPr>
          <a:xfrm>
            <a:off x="9025200" y="2788920"/>
            <a:ext cx="2194200" cy="17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47488"/>
                </a:solidFill>
                <a:effectLst/>
                <a:uFillTx/>
                <a:latin typeface="Aptos"/>
              </a:rPr>
              <a:t>3.73% of records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Rounded Rectangle 27"/>
          <p:cNvSpPr/>
          <p:nvPr/>
        </p:nvSpPr>
        <p:spPr>
          <a:xfrm>
            <a:off x="731520" y="3657600"/>
            <a:ext cx="5211720" cy="2102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TextBox 28"/>
          <p:cNvSpPr/>
          <p:nvPr/>
        </p:nvSpPr>
        <p:spPr>
          <a:xfrm>
            <a:off x="960120" y="3886200"/>
            <a:ext cx="4388760" cy="18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7A99D"/>
                </a:solidFill>
                <a:effectLst/>
                <a:uFillTx/>
                <a:latin typeface="Aptos"/>
              </a:rPr>
              <a:t>KEY COLUMNS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29"/>
          <p:cNvSpPr/>
          <p:nvPr/>
        </p:nvSpPr>
        <p:spPr>
          <a:xfrm>
            <a:off x="960120" y="4343400"/>
            <a:ext cx="4663080" cy="63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r>
              <a:rPr lang="en-US" sz="1300" b="1" u="none" strike="noStrike">
                <a:solidFill>
                  <a:srgbClr val="152A43"/>
                </a:solidFill>
                <a:effectLst/>
                <a:uFillTx/>
                <a:latin typeface="Aptos"/>
              </a:rPr>
              <a:t>issue_date  •  loan_status  •  loan_amount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300" b="1" u="none" strike="noStrike">
                <a:solidFill>
                  <a:srgbClr val="152A43"/>
                </a:solidFill>
                <a:effectLst/>
                <a:uFillTx/>
                <a:latin typeface="Aptos"/>
              </a:rPr>
              <a:t>total_payment  •  int_rate  •  dti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52A43"/>
                </a:solidFill>
                <a:effectLst/>
                <a:uFillTx/>
                <a:latin typeface="Aptos"/>
              </a:rPr>
              <a:t>purpose  •  term  •  address_state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Rounded Rectangle 30"/>
          <p:cNvSpPr/>
          <p:nvPr/>
        </p:nvSpPr>
        <p:spPr>
          <a:xfrm>
            <a:off x="6217920" y="3657600"/>
            <a:ext cx="5074560" cy="2102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Box 31"/>
          <p:cNvSpPr/>
          <p:nvPr/>
        </p:nvSpPr>
        <p:spPr>
          <a:xfrm>
            <a:off x="6446520" y="3886200"/>
            <a:ext cx="4388760" cy="18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D8A65"/>
                </a:solidFill>
                <a:effectLst/>
                <a:uFillTx/>
                <a:latin typeface="Aptos"/>
              </a:rPr>
              <a:t>PREPARATION NOTES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32"/>
          <p:cNvSpPr/>
          <p:nvPr/>
        </p:nvSpPr>
        <p:spPr>
          <a:xfrm>
            <a:off x="6446520" y="4316040"/>
            <a:ext cx="443448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9394B"/>
                </a:solidFill>
                <a:effectLst/>
                <a:uFillTx/>
                <a:latin typeface="Aptos"/>
              </a:rPr>
              <a:t>The source issue_date uses MM/DD/YYYY and must be parsed as a date before trend analysis. No duplicate full rows or duplicate IDs were found in the CSV.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ounded Rectangle 33"/>
          <p:cNvSpPr/>
          <p:nvPr/>
        </p:nvSpPr>
        <p:spPr>
          <a:xfrm>
            <a:off x="777240" y="5925240"/>
            <a:ext cx="10423800" cy="383760"/>
          </a:xfrm>
          <a:prstGeom prst="roundRect">
            <a:avLst>
              <a:gd name="adj" fmla="val 12000"/>
            </a:avLst>
          </a:prstGeom>
          <a:solidFill>
            <a:srgbClr val="EAF0F5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TextBox 34"/>
          <p:cNvSpPr/>
          <p:nvPr/>
        </p:nvSpPr>
        <p:spPr>
          <a:xfrm>
            <a:off x="941760" y="6035040"/>
            <a:ext cx="10094760" cy="18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8"/>
                </a:solidFill>
                <a:effectLst/>
                <a:uFillTx/>
                <a:latin typeface="Aptos"/>
              </a:rPr>
              <a:t>Data checks include row count, ID uniqueness, date range, and missing values in selected fields.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Box 1"/>
          <p:cNvSpPr/>
          <p:nvPr/>
        </p:nvSpPr>
        <p:spPr>
          <a:xfrm>
            <a:off x="594360" y="320040"/>
            <a:ext cx="10881000" cy="17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17A99D"/>
                </a:solidFill>
                <a:effectLst/>
                <a:uFillTx/>
                <a:latin typeface="Aptos"/>
              </a:rPr>
              <a:t>05 / KEY METRICS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2"/>
          <p:cNvSpPr/>
          <p:nvPr/>
        </p:nvSpPr>
        <p:spPr>
          <a:xfrm>
            <a:off x="594360" y="658440"/>
            <a:ext cx="10972440" cy="41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Key KPI summary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3"/>
          <p:cNvSpPr/>
          <p:nvPr/>
        </p:nvSpPr>
        <p:spPr>
          <a:xfrm>
            <a:off x="621720" y="1225440"/>
            <a:ext cx="10881000" cy="20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8BBCD"/>
                </a:solidFill>
                <a:effectLst/>
                <a:uFillTx/>
                <a:latin typeface="Aptos"/>
              </a:rPr>
              <a:t>Metrics calculated from 38,576 loan records.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Rectangle 4"/>
          <p:cNvSpPr/>
          <p:nvPr/>
        </p:nvSpPr>
        <p:spPr>
          <a:xfrm>
            <a:off x="594360" y="6537960"/>
            <a:ext cx="10972440" cy="13320"/>
          </a:xfrm>
          <a:prstGeom prst="rect">
            <a:avLst/>
          </a:prstGeom>
          <a:solidFill>
            <a:srgbClr val="33506C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1320" rIns="90000" bIns="-313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TextBox 5"/>
          <p:cNvSpPr/>
          <p:nvPr/>
        </p:nvSpPr>
        <p:spPr>
          <a:xfrm>
            <a:off x="594360" y="6574680"/>
            <a:ext cx="9143640" cy="14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A8BBCD"/>
                </a:solidFill>
                <a:effectLst/>
                <a:uFillTx/>
                <a:latin typeface="Aptos"/>
              </a:rPr>
              <a:t>BANK LOAN REPORT  •  PORTFOLIO CASE STUDY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Rounded Rectangle 7"/>
          <p:cNvSpPr/>
          <p:nvPr/>
        </p:nvSpPr>
        <p:spPr>
          <a:xfrm>
            <a:off x="731520" y="1874520"/>
            <a:ext cx="3337200" cy="1416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Rounded Rectangle 8"/>
          <p:cNvSpPr/>
          <p:nvPr/>
        </p:nvSpPr>
        <p:spPr>
          <a:xfrm>
            <a:off x="731520" y="1874520"/>
            <a:ext cx="72720" cy="1416960"/>
          </a:xfrm>
          <a:prstGeom prst="roundRect">
            <a:avLst>
              <a:gd name="adj" fmla="val 12000"/>
            </a:avLst>
          </a:prstGeom>
          <a:solidFill>
            <a:srgbClr val="17A99D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TextBox 9"/>
          <p:cNvSpPr/>
          <p:nvPr/>
        </p:nvSpPr>
        <p:spPr>
          <a:xfrm>
            <a:off x="932760" y="2039040"/>
            <a:ext cx="2989800" cy="16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647488"/>
                </a:solidFill>
                <a:effectLst/>
                <a:uFillTx/>
                <a:latin typeface="Aptos"/>
              </a:rPr>
              <a:t>TOTAL LOAN APPLICATION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10"/>
          <p:cNvSpPr/>
          <p:nvPr/>
        </p:nvSpPr>
        <p:spPr>
          <a:xfrm>
            <a:off x="932760" y="2331720"/>
            <a:ext cx="3017160" cy="35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152A43"/>
                </a:solidFill>
                <a:effectLst/>
                <a:uFillTx/>
                <a:latin typeface="Aptos"/>
              </a:rPr>
              <a:t>38.6K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11"/>
          <p:cNvSpPr/>
          <p:nvPr/>
        </p:nvSpPr>
        <p:spPr>
          <a:xfrm>
            <a:off x="932760" y="2834640"/>
            <a:ext cx="3017160" cy="1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47488"/>
                </a:solidFill>
                <a:effectLst/>
                <a:uFillTx/>
                <a:latin typeface="Aptos"/>
              </a:rPr>
              <a:t>MTD 4.3K  |  MoM 6.9%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Rounded Rectangle 12"/>
          <p:cNvSpPr/>
          <p:nvPr/>
        </p:nvSpPr>
        <p:spPr>
          <a:xfrm>
            <a:off x="4297680" y="1874520"/>
            <a:ext cx="3337200" cy="1416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Rounded Rectangle 13"/>
          <p:cNvSpPr/>
          <p:nvPr/>
        </p:nvSpPr>
        <p:spPr>
          <a:xfrm>
            <a:off x="4297680" y="1874520"/>
            <a:ext cx="72720" cy="1416960"/>
          </a:xfrm>
          <a:prstGeom prst="roundRect">
            <a:avLst>
              <a:gd name="adj" fmla="val 12000"/>
            </a:avLst>
          </a:prstGeom>
          <a:solidFill>
            <a:srgbClr val="4F79A5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Box 14"/>
          <p:cNvSpPr/>
          <p:nvPr/>
        </p:nvSpPr>
        <p:spPr>
          <a:xfrm>
            <a:off x="4498920" y="2039040"/>
            <a:ext cx="2989800" cy="16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647488"/>
                </a:solidFill>
                <a:effectLst/>
                <a:uFillTx/>
                <a:latin typeface="Aptos"/>
              </a:rPr>
              <a:t>TOTAL FUNDED AMOUNT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15"/>
          <p:cNvSpPr/>
          <p:nvPr/>
        </p:nvSpPr>
        <p:spPr>
          <a:xfrm>
            <a:off x="4498920" y="2331720"/>
            <a:ext cx="3017160" cy="35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152A43"/>
                </a:solidFill>
                <a:effectLst/>
                <a:uFillTx/>
                <a:latin typeface="Aptos"/>
              </a:rPr>
              <a:t>$435.8M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16"/>
          <p:cNvSpPr/>
          <p:nvPr/>
        </p:nvSpPr>
        <p:spPr>
          <a:xfrm>
            <a:off x="4498920" y="2834640"/>
            <a:ext cx="3017160" cy="1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47488"/>
                </a:solidFill>
                <a:effectLst/>
                <a:uFillTx/>
                <a:latin typeface="Aptos"/>
              </a:rPr>
              <a:t>MTD $54.0M  |  MoM 13.0%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Rounded Rectangle 17"/>
          <p:cNvSpPr/>
          <p:nvPr/>
        </p:nvSpPr>
        <p:spPr>
          <a:xfrm>
            <a:off x="7863840" y="1874520"/>
            <a:ext cx="3337200" cy="1416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Rounded Rectangle 18"/>
          <p:cNvSpPr/>
          <p:nvPr/>
        </p:nvSpPr>
        <p:spPr>
          <a:xfrm>
            <a:off x="7863840" y="1874520"/>
            <a:ext cx="72720" cy="1416960"/>
          </a:xfrm>
          <a:prstGeom prst="roundRect">
            <a:avLst>
              <a:gd name="adj" fmla="val 12000"/>
            </a:avLst>
          </a:prstGeom>
          <a:solidFill>
            <a:srgbClr val="ED8A65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TextBox 19"/>
          <p:cNvSpPr/>
          <p:nvPr/>
        </p:nvSpPr>
        <p:spPr>
          <a:xfrm>
            <a:off x="8065080" y="2039040"/>
            <a:ext cx="2989800" cy="16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647488"/>
                </a:solidFill>
                <a:effectLst/>
                <a:uFillTx/>
                <a:latin typeface="Aptos"/>
              </a:rPr>
              <a:t>TOTAL AMOUNT RECEIVED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20"/>
          <p:cNvSpPr/>
          <p:nvPr/>
        </p:nvSpPr>
        <p:spPr>
          <a:xfrm>
            <a:off x="8065080" y="2331720"/>
            <a:ext cx="3017160" cy="35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152A43"/>
                </a:solidFill>
                <a:effectLst/>
                <a:uFillTx/>
                <a:latin typeface="Aptos"/>
              </a:rPr>
              <a:t>$473.1M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21"/>
          <p:cNvSpPr/>
          <p:nvPr/>
        </p:nvSpPr>
        <p:spPr>
          <a:xfrm>
            <a:off x="8065080" y="2834640"/>
            <a:ext cx="3017160" cy="1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47488"/>
                </a:solidFill>
                <a:effectLst/>
                <a:uFillTx/>
                <a:latin typeface="Aptos"/>
              </a:rPr>
              <a:t>MTD $58.1M  |  MoM 15.8%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Rounded Rectangle 22"/>
          <p:cNvSpPr/>
          <p:nvPr/>
        </p:nvSpPr>
        <p:spPr>
          <a:xfrm>
            <a:off x="2514600" y="3749040"/>
            <a:ext cx="3337200" cy="1416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Rounded Rectangle 23"/>
          <p:cNvSpPr/>
          <p:nvPr/>
        </p:nvSpPr>
        <p:spPr>
          <a:xfrm>
            <a:off x="2514600" y="3749040"/>
            <a:ext cx="72720" cy="1416960"/>
          </a:xfrm>
          <a:prstGeom prst="roundRect">
            <a:avLst>
              <a:gd name="adj" fmla="val 12000"/>
            </a:avLst>
          </a:prstGeom>
          <a:solidFill>
            <a:srgbClr val="D5A23E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Box 24"/>
          <p:cNvSpPr/>
          <p:nvPr/>
        </p:nvSpPr>
        <p:spPr>
          <a:xfrm>
            <a:off x="2715840" y="3913560"/>
            <a:ext cx="2989800" cy="16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647488"/>
                </a:solidFill>
                <a:effectLst/>
                <a:uFillTx/>
                <a:latin typeface="Aptos"/>
              </a:rPr>
              <a:t>AVERAGE INTEREST RATE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25"/>
          <p:cNvSpPr/>
          <p:nvPr/>
        </p:nvSpPr>
        <p:spPr>
          <a:xfrm>
            <a:off x="2715840" y="4206240"/>
            <a:ext cx="3017160" cy="35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152A43"/>
                </a:solidFill>
                <a:effectLst/>
                <a:uFillTx/>
                <a:latin typeface="Aptos"/>
              </a:rPr>
              <a:t>12.05%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26"/>
          <p:cNvSpPr/>
          <p:nvPr/>
        </p:nvSpPr>
        <p:spPr>
          <a:xfrm>
            <a:off x="2715840" y="4709160"/>
            <a:ext cx="3017160" cy="1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47488"/>
                </a:solidFill>
                <a:effectLst/>
                <a:uFillTx/>
                <a:latin typeface="Aptos"/>
              </a:rPr>
              <a:t>MTD 12.4%  |  MoM 3.5%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Rounded Rectangle 27"/>
          <p:cNvSpPr/>
          <p:nvPr/>
        </p:nvSpPr>
        <p:spPr>
          <a:xfrm>
            <a:off x="6172200" y="3749040"/>
            <a:ext cx="3337200" cy="1416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Rounded Rectangle 28"/>
          <p:cNvSpPr/>
          <p:nvPr/>
        </p:nvSpPr>
        <p:spPr>
          <a:xfrm>
            <a:off x="6172200" y="3749040"/>
            <a:ext cx="72720" cy="1416960"/>
          </a:xfrm>
          <a:prstGeom prst="roundRect">
            <a:avLst>
              <a:gd name="adj" fmla="val 12000"/>
            </a:avLst>
          </a:prstGeom>
          <a:solidFill>
            <a:srgbClr val="17A99D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TextBox 29"/>
          <p:cNvSpPr/>
          <p:nvPr/>
        </p:nvSpPr>
        <p:spPr>
          <a:xfrm>
            <a:off x="6373440" y="3913560"/>
            <a:ext cx="2989800" cy="16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647488"/>
                </a:solidFill>
                <a:effectLst/>
                <a:uFillTx/>
                <a:latin typeface="Aptos"/>
              </a:rPr>
              <a:t>AVERAGE DTI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30"/>
          <p:cNvSpPr/>
          <p:nvPr/>
        </p:nvSpPr>
        <p:spPr>
          <a:xfrm>
            <a:off x="6373440" y="4206240"/>
            <a:ext cx="3017160" cy="35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152A43"/>
                </a:solidFill>
                <a:effectLst/>
                <a:uFillTx/>
                <a:latin typeface="Aptos"/>
              </a:rPr>
              <a:t>13.33%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31"/>
          <p:cNvSpPr/>
          <p:nvPr/>
        </p:nvSpPr>
        <p:spPr>
          <a:xfrm>
            <a:off x="6373440" y="4709160"/>
            <a:ext cx="3017160" cy="1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47488"/>
                </a:solidFill>
                <a:effectLst/>
                <a:uFillTx/>
                <a:latin typeface="Aptos"/>
              </a:rPr>
              <a:t>MTD 13.7%  |  MoM 2.7%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Rounded Rectangle 32"/>
          <p:cNvSpPr/>
          <p:nvPr/>
        </p:nvSpPr>
        <p:spPr>
          <a:xfrm>
            <a:off x="1188720" y="5715000"/>
            <a:ext cx="9783720" cy="475200"/>
          </a:xfrm>
          <a:prstGeom prst="roundRect">
            <a:avLst>
              <a:gd name="adj" fmla="val 12000"/>
            </a:avLst>
          </a:prstGeom>
          <a:solidFill>
            <a:srgbClr val="243E59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TextBox 33"/>
          <p:cNvSpPr/>
          <p:nvPr/>
        </p:nvSpPr>
        <p:spPr>
          <a:xfrm>
            <a:off x="1353240" y="5824800"/>
            <a:ext cx="945468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D5E0E9"/>
                </a:solidFill>
                <a:effectLst/>
                <a:uFillTx/>
                <a:latin typeface="Aptos"/>
              </a:rPr>
              <a:t>Recorded payments are not the bank’s net profit. This metric is the sum of total_payment in the loan dataset.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extBox 1"/>
          <p:cNvSpPr/>
          <p:nvPr/>
        </p:nvSpPr>
        <p:spPr>
          <a:xfrm>
            <a:off x="594360" y="320040"/>
            <a:ext cx="10881000" cy="17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17A99D"/>
                </a:solidFill>
                <a:effectLst/>
                <a:uFillTx/>
                <a:latin typeface="Aptos"/>
              </a:rPr>
              <a:t>06 / ANALYSIS &amp; INSIGHT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2"/>
          <p:cNvSpPr/>
          <p:nvPr/>
        </p:nvSpPr>
        <p:spPr>
          <a:xfrm>
            <a:off x="594360" y="658440"/>
            <a:ext cx="10972440" cy="42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50" b="1" u="none" strike="noStrike">
                <a:solidFill>
                  <a:srgbClr val="172D46"/>
                </a:solidFill>
                <a:effectLst/>
                <a:uFillTx/>
                <a:latin typeface="Aptos"/>
              </a:rPr>
              <a:t>BANK LOAN REPORT | SUMMARY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3"/>
          <p:cNvSpPr/>
          <p:nvPr/>
        </p:nvSpPr>
        <p:spPr>
          <a:xfrm>
            <a:off x="621720" y="1225440"/>
            <a:ext cx="10881000" cy="21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A6F89"/>
                </a:solidFill>
                <a:effectLst/>
                <a:uFillTx/>
                <a:latin typeface="Aptos"/>
              </a:rPr>
              <a:t>Good Loan Issued • Bad Loan Issued • Loan Status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Rectangle 4"/>
          <p:cNvSpPr/>
          <p:nvPr/>
        </p:nvSpPr>
        <p:spPr>
          <a:xfrm>
            <a:off x="594360" y="6537960"/>
            <a:ext cx="10972440" cy="13320"/>
          </a:xfrm>
          <a:prstGeom prst="rect">
            <a:avLst/>
          </a:prstGeom>
          <a:solidFill>
            <a:srgbClr val="DCE4EB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1320" rIns="90000" bIns="-313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TextBox 5"/>
          <p:cNvSpPr/>
          <p:nvPr/>
        </p:nvSpPr>
        <p:spPr>
          <a:xfrm>
            <a:off x="594360" y="6574680"/>
            <a:ext cx="9143640" cy="14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647488"/>
                </a:solidFill>
                <a:effectLst/>
                <a:uFillTx/>
                <a:latin typeface="Aptos"/>
              </a:rPr>
              <a:t>BANK LOAN REPORT  •  PORTFOLIO CASE STUDY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Rounded Rectangle 7"/>
          <p:cNvSpPr/>
          <p:nvPr/>
        </p:nvSpPr>
        <p:spPr>
          <a:xfrm>
            <a:off x="694800" y="1764720"/>
            <a:ext cx="5321520" cy="199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Rounded Rectangle 8"/>
          <p:cNvSpPr/>
          <p:nvPr/>
        </p:nvSpPr>
        <p:spPr>
          <a:xfrm>
            <a:off x="6172200" y="1764720"/>
            <a:ext cx="5321520" cy="199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222" name="Chart 9"/>
          <p:cNvGraphicFramePr/>
          <p:nvPr/>
        </p:nvGraphicFramePr>
        <p:xfrm>
          <a:off x="841320" y="1901880"/>
          <a:ext cx="1718640" cy="1718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23" name="TextBox 10"/>
          <p:cNvSpPr/>
          <p:nvPr/>
        </p:nvSpPr>
        <p:spPr>
          <a:xfrm>
            <a:off x="1188720" y="2567160"/>
            <a:ext cx="1023840" cy="22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680" rIns="0" bIns="468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19FDE"/>
                </a:solidFill>
                <a:effectLst/>
                <a:uFillTx/>
                <a:latin typeface="Aptos"/>
              </a:rPr>
              <a:t>86.18%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11"/>
          <p:cNvSpPr/>
          <p:nvPr/>
        </p:nvSpPr>
        <p:spPr>
          <a:xfrm>
            <a:off x="2615040" y="1935000"/>
            <a:ext cx="3154320" cy="25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4680" rIns="18360" bIns="468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19FDE"/>
                </a:solidFill>
                <a:effectLst/>
                <a:uFillTx/>
                <a:latin typeface="Aptos"/>
              </a:rPr>
              <a:t>Good Loan Issued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12"/>
          <p:cNvSpPr/>
          <p:nvPr/>
        </p:nvSpPr>
        <p:spPr>
          <a:xfrm>
            <a:off x="2615040" y="2290680"/>
            <a:ext cx="2057040" cy="15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4680" rIns="18360" bIns="468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5A6F89"/>
                </a:solidFill>
                <a:effectLst/>
                <a:uFillTx/>
                <a:latin typeface="Aptos"/>
              </a:rPr>
              <a:t>Good Loan Application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13"/>
          <p:cNvSpPr/>
          <p:nvPr/>
        </p:nvSpPr>
        <p:spPr>
          <a:xfrm>
            <a:off x="4617720" y="2250360"/>
            <a:ext cx="1115280" cy="20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4680" rIns="18360" bIns="468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19FDE"/>
                </a:solidFill>
                <a:effectLst/>
                <a:uFillTx/>
                <a:latin typeface="Aptos"/>
              </a:rPr>
              <a:t>33.2K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14"/>
          <p:cNvSpPr/>
          <p:nvPr/>
        </p:nvSpPr>
        <p:spPr>
          <a:xfrm>
            <a:off x="2615040" y="2711520"/>
            <a:ext cx="2057040" cy="15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4680" rIns="18360" bIns="468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5A6F89"/>
                </a:solidFill>
                <a:effectLst/>
                <a:uFillTx/>
                <a:latin typeface="Aptos"/>
              </a:rPr>
              <a:t>Good Loan Funded Amount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15"/>
          <p:cNvSpPr/>
          <p:nvPr/>
        </p:nvSpPr>
        <p:spPr>
          <a:xfrm>
            <a:off x="4617720" y="2670840"/>
            <a:ext cx="1115280" cy="20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4680" rIns="18360" bIns="468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19FDE"/>
                </a:solidFill>
                <a:effectLst/>
                <a:uFillTx/>
                <a:latin typeface="Aptos"/>
              </a:rPr>
              <a:t>$370.2M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16"/>
          <p:cNvSpPr/>
          <p:nvPr/>
        </p:nvSpPr>
        <p:spPr>
          <a:xfrm>
            <a:off x="2615040" y="3132000"/>
            <a:ext cx="2057040" cy="15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4680" rIns="18360" bIns="468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5A6F89"/>
                </a:solidFill>
                <a:effectLst/>
                <a:uFillTx/>
                <a:latin typeface="Aptos"/>
              </a:rPr>
              <a:t>Good Loan Amount Received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17"/>
          <p:cNvSpPr/>
          <p:nvPr/>
        </p:nvSpPr>
        <p:spPr>
          <a:xfrm>
            <a:off x="4617720" y="3091680"/>
            <a:ext cx="1115280" cy="20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4680" rIns="18360" bIns="468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19FDE"/>
                </a:solidFill>
                <a:effectLst/>
                <a:uFillTx/>
                <a:latin typeface="Aptos"/>
              </a:rPr>
              <a:t>$435.8M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31" name="Chart 18"/>
          <p:cNvGraphicFramePr/>
          <p:nvPr/>
        </p:nvGraphicFramePr>
        <p:xfrm>
          <a:off x="6318360" y="1901880"/>
          <a:ext cx="1718640" cy="1718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2" name="TextBox 19"/>
          <p:cNvSpPr/>
          <p:nvPr/>
        </p:nvSpPr>
        <p:spPr>
          <a:xfrm>
            <a:off x="6666120" y="2567160"/>
            <a:ext cx="1023840" cy="22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680" rIns="0" bIns="468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EF6935"/>
                </a:solidFill>
                <a:effectLst/>
                <a:uFillTx/>
                <a:latin typeface="Aptos"/>
              </a:rPr>
              <a:t>13.82%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20"/>
          <p:cNvSpPr/>
          <p:nvPr/>
        </p:nvSpPr>
        <p:spPr>
          <a:xfrm>
            <a:off x="8092440" y="1935000"/>
            <a:ext cx="3154320" cy="25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4680" rIns="18360" bIns="468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EF6935"/>
                </a:solidFill>
                <a:effectLst/>
                <a:uFillTx/>
                <a:latin typeface="Aptos"/>
              </a:rPr>
              <a:t>Bad Loan Issued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21"/>
          <p:cNvSpPr/>
          <p:nvPr/>
        </p:nvSpPr>
        <p:spPr>
          <a:xfrm>
            <a:off x="8092440" y="2290680"/>
            <a:ext cx="2057040" cy="15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4680" rIns="18360" bIns="468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5A6F89"/>
                </a:solidFill>
                <a:effectLst/>
                <a:uFillTx/>
                <a:latin typeface="Aptos"/>
              </a:rPr>
              <a:t>Bad Loan Application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22"/>
          <p:cNvSpPr/>
          <p:nvPr/>
        </p:nvSpPr>
        <p:spPr>
          <a:xfrm>
            <a:off x="10058400" y="2250360"/>
            <a:ext cx="1096920" cy="20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4680" rIns="18360" bIns="468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EF6935"/>
                </a:solidFill>
                <a:effectLst/>
                <a:uFillTx/>
                <a:latin typeface="Aptos"/>
              </a:rPr>
              <a:t>5.3K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23"/>
          <p:cNvSpPr/>
          <p:nvPr/>
        </p:nvSpPr>
        <p:spPr>
          <a:xfrm>
            <a:off x="8092440" y="2711520"/>
            <a:ext cx="2057040" cy="15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4680" rIns="18360" bIns="468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5A6F89"/>
                </a:solidFill>
                <a:effectLst/>
                <a:uFillTx/>
                <a:latin typeface="Aptos"/>
              </a:rPr>
              <a:t>Bad Loan Funded Amount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24"/>
          <p:cNvSpPr/>
          <p:nvPr/>
        </p:nvSpPr>
        <p:spPr>
          <a:xfrm>
            <a:off x="10058400" y="2670840"/>
            <a:ext cx="1096920" cy="20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4680" rIns="18360" bIns="468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EF6935"/>
                </a:solidFill>
                <a:effectLst/>
                <a:uFillTx/>
                <a:latin typeface="Aptos"/>
              </a:rPr>
              <a:t>$65.5M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25"/>
          <p:cNvSpPr/>
          <p:nvPr/>
        </p:nvSpPr>
        <p:spPr>
          <a:xfrm>
            <a:off x="8092440" y="3132000"/>
            <a:ext cx="2057040" cy="15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4680" rIns="18360" bIns="468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5A6F89"/>
                </a:solidFill>
                <a:effectLst/>
                <a:uFillTx/>
                <a:latin typeface="Aptos"/>
              </a:rPr>
              <a:t>Bad Loan Amount Received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26"/>
          <p:cNvSpPr/>
          <p:nvPr/>
        </p:nvSpPr>
        <p:spPr>
          <a:xfrm>
            <a:off x="10058400" y="3091680"/>
            <a:ext cx="1096920" cy="20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4680" rIns="18360" bIns="468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EF6935"/>
                </a:solidFill>
                <a:effectLst/>
                <a:uFillTx/>
                <a:latin typeface="Aptos"/>
              </a:rPr>
              <a:t>$37.3M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27"/>
          <p:cNvSpPr/>
          <p:nvPr/>
        </p:nvSpPr>
        <p:spPr>
          <a:xfrm>
            <a:off x="749880" y="3856680"/>
            <a:ext cx="3657240" cy="22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4680" rIns="18360" bIns="468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72D46"/>
                </a:solidFill>
                <a:effectLst/>
                <a:uFillTx/>
                <a:latin typeface="Aptos"/>
              </a:rPr>
              <a:t>Loan Status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41" name="Table 28"/>
          <p:cNvGraphicFramePr/>
          <p:nvPr/>
        </p:nvGraphicFramePr>
        <p:xfrm>
          <a:off x="713160" y="4096440"/>
          <a:ext cx="10771200" cy="166284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4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4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4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1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61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88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7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Loan Status</a:t>
                      </a:r>
                      <a:endParaRPr lang="en-US" sz="7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1680" marR="316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60646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7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Total Loan</a:t>
                      </a:r>
                      <a:endParaRPr lang="en-US" sz="7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7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Application</a:t>
                      </a:r>
                      <a:endParaRPr lang="en-US" sz="7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1680" marR="316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60646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7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Total Funded</a:t>
                      </a:r>
                      <a:endParaRPr lang="en-US" sz="7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7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Amount</a:t>
                      </a:r>
                      <a:endParaRPr lang="en-US" sz="7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1680" marR="316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60646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7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Total Amount</a:t>
                      </a:r>
                      <a:endParaRPr lang="en-US" sz="7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7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Received</a:t>
                      </a:r>
                      <a:endParaRPr lang="en-US" sz="7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1680" marR="316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60646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7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MTD Total Funded</a:t>
                      </a:r>
                      <a:endParaRPr lang="en-US" sz="7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7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Amount</a:t>
                      </a:r>
                      <a:endParaRPr lang="en-US" sz="7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1680" marR="316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60646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7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MTD Total Amount</a:t>
                      </a:r>
                      <a:endParaRPr lang="en-US" sz="7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7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Received</a:t>
                      </a:r>
                      <a:endParaRPr lang="en-US" sz="7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1680" marR="316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60646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7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Avg Interest</a:t>
                      </a:r>
                      <a:endParaRPr lang="en-US" sz="7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7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Rate</a:t>
                      </a:r>
                      <a:endParaRPr lang="en-US" sz="7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1680" marR="316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60646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7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Avg DTI</a:t>
                      </a:r>
                      <a:endParaRPr lang="en-US" sz="7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1680" marR="316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606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740" b="1" u="none" strike="noStrike">
                          <a:solidFill>
                            <a:srgbClr val="172D46"/>
                          </a:solidFill>
                          <a:effectLst/>
                          <a:uFillTx/>
                          <a:latin typeface="Aptos"/>
                        </a:rPr>
                        <a:t>Fully Paid</a:t>
                      </a:r>
                      <a:endParaRPr lang="en-US" sz="74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1680" marR="316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F1B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740" b="0" u="none" strike="noStrike">
                          <a:solidFill>
                            <a:srgbClr val="172D46"/>
                          </a:solidFill>
                          <a:effectLst/>
                          <a:uFillTx/>
                          <a:latin typeface="Aptos"/>
                        </a:rPr>
                        <a:t>32,145</a:t>
                      </a:r>
                      <a:endParaRPr lang="en-US" sz="74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1680" marR="316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F1B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700" b="0" u="none" strike="noStrike">
                          <a:solidFill>
                            <a:srgbClr val="172D46"/>
                          </a:solidFill>
                          <a:effectLst/>
                          <a:uFillTx/>
                          <a:latin typeface="Aptos"/>
                        </a:rPr>
                        <a:t>$351,358,350</a:t>
                      </a:r>
                      <a:endParaRPr lang="en-US" sz="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1680" marR="316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F1B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700" b="0" u="none" strike="noStrike">
                          <a:solidFill>
                            <a:srgbClr val="172D46"/>
                          </a:solidFill>
                          <a:effectLst/>
                          <a:uFillTx/>
                          <a:latin typeface="Aptos"/>
                        </a:rPr>
                        <a:t>$411,586,256</a:t>
                      </a:r>
                      <a:endParaRPr lang="en-US" sz="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1680" marR="316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F1B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700" b="0" u="none" strike="noStrike">
                          <a:solidFill>
                            <a:srgbClr val="172D46"/>
                          </a:solidFill>
                          <a:effectLst/>
                          <a:uFillTx/>
                          <a:latin typeface="Aptos"/>
                        </a:rPr>
                        <a:t>$41,302,025</a:t>
                      </a:r>
                      <a:endParaRPr lang="en-US" sz="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1680" marR="316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F1B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700" b="0" u="none" strike="noStrike">
                          <a:solidFill>
                            <a:srgbClr val="172D46"/>
                          </a:solidFill>
                          <a:effectLst/>
                          <a:uFillTx/>
                          <a:latin typeface="Aptos"/>
                        </a:rPr>
                        <a:t>$47,815,851</a:t>
                      </a:r>
                      <a:endParaRPr lang="en-US" sz="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1680" marR="316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F1B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700" b="0" u="none" strike="noStrike">
                          <a:solidFill>
                            <a:srgbClr val="172D46"/>
                          </a:solidFill>
                          <a:effectLst/>
                          <a:uFillTx/>
                          <a:latin typeface="Aptos"/>
                        </a:rPr>
                        <a:t>11.64%</a:t>
                      </a:r>
                      <a:endParaRPr lang="en-US" sz="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1680" marR="316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F1B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700" b="0" u="none" strike="noStrike">
                          <a:solidFill>
                            <a:srgbClr val="172D46"/>
                          </a:solidFill>
                          <a:effectLst/>
                          <a:uFillTx/>
                          <a:latin typeface="Aptos"/>
                        </a:rPr>
                        <a:t>13.17%</a:t>
                      </a:r>
                      <a:endParaRPr lang="en-US" sz="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1680" marR="316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F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740" b="1" u="none" strike="noStrike">
                          <a:solidFill>
                            <a:srgbClr val="172D46"/>
                          </a:solidFill>
                          <a:effectLst/>
                          <a:uFillTx/>
                          <a:latin typeface="Aptos"/>
                        </a:rPr>
                        <a:t>Current</a:t>
                      </a:r>
                      <a:endParaRPr lang="en-US" sz="74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1680" marR="316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740" b="0" u="none" strike="noStrike">
                          <a:solidFill>
                            <a:srgbClr val="172D46"/>
                          </a:solidFill>
                          <a:effectLst/>
                          <a:uFillTx/>
                          <a:latin typeface="Aptos"/>
                        </a:rPr>
                        <a:t>1,098</a:t>
                      </a:r>
                      <a:endParaRPr lang="en-US" sz="74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1680" marR="316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700" b="0" u="none" strike="noStrike">
                          <a:solidFill>
                            <a:srgbClr val="172D46"/>
                          </a:solidFill>
                          <a:effectLst/>
                          <a:uFillTx/>
                          <a:latin typeface="Aptos"/>
                        </a:rPr>
                        <a:t>$18,866,500</a:t>
                      </a:r>
                      <a:endParaRPr lang="en-US" sz="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1680" marR="316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700" b="0" u="none" strike="noStrike">
                          <a:solidFill>
                            <a:srgbClr val="172D46"/>
                          </a:solidFill>
                          <a:effectLst/>
                          <a:uFillTx/>
                          <a:latin typeface="Aptos"/>
                        </a:rPr>
                        <a:t>$24,199,914</a:t>
                      </a:r>
                      <a:endParaRPr lang="en-US" sz="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1680" marR="316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700" b="0" u="none" strike="noStrike">
                          <a:solidFill>
                            <a:srgbClr val="172D46"/>
                          </a:solidFill>
                          <a:effectLst/>
                          <a:uFillTx/>
                          <a:latin typeface="Aptos"/>
                        </a:rPr>
                        <a:t>$3,946,625</a:t>
                      </a:r>
                      <a:endParaRPr lang="en-US" sz="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1680" marR="316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700" b="0" u="none" strike="noStrike">
                          <a:solidFill>
                            <a:srgbClr val="172D46"/>
                          </a:solidFill>
                          <a:effectLst/>
                          <a:uFillTx/>
                          <a:latin typeface="Aptos"/>
                        </a:rPr>
                        <a:t>$4,934,318</a:t>
                      </a:r>
                      <a:endParaRPr lang="en-US" sz="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1680" marR="316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700" b="0" u="none" strike="noStrike">
                          <a:solidFill>
                            <a:srgbClr val="172D46"/>
                          </a:solidFill>
                          <a:effectLst/>
                          <a:uFillTx/>
                          <a:latin typeface="Aptos"/>
                        </a:rPr>
                        <a:t>15.10%</a:t>
                      </a:r>
                      <a:endParaRPr lang="en-US" sz="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1680" marR="316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700" b="0" u="none" strike="noStrike">
                          <a:solidFill>
                            <a:srgbClr val="172D46"/>
                          </a:solidFill>
                          <a:effectLst/>
                          <a:uFillTx/>
                          <a:latin typeface="Aptos"/>
                        </a:rPr>
                        <a:t>14.72%</a:t>
                      </a:r>
                      <a:endParaRPr lang="en-US" sz="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1680" marR="316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740" b="1" u="none" strike="noStrike">
                          <a:solidFill>
                            <a:srgbClr val="172D46"/>
                          </a:solidFill>
                          <a:effectLst/>
                          <a:uFillTx/>
                          <a:latin typeface="Aptos"/>
                        </a:rPr>
                        <a:t>Charged Off</a:t>
                      </a:r>
                      <a:endParaRPr lang="en-US" sz="74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1680" marR="316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F1B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740" b="0" u="none" strike="noStrike">
                          <a:solidFill>
                            <a:srgbClr val="172D46"/>
                          </a:solidFill>
                          <a:effectLst/>
                          <a:uFillTx/>
                          <a:latin typeface="Aptos"/>
                        </a:rPr>
                        <a:t>5,333</a:t>
                      </a:r>
                      <a:endParaRPr lang="en-US" sz="74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1680" marR="316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F1B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700" b="0" u="none" strike="noStrike">
                          <a:solidFill>
                            <a:srgbClr val="172D46"/>
                          </a:solidFill>
                          <a:effectLst/>
                          <a:uFillTx/>
                          <a:latin typeface="Aptos"/>
                        </a:rPr>
                        <a:t>$65,532,225</a:t>
                      </a:r>
                      <a:endParaRPr lang="en-US" sz="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1680" marR="316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F1B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700" b="0" u="none" strike="noStrike">
                          <a:solidFill>
                            <a:srgbClr val="172D46"/>
                          </a:solidFill>
                          <a:effectLst/>
                          <a:uFillTx/>
                          <a:latin typeface="Aptos"/>
                        </a:rPr>
                        <a:t>$37,284,763</a:t>
                      </a:r>
                      <a:endParaRPr lang="en-US" sz="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1680" marR="316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F1B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700" b="0" u="none" strike="noStrike">
                          <a:solidFill>
                            <a:srgbClr val="172D46"/>
                          </a:solidFill>
                          <a:effectLst/>
                          <a:uFillTx/>
                          <a:latin typeface="Aptos"/>
                        </a:rPr>
                        <a:t>$8,732,775</a:t>
                      </a:r>
                      <a:endParaRPr lang="en-US" sz="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1680" marR="316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F1B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700" b="0" u="none" strike="noStrike">
                          <a:solidFill>
                            <a:srgbClr val="172D46"/>
                          </a:solidFill>
                          <a:effectLst/>
                          <a:uFillTx/>
                          <a:latin typeface="Aptos"/>
                        </a:rPr>
                        <a:t>$5,324,211</a:t>
                      </a:r>
                      <a:endParaRPr lang="en-US" sz="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1680" marR="316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F1B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700" b="0" u="none" strike="noStrike">
                          <a:solidFill>
                            <a:srgbClr val="172D46"/>
                          </a:solidFill>
                          <a:effectLst/>
                          <a:uFillTx/>
                          <a:latin typeface="Aptos"/>
                        </a:rPr>
                        <a:t>13.88%</a:t>
                      </a:r>
                      <a:endParaRPr lang="en-US" sz="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1680" marR="316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F1B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700" b="0" u="none" strike="noStrike">
                          <a:solidFill>
                            <a:srgbClr val="172D46"/>
                          </a:solidFill>
                          <a:effectLst/>
                          <a:uFillTx/>
                          <a:latin typeface="Aptos"/>
                        </a:rPr>
                        <a:t>14.00%</a:t>
                      </a:r>
                      <a:endParaRPr lang="en-US" sz="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1680" marR="316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F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74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Grand Total</a:t>
                      </a:r>
                      <a:endParaRPr lang="en-US" sz="74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1680" marR="316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60646A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74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38,576</a:t>
                      </a:r>
                      <a:endParaRPr lang="en-US" sz="74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1680" marR="316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60646A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7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$435,757,075</a:t>
                      </a:r>
                      <a:endParaRPr lang="en-US" sz="7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1680" marR="316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60646A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7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$473,070,933</a:t>
                      </a:r>
                      <a:endParaRPr lang="en-US" sz="7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1680" marR="316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60646A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7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$53,981,425</a:t>
                      </a:r>
                      <a:endParaRPr lang="en-US" sz="7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1680" marR="316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60646A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7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$58,074,380</a:t>
                      </a:r>
                      <a:endParaRPr lang="en-US" sz="7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1680" marR="316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60646A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7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12.05%</a:t>
                      </a:r>
                      <a:endParaRPr lang="en-US" sz="7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1680" marR="316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60646A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lang="en-US" sz="7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13.33%</a:t>
                      </a:r>
                      <a:endParaRPr lang="en-US" sz="7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1680" marR="3168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606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2" name="Rounded Rectangle 29"/>
          <p:cNvSpPr/>
          <p:nvPr/>
        </p:nvSpPr>
        <p:spPr>
          <a:xfrm>
            <a:off x="749880" y="5888880"/>
            <a:ext cx="10716480" cy="392760"/>
          </a:xfrm>
          <a:prstGeom prst="roundRect">
            <a:avLst>
              <a:gd name="adj" fmla="val 16667"/>
            </a:avLst>
          </a:prstGeom>
          <a:solidFill>
            <a:srgbClr val="FFF0E8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TextBox 30"/>
          <p:cNvSpPr/>
          <p:nvPr/>
        </p:nvSpPr>
        <p:spPr>
          <a:xfrm>
            <a:off x="896040" y="6002280"/>
            <a:ext cx="10378080" cy="14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680" rIns="0" bIns="468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72D46"/>
                </a:solidFill>
                <a:effectLst/>
                <a:uFillTx/>
                <a:latin typeface="Aptos"/>
              </a:rPr>
              <a:t>Good Loan = Fully Paid + Current. Bad Loan = Charged Off. Status counts and MTD values mirror the Power BI Summary table.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extBox 1"/>
          <p:cNvSpPr/>
          <p:nvPr/>
        </p:nvSpPr>
        <p:spPr>
          <a:xfrm>
            <a:off x="594360" y="320040"/>
            <a:ext cx="10881000" cy="17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17A99D"/>
                </a:solidFill>
                <a:effectLst/>
                <a:uFillTx/>
                <a:latin typeface="Aptos"/>
              </a:rPr>
              <a:t>07 / ANALYSIS &amp; INSIGHT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2"/>
          <p:cNvSpPr/>
          <p:nvPr/>
        </p:nvSpPr>
        <p:spPr>
          <a:xfrm>
            <a:off x="594360" y="658440"/>
            <a:ext cx="10972440" cy="41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152A43"/>
                </a:solidFill>
                <a:effectLst/>
                <a:uFillTx/>
                <a:latin typeface="Aptos"/>
              </a:rPr>
              <a:t>Total Loan Application by Purpose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3"/>
          <p:cNvSpPr/>
          <p:nvPr/>
        </p:nvSpPr>
        <p:spPr>
          <a:xfrm>
            <a:off x="621720" y="1225440"/>
            <a:ext cx="10881000" cy="20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47488"/>
                </a:solidFill>
                <a:effectLst/>
                <a:uFillTx/>
                <a:latin typeface="Aptos"/>
              </a:rPr>
              <a:t>Top 10 loan purposes by application count; debt consolidation ranks first.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Rectangle 4"/>
          <p:cNvSpPr/>
          <p:nvPr/>
        </p:nvSpPr>
        <p:spPr>
          <a:xfrm>
            <a:off x="594360" y="6537960"/>
            <a:ext cx="10972440" cy="13320"/>
          </a:xfrm>
          <a:prstGeom prst="rect">
            <a:avLst/>
          </a:prstGeom>
          <a:solidFill>
            <a:srgbClr val="DCE4EB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1320" rIns="90000" bIns="-313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8" name="TextBox 5"/>
          <p:cNvSpPr/>
          <p:nvPr/>
        </p:nvSpPr>
        <p:spPr>
          <a:xfrm>
            <a:off x="594360" y="6574680"/>
            <a:ext cx="9143640" cy="14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647488"/>
                </a:solidFill>
                <a:effectLst/>
                <a:uFillTx/>
                <a:latin typeface="Aptos"/>
              </a:rPr>
              <a:t>BANK LOAN REPORT  •  PORTFOLIO CASE STUDY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Rounded Rectangle 8"/>
          <p:cNvSpPr/>
          <p:nvPr/>
        </p:nvSpPr>
        <p:spPr>
          <a:xfrm>
            <a:off x="7818120" y="1965960"/>
            <a:ext cx="3291480" cy="1828440"/>
          </a:xfrm>
          <a:prstGeom prst="roundRect">
            <a:avLst>
              <a:gd name="adj" fmla="val 12000"/>
            </a:avLst>
          </a:prstGeom>
          <a:solidFill>
            <a:srgbClr val="152A43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1" name="TextBox 9"/>
          <p:cNvSpPr/>
          <p:nvPr/>
        </p:nvSpPr>
        <p:spPr>
          <a:xfrm>
            <a:off x="8092440" y="2267640"/>
            <a:ext cx="2742840" cy="17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5E4DD"/>
                </a:solidFill>
                <a:effectLst/>
                <a:uFillTx/>
                <a:latin typeface="Aptos"/>
              </a:rPr>
              <a:t>DEBT CONSOLIDATION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10"/>
          <p:cNvSpPr/>
          <p:nvPr/>
        </p:nvSpPr>
        <p:spPr>
          <a:xfrm>
            <a:off x="8092440" y="2697480"/>
            <a:ext cx="2742840" cy="44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18K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11"/>
          <p:cNvSpPr/>
          <p:nvPr/>
        </p:nvSpPr>
        <p:spPr>
          <a:xfrm>
            <a:off x="8092440" y="3246120"/>
            <a:ext cx="2742840" cy="20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D5E0E9"/>
                </a:solidFill>
                <a:effectLst/>
                <a:uFillTx/>
                <a:latin typeface="Aptos"/>
              </a:rPr>
              <a:t>Top purpose by application count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12"/>
          <p:cNvSpPr/>
          <p:nvPr/>
        </p:nvSpPr>
        <p:spPr>
          <a:xfrm>
            <a:off x="7818120" y="4160520"/>
            <a:ext cx="3108600" cy="21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52A43"/>
                </a:solidFill>
                <a:effectLst/>
                <a:uFillTx/>
                <a:latin typeface="Aptos"/>
              </a:rPr>
              <a:t>What does this mean?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13"/>
          <p:cNvSpPr/>
          <p:nvPr/>
        </p:nvSpPr>
        <p:spPr>
          <a:xfrm>
            <a:off x="7818120" y="4526280"/>
            <a:ext cx="315432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29394B"/>
                </a:solidFill>
                <a:effectLst/>
                <a:uFillTx/>
                <a:latin typeface="Aptos"/>
              </a:rPr>
              <a:t>Applications are concentrated in one purpose. Review the status mix and average loan amount for this group before making product or risk recommendations.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Rounded Rectangle 14"/>
          <p:cNvSpPr/>
          <p:nvPr/>
        </p:nvSpPr>
        <p:spPr>
          <a:xfrm>
            <a:off x="822960" y="5577840"/>
            <a:ext cx="10469520" cy="456840"/>
          </a:xfrm>
          <a:prstGeom prst="roundRect">
            <a:avLst>
              <a:gd name="adj" fmla="val 12000"/>
            </a:avLst>
          </a:prstGeom>
          <a:solidFill>
            <a:srgbClr val="EAF0F5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TextBox 15"/>
          <p:cNvSpPr/>
          <p:nvPr/>
        </p:nvSpPr>
        <p:spPr>
          <a:xfrm>
            <a:off x="987480" y="5687640"/>
            <a:ext cx="10140480" cy="18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8"/>
                </a:solidFill>
                <a:effectLst/>
                <a:uFillTx/>
                <a:latin typeface="Aptos"/>
              </a:rPr>
              <a:t>High application volume does not automatically mean higher default risk or greater profitability.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58" name="Chart 16"/>
          <p:cNvGraphicFramePr/>
          <p:nvPr/>
        </p:nvGraphicFramePr>
        <p:xfrm>
          <a:off x="685800" y="1691640"/>
          <a:ext cx="6811920" cy="373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TextBox 1"/>
          <p:cNvSpPr/>
          <p:nvPr/>
        </p:nvSpPr>
        <p:spPr>
          <a:xfrm>
            <a:off x="594360" y="320040"/>
            <a:ext cx="10881000" cy="17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u="none" strike="noStrike" dirty="0">
                <a:solidFill>
                  <a:srgbClr val="17A99D"/>
                </a:solidFill>
                <a:effectLst/>
                <a:uFillTx/>
                <a:latin typeface="Aptos"/>
              </a:rPr>
              <a:t>08 / TREND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2"/>
          <p:cNvSpPr/>
          <p:nvPr/>
        </p:nvSpPr>
        <p:spPr>
          <a:xfrm>
            <a:off x="594360" y="658440"/>
            <a:ext cx="10972440" cy="41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152A43"/>
                </a:solidFill>
                <a:effectLst/>
                <a:uFillTx/>
                <a:latin typeface="Aptos"/>
              </a:rPr>
              <a:t>Total Loan Application by Month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3"/>
          <p:cNvSpPr/>
          <p:nvPr/>
        </p:nvSpPr>
        <p:spPr>
          <a:xfrm>
            <a:off x="621720" y="1225440"/>
            <a:ext cx="10881000" cy="20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47488"/>
                </a:solidFill>
                <a:effectLst/>
                <a:uFillTx/>
                <a:latin typeface="Aptos"/>
              </a:rPr>
              <a:t>Recorded applications by month, based on issue_date in the CSV.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Rectangle 4"/>
          <p:cNvSpPr/>
          <p:nvPr/>
        </p:nvSpPr>
        <p:spPr>
          <a:xfrm>
            <a:off x="594360" y="6537960"/>
            <a:ext cx="10972440" cy="13320"/>
          </a:xfrm>
          <a:prstGeom prst="rect">
            <a:avLst/>
          </a:prstGeom>
          <a:solidFill>
            <a:srgbClr val="DCE4EB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1320" rIns="90000" bIns="-313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3" name="TextBox 5"/>
          <p:cNvSpPr/>
          <p:nvPr/>
        </p:nvSpPr>
        <p:spPr>
          <a:xfrm>
            <a:off x="594360" y="6574680"/>
            <a:ext cx="9143640" cy="14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647488"/>
                </a:solidFill>
                <a:effectLst/>
                <a:uFillTx/>
                <a:latin typeface="Aptos"/>
              </a:rPr>
              <a:t>BANK LOAN REPORT  •  PORTFOLIO CASE STUDY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Rounded Rectangle 8"/>
          <p:cNvSpPr/>
          <p:nvPr/>
        </p:nvSpPr>
        <p:spPr>
          <a:xfrm>
            <a:off x="8229600" y="1874520"/>
            <a:ext cx="2971440" cy="2057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6" name="TextBox 9"/>
          <p:cNvSpPr/>
          <p:nvPr/>
        </p:nvSpPr>
        <p:spPr>
          <a:xfrm>
            <a:off x="8485560" y="2148840"/>
            <a:ext cx="2377080" cy="17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17A99D"/>
                </a:solidFill>
                <a:effectLst/>
                <a:uFillTx/>
                <a:latin typeface="Aptos"/>
              </a:rPr>
              <a:t>JANUARY TO NOVEMBER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10"/>
          <p:cNvSpPr/>
          <p:nvPr/>
        </p:nvSpPr>
        <p:spPr>
          <a:xfrm>
            <a:off x="8485560" y="2541960"/>
            <a:ext cx="2422800" cy="29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52A43"/>
                </a:solidFill>
                <a:effectLst/>
                <a:uFillTx/>
                <a:latin typeface="Aptos"/>
              </a:rPr>
              <a:t>2.3K → 4.0K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11"/>
          <p:cNvSpPr/>
          <p:nvPr/>
        </p:nvSpPr>
        <p:spPr>
          <a:xfrm>
            <a:off x="8485560" y="3090600"/>
            <a:ext cx="2377080" cy="34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9394B"/>
                </a:solidFill>
                <a:effectLst/>
                <a:uFillTx/>
                <a:latin typeface="Aptos"/>
              </a:rPr>
              <a:t>Recorded applications increased from January through November.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Rounded Rectangle 12"/>
          <p:cNvSpPr/>
          <p:nvPr/>
        </p:nvSpPr>
        <p:spPr>
          <a:xfrm>
            <a:off x="822960" y="5349240"/>
            <a:ext cx="10423800" cy="685440"/>
          </a:xfrm>
          <a:prstGeom prst="roundRect">
            <a:avLst>
              <a:gd name="adj" fmla="val 12000"/>
            </a:avLst>
          </a:prstGeom>
          <a:solidFill>
            <a:srgbClr val="FFF3DD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0" name="TextBox 13"/>
          <p:cNvSpPr/>
          <p:nvPr/>
        </p:nvSpPr>
        <p:spPr>
          <a:xfrm>
            <a:off x="987480" y="5459040"/>
            <a:ext cx="10094760" cy="34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52A43"/>
                </a:solidFill>
                <a:effectLst/>
                <a:uFillTx/>
                <a:latin typeface="Aptos"/>
              </a:rPr>
              <a:t>Caution: The file ends on December 12, 2021. December is incomplete (4.3K applications are recorded); verify date coverage and metric definitions before drawing conclusions about seasonality.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71" name="Chart 14"/>
          <p:cNvGraphicFramePr/>
          <p:nvPr/>
        </p:nvGraphicFramePr>
        <p:xfrm>
          <a:off x="640080" y="1600200"/>
          <a:ext cx="7452000" cy="356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extBox 1"/>
          <p:cNvSpPr/>
          <p:nvPr/>
        </p:nvSpPr>
        <p:spPr>
          <a:xfrm>
            <a:off x="594360" y="320040"/>
            <a:ext cx="10881000" cy="17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17A99D"/>
                </a:solidFill>
                <a:effectLst/>
                <a:uFillTx/>
                <a:latin typeface="Aptos"/>
              </a:rPr>
              <a:t>09 / CONCLUSION &amp; RECOMMENDATION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2"/>
          <p:cNvSpPr/>
          <p:nvPr/>
        </p:nvSpPr>
        <p:spPr>
          <a:xfrm>
            <a:off x="594360" y="658440"/>
            <a:ext cx="10972440" cy="41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152A43"/>
                </a:solidFill>
                <a:effectLst/>
                <a:uFillTx/>
                <a:latin typeface="Aptos"/>
              </a:rPr>
              <a:t>What should be examined next?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3"/>
          <p:cNvSpPr/>
          <p:nvPr/>
        </p:nvSpPr>
        <p:spPr>
          <a:xfrm>
            <a:off x="621720" y="1225440"/>
            <a:ext cx="10881000" cy="20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47488"/>
                </a:solidFill>
                <a:effectLst/>
                <a:uFillTx/>
                <a:latin typeface="Aptos"/>
              </a:rPr>
              <a:t>Initial recommendations based on the descriptive findings.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Rectangle 4"/>
          <p:cNvSpPr/>
          <p:nvPr/>
        </p:nvSpPr>
        <p:spPr>
          <a:xfrm>
            <a:off x="594360" y="6537960"/>
            <a:ext cx="10972440" cy="13320"/>
          </a:xfrm>
          <a:prstGeom prst="rect">
            <a:avLst/>
          </a:prstGeom>
          <a:solidFill>
            <a:srgbClr val="DCE4EB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1320" rIns="90000" bIns="-313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6" name="TextBox 5"/>
          <p:cNvSpPr/>
          <p:nvPr/>
        </p:nvSpPr>
        <p:spPr>
          <a:xfrm>
            <a:off x="594360" y="6574680"/>
            <a:ext cx="9143640" cy="14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647488"/>
                </a:solidFill>
                <a:effectLst/>
                <a:uFillTx/>
                <a:latin typeface="Aptos"/>
              </a:rPr>
              <a:t>BANK LOAN REPORT  •  PORTFOLIO CASE STUDY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Rounded Rectangle 7"/>
          <p:cNvSpPr/>
          <p:nvPr/>
        </p:nvSpPr>
        <p:spPr>
          <a:xfrm>
            <a:off x="777240" y="1920240"/>
            <a:ext cx="72720" cy="621360"/>
          </a:xfrm>
          <a:prstGeom prst="roundRect">
            <a:avLst>
              <a:gd name="adj" fmla="val 12000"/>
            </a:avLst>
          </a:prstGeom>
          <a:solidFill>
            <a:srgbClr val="ED8A65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9" name="TextBox 8"/>
          <p:cNvSpPr/>
          <p:nvPr/>
        </p:nvSpPr>
        <p:spPr>
          <a:xfrm>
            <a:off x="978480" y="1874520"/>
            <a:ext cx="5056200" cy="23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52A43"/>
                </a:solidFill>
                <a:effectLst/>
                <a:uFillTx/>
                <a:latin typeface="Aptos"/>
              </a:rPr>
              <a:t>1. Investigate Charged Off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9"/>
          <p:cNvSpPr/>
          <p:nvPr/>
        </p:nvSpPr>
        <p:spPr>
          <a:xfrm>
            <a:off x="978480" y="2176200"/>
            <a:ext cx="5001480" cy="40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9394B"/>
                </a:solidFill>
                <a:effectLst/>
                <a:uFillTx/>
                <a:latin typeface="Aptos"/>
              </a:rPr>
              <a:t>Compare this status by grade/sub-grade, term, interest rate, and DTI to identify segments for further review.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Rounded Rectangle 10"/>
          <p:cNvSpPr/>
          <p:nvPr/>
        </p:nvSpPr>
        <p:spPr>
          <a:xfrm>
            <a:off x="777240" y="3246120"/>
            <a:ext cx="72720" cy="621360"/>
          </a:xfrm>
          <a:prstGeom prst="roundRect">
            <a:avLst>
              <a:gd name="adj" fmla="val 12000"/>
            </a:avLst>
          </a:prstGeom>
          <a:solidFill>
            <a:srgbClr val="17A99D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2" name="TextBox 11"/>
          <p:cNvSpPr/>
          <p:nvPr/>
        </p:nvSpPr>
        <p:spPr>
          <a:xfrm>
            <a:off x="978480" y="3200400"/>
            <a:ext cx="5056200" cy="23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52A43"/>
                </a:solidFill>
                <a:effectLst/>
                <a:uFillTx/>
                <a:latin typeface="Aptos"/>
              </a:rPr>
              <a:t>2. Review Debt Consolidation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12"/>
          <p:cNvSpPr/>
          <p:nvPr/>
        </p:nvSpPr>
        <p:spPr>
          <a:xfrm>
            <a:off x="978480" y="3502080"/>
            <a:ext cx="5001480" cy="40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9394B"/>
                </a:solidFill>
                <a:effectLst/>
                <a:uFillTx/>
                <a:latin typeface="Aptos"/>
              </a:rPr>
              <a:t>Analyze the Charged Off share, average loan amount, and borrower characteristics in the largest purpose group.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Rounded Rectangle 13"/>
          <p:cNvSpPr/>
          <p:nvPr/>
        </p:nvSpPr>
        <p:spPr>
          <a:xfrm>
            <a:off x="6263640" y="1920240"/>
            <a:ext cx="72720" cy="621360"/>
          </a:xfrm>
          <a:prstGeom prst="roundRect">
            <a:avLst>
              <a:gd name="adj" fmla="val 12000"/>
            </a:avLst>
          </a:prstGeom>
          <a:solidFill>
            <a:srgbClr val="4F79A5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5" name="TextBox 14"/>
          <p:cNvSpPr/>
          <p:nvPr/>
        </p:nvSpPr>
        <p:spPr>
          <a:xfrm>
            <a:off x="6464880" y="1874520"/>
            <a:ext cx="4873320" cy="23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52A43"/>
                </a:solidFill>
                <a:effectLst/>
                <a:uFillTx/>
                <a:latin typeface="Aptos"/>
              </a:rPr>
              <a:t>3. Improve trend reporting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Box 15"/>
          <p:cNvSpPr/>
          <p:nvPr/>
        </p:nvSpPr>
        <p:spPr>
          <a:xfrm>
            <a:off x="6464880" y="2176200"/>
            <a:ext cx="4818600" cy="40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9394B"/>
                </a:solidFill>
                <a:effectLst/>
                <a:uFillTx/>
                <a:latin typeface="Aptos"/>
              </a:rPr>
              <a:t>Confirm date coverage for every month. Compare equivalent periods when the final month is incomplete.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Rounded Rectangle 16"/>
          <p:cNvSpPr/>
          <p:nvPr/>
        </p:nvSpPr>
        <p:spPr>
          <a:xfrm>
            <a:off x="6263640" y="3246120"/>
            <a:ext cx="72720" cy="621360"/>
          </a:xfrm>
          <a:prstGeom prst="roundRect">
            <a:avLst>
              <a:gd name="adj" fmla="val 12000"/>
            </a:avLst>
          </a:prstGeom>
          <a:solidFill>
            <a:srgbClr val="D5A23E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8" name="TextBox 17"/>
          <p:cNvSpPr/>
          <p:nvPr/>
        </p:nvSpPr>
        <p:spPr>
          <a:xfrm>
            <a:off x="6464880" y="3200400"/>
            <a:ext cx="4873320" cy="23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52A43"/>
                </a:solidFill>
                <a:effectLst/>
                <a:uFillTx/>
                <a:latin typeface="Aptos"/>
              </a:rPr>
              <a:t>4. Separate issue date and payment date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18"/>
          <p:cNvSpPr/>
          <p:nvPr/>
        </p:nvSpPr>
        <p:spPr>
          <a:xfrm>
            <a:off x="6464880" y="3502080"/>
            <a:ext cx="4818600" cy="356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29394B"/>
                </a:solidFill>
                <a:effectLst/>
                <a:uFillTx/>
                <a:latin typeface="Aptos"/>
              </a:rPr>
              <a:t>For cash-flow analysis, use the actual payment date if available. Grouping total_payment by issue_date does not represent cash received in that month.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Rounded Rectangle 19"/>
          <p:cNvSpPr/>
          <p:nvPr/>
        </p:nvSpPr>
        <p:spPr>
          <a:xfrm>
            <a:off x="868680" y="5074920"/>
            <a:ext cx="10423800" cy="776880"/>
          </a:xfrm>
          <a:prstGeom prst="roundRect">
            <a:avLst>
              <a:gd name="adj" fmla="val 12000"/>
            </a:avLst>
          </a:prstGeom>
          <a:solidFill>
            <a:srgbClr val="E5F5F2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1" name="TextBox 20"/>
          <p:cNvSpPr/>
          <p:nvPr/>
        </p:nvSpPr>
        <p:spPr>
          <a:xfrm>
            <a:off x="1033200" y="5184720"/>
            <a:ext cx="10094760" cy="31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20" b="0" u="none" strike="noStrike">
                <a:solidFill>
                  <a:srgbClr val="152A43"/>
                </a:solidFill>
                <a:effectLst/>
                <a:uFillTx/>
                <a:latin typeface="Aptos"/>
              </a:rPr>
              <a:t>Conclusion: The data describes portfolio size, status composition, and the leading loan purpose. Further analysis is needed before drawing conclusions about causes or predicting default.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TextBox 1"/>
          <p:cNvSpPr/>
          <p:nvPr/>
        </p:nvSpPr>
        <p:spPr>
          <a:xfrm>
            <a:off x="594360" y="320040"/>
            <a:ext cx="10881000" cy="17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17A99D"/>
                </a:solidFill>
                <a:effectLst/>
                <a:uFillTx/>
                <a:latin typeface="Aptos"/>
              </a:rPr>
              <a:t>10 / PUBLICATION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2"/>
          <p:cNvSpPr/>
          <p:nvPr/>
        </p:nvSpPr>
        <p:spPr>
          <a:xfrm>
            <a:off x="594360" y="658440"/>
            <a:ext cx="10972440" cy="41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Preparing a public portfolio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Rectangle 4"/>
          <p:cNvSpPr/>
          <p:nvPr/>
        </p:nvSpPr>
        <p:spPr>
          <a:xfrm>
            <a:off x="594360" y="6537960"/>
            <a:ext cx="10972440" cy="13320"/>
          </a:xfrm>
          <a:prstGeom prst="rect">
            <a:avLst/>
          </a:prstGeom>
          <a:solidFill>
            <a:srgbClr val="33506C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1320" rIns="90000" bIns="-313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6" name="TextBox 5"/>
          <p:cNvSpPr/>
          <p:nvPr/>
        </p:nvSpPr>
        <p:spPr>
          <a:xfrm>
            <a:off x="594360" y="6574680"/>
            <a:ext cx="9143640" cy="14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A8BBCD"/>
                </a:solidFill>
                <a:effectLst/>
                <a:uFillTx/>
                <a:latin typeface="Aptos"/>
              </a:rPr>
              <a:t>BANK LOAN REPORT  •  PORTFOLIO CASE STUDY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Rounded Rectangle 7"/>
          <p:cNvSpPr/>
          <p:nvPr/>
        </p:nvSpPr>
        <p:spPr>
          <a:xfrm>
            <a:off x="822960" y="1874520"/>
            <a:ext cx="72720" cy="621360"/>
          </a:xfrm>
          <a:prstGeom prst="roundRect">
            <a:avLst>
              <a:gd name="adj" fmla="val 12000"/>
            </a:avLst>
          </a:prstGeom>
          <a:solidFill>
            <a:srgbClr val="17A99D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9" name="TextBox 8"/>
          <p:cNvSpPr/>
          <p:nvPr/>
        </p:nvSpPr>
        <p:spPr>
          <a:xfrm>
            <a:off x="1024200" y="1828800"/>
            <a:ext cx="4571640" cy="23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README.md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Box 9"/>
          <p:cNvSpPr/>
          <p:nvPr/>
        </p:nvSpPr>
        <p:spPr>
          <a:xfrm>
            <a:off x="1024200" y="2148840"/>
            <a:ext cx="4480200" cy="37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D5E0E9"/>
                </a:solidFill>
                <a:effectLst/>
                <a:uFillTx/>
                <a:latin typeface="Aptos"/>
              </a:rPr>
              <a:t>Project overview, business question, data, methods, findings, limitations, and recommendations.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Rounded Rectangle 10"/>
          <p:cNvSpPr/>
          <p:nvPr/>
        </p:nvSpPr>
        <p:spPr>
          <a:xfrm>
            <a:off x="822960" y="3108960"/>
            <a:ext cx="72720" cy="621360"/>
          </a:xfrm>
          <a:prstGeom prst="roundRect">
            <a:avLst>
              <a:gd name="adj" fmla="val 12000"/>
            </a:avLst>
          </a:prstGeom>
          <a:solidFill>
            <a:srgbClr val="4F79A5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2" name="TextBox 11"/>
          <p:cNvSpPr/>
          <p:nvPr/>
        </p:nvSpPr>
        <p:spPr>
          <a:xfrm>
            <a:off x="1024200" y="3063240"/>
            <a:ext cx="4571640" cy="23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Portfolio presentation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Box 12"/>
          <p:cNvSpPr/>
          <p:nvPr/>
        </p:nvSpPr>
        <p:spPr>
          <a:xfrm>
            <a:off x="1024200" y="3383280"/>
            <a:ext cx="4480200" cy="37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D5E0E9"/>
                </a:solidFill>
                <a:effectLst/>
                <a:uFillTx/>
                <a:latin typeface="Aptos"/>
              </a:rPr>
              <a:t>A story focused on results and key messages, rather than the full code.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Rounded Rectangle 13"/>
          <p:cNvSpPr/>
          <p:nvPr/>
        </p:nvSpPr>
        <p:spPr>
          <a:xfrm>
            <a:off x="6217920" y="1874520"/>
            <a:ext cx="72720" cy="621360"/>
          </a:xfrm>
          <a:prstGeom prst="roundRect">
            <a:avLst>
              <a:gd name="adj" fmla="val 12000"/>
            </a:avLst>
          </a:prstGeom>
          <a:solidFill>
            <a:srgbClr val="ED8A65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5" name="TextBox 14"/>
          <p:cNvSpPr/>
          <p:nvPr/>
        </p:nvSpPr>
        <p:spPr>
          <a:xfrm>
            <a:off x="6419160" y="1828800"/>
            <a:ext cx="4571640" cy="23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SQL analysis file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15"/>
          <p:cNvSpPr/>
          <p:nvPr/>
        </p:nvSpPr>
        <p:spPr>
          <a:xfrm>
            <a:off x="6419160" y="2148840"/>
            <a:ext cx="4480200" cy="37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D5E0E9"/>
                </a:solidFill>
                <a:effectLst/>
                <a:uFillTx/>
                <a:latin typeface="Aptos"/>
              </a:rPr>
              <a:t>Queries used to reproduce the data checks and aggregations presented here.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Rounded Rectangle 16"/>
          <p:cNvSpPr/>
          <p:nvPr/>
        </p:nvSpPr>
        <p:spPr>
          <a:xfrm>
            <a:off x="6217920" y="3108960"/>
            <a:ext cx="72720" cy="621360"/>
          </a:xfrm>
          <a:prstGeom prst="roundRect">
            <a:avLst>
              <a:gd name="adj" fmla="val 12000"/>
            </a:avLst>
          </a:prstGeom>
          <a:solidFill>
            <a:srgbClr val="D5A23E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8" name="TextBox 17"/>
          <p:cNvSpPr/>
          <p:nvPr/>
        </p:nvSpPr>
        <p:spPr>
          <a:xfrm>
            <a:off x="6419160" y="3063240"/>
            <a:ext cx="4571640" cy="23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Supporting assets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Box 18"/>
          <p:cNvSpPr/>
          <p:nvPr/>
        </p:nvSpPr>
        <p:spPr>
          <a:xfrm>
            <a:off x="6419160" y="3383280"/>
            <a:ext cx="4480200" cy="37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D5E0E9"/>
                </a:solidFill>
                <a:effectLst/>
                <a:uFillTx/>
                <a:latin typeface="Aptos"/>
              </a:rPr>
              <a:t>Charts derived from the CSV. Publish the PBIX or raw dataset only if redistribution rights are clear.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Rounded Rectangle 19"/>
          <p:cNvSpPr/>
          <p:nvPr/>
        </p:nvSpPr>
        <p:spPr>
          <a:xfrm>
            <a:off x="868680" y="5074920"/>
            <a:ext cx="10423800" cy="749520"/>
          </a:xfrm>
          <a:prstGeom prst="roundRect">
            <a:avLst>
              <a:gd name="adj" fmla="val 12000"/>
            </a:avLst>
          </a:prstGeom>
          <a:solidFill>
            <a:srgbClr val="243E59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1" name="TextBox 20"/>
          <p:cNvSpPr/>
          <p:nvPr/>
        </p:nvSpPr>
        <p:spPr>
          <a:xfrm>
            <a:off x="1033200" y="5184720"/>
            <a:ext cx="10094760" cy="31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D5E0E9"/>
                </a:solidFill>
                <a:effectLst/>
                <a:uFillTx/>
                <a:latin typeface="Aptos"/>
              </a:rPr>
              <a:t>This learning portfolio uses a sourced project brief and reference assets. It documents data checks, SQL review, dashboard refinement, and descriptive findings. Only materials with clear distribution rights should be shared publicly.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Box 21"/>
          <p:cNvSpPr/>
          <p:nvPr/>
        </p:nvSpPr>
        <p:spPr>
          <a:xfrm>
            <a:off x="868680" y="5989320"/>
            <a:ext cx="3657240" cy="2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A5E4DD"/>
                </a:solidFill>
                <a:effectLst/>
                <a:uFillTx/>
                <a:latin typeface="Aptos"/>
              </a:rPr>
              <a:t>Thank you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7F87FB-4E38-88AC-F011-BAB71F176E66}"/>
              </a:ext>
            </a:extLst>
          </p:cNvPr>
          <p:cNvSpPr txBox="1"/>
          <p:nvPr/>
        </p:nvSpPr>
        <p:spPr>
          <a:xfrm>
            <a:off x="10879467" y="6166080"/>
            <a:ext cx="6873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+mj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10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E6155B-289C-F2CE-05A8-E2D0B122BB2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045" y="6142680"/>
            <a:ext cx="251350" cy="2462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1329</Words>
  <Application>Microsoft Office PowerPoint</Application>
  <PresentationFormat>Widescreen</PresentationFormat>
  <Paragraphs>219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11</vt:i4>
      </vt:variant>
    </vt:vector>
  </HeadingPairs>
  <TitlesOfParts>
    <vt:vector size="28" baseType="lpstr">
      <vt:lpstr>Aptos</vt:lpstr>
      <vt:lpstr>Arial</vt:lpstr>
      <vt:lpstr>Calibri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Baharu Simanjuntak</cp:lastModifiedBy>
  <cp:revision>5</cp:revision>
  <dcterms:modified xsi:type="dcterms:W3CDTF">2026-10-21T06:31:57Z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Baharu Simanjuntak</dc:creator>
  <dc:description>English version aligned with the Power BI dashboard language. Text and the three analytical charts are editable PowerPoint objects.</dc:description>
  <cp:keywords>Data Analytics PostgreSQL Power BI Loan Portfolio</cp:keywords>
  <dc:language>en-US</dc:language>
  <cp:lastModifiedBy>Steve Canny</cp:lastModifiedBy>
  <dcterms:modified xsi:type="dcterms:W3CDTF">2013-01-27T09:15:58Z</dcterms:modified>
  <cp:revision>1</cp:revision>
  <dc:subject>Editable data analytics portfolio case study</dc:subject>
  <dc:title>Bank Loan Report - Loan Portfolio Analysis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